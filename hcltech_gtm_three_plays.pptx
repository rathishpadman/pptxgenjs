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7.jpeg"/><Relationship Id="rId4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emf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emf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5.svg"/><Relationship Id="rId4" Type="http://schemas.openxmlformats.org/officeDocument/2006/relationships/image" Target="../media/image8.emf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microsoft.com/office/2007/relationships/hdphoto" Target="../media/hdphoto1.wdp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1" y="1872001"/>
            <a:ext cx="4798725" cy="1883593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1" y="3601465"/>
            <a:ext cx="4773525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1"/>
            <a:ext cx="4799012" cy="276999"/>
          </a:xfrm>
        </p:spPr>
        <p:txBody>
          <a:bodyPr anchor="b">
            <a:spAutoFit/>
          </a:bodyPr>
          <a:lstStyle>
            <a:lvl1pPr>
              <a:defRPr sz="1799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3752379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Progress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Progress (Dark)">
            <a:extLst>
              <a:ext uri="{FF2B5EF4-FFF2-40B4-BE49-F238E27FC236}">
                <a16:creationId xmlns:a16="http://schemas.microsoft.com/office/drawing/2014/main" id="{C4CFE286-44DC-B54C-8DB8-DB5DE12A4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872000"/>
            <a:ext cx="5007017" cy="211904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4000"/>
              </a:lnSpc>
              <a:defRPr sz="5398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840127"/>
            <a:ext cx="4993697" cy="903329"/>
          </a:xfrm>
          <a:prstGeom prst="rect">
            <a:avLst/>
          </a:prstGeom>
        </p:spPr>
        <p:txBody>
          <a:bodyPr wrap="square" tIns="468000">
            <a:spAutoFit/>
          </a:bodyPr>
          <a:lstStyle>
            <a:lvl1pPr marL="0" indent="0" algn="l">
              <a:buNone/>
              <a:defRPr sz="2799" b="0">
                <a:solidFill>
                  <a:schemeClr val="tx1"/>
                </a:solidFill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34908"/>
            <a:ext cx="4217231" cy="276999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1799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161260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Collaboration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Behaviours | Collaboration (Dark)">
            <a:extLst>
              <a:ext uri="{FF2B5EF4-FFF2-40B4-BE49-F238E27FC236}">
                <a16:creationId xmlns:a16="http://schemas.microsoft.com/office/drawing/2014/main" id="{FD80925B-843A-D059-8F28-4EA568F37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" y="1"/>
            <a:ext cx="12191295" cy="685839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56412"/>
            <a:ext cx="11430000" cy="67990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12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9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91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955678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3038010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pic>
        <p:nvPicPr>
          <p:cNvPr id="7" name="Image journey">
            <a:extLst>
              <a:ext uri="{FF2B5EF4-FFF2-40B4-BE49-F238E27FC236}">
                <a16:creationId xmlns:a16="http://schemas.microsoft.com/office/drawing/2014/main" id="{84F3FAD9-C845-5910-3C61-296035EE7C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6" y="17146"/>
            <a:ext cx="11275695" cy="5945505"/>
          </a:xfrm>
          <a:custGeom>
            <a:avLst/>
            <a:gdLst>
              <a:gd name="connsiteX0" fmla="*/ 49467 w 11275695"/>
              <a:gd name="connsiteY0" fmla="*/ 0 h 5945505"/>
              <a:gd name="connsiteX1" fmla="*/ 11226228 w 11275695"/>
              <a:gd name="connsiteY1" fmla="*/ 0 h 5945505"/>
              <a:gd name="connsiteX2" fmla="*/ 11275695 w 11275695"/>
              <a:gd name="connsiteY2" fmla="*/ 49467 h 5945505"/>
              <a:gd name="connsiteX3" fmla="*/ 11275695 w 11275695"/>
              <a:gd name="connsiteY3" fmla="*/ 5896038 h 5945505"/>
              <a:gd name="connsiteX4" fmla="*/ 11226228 w 11275695"/>
              <a:gd name="connsiteY4" fmla="*/ 5945505 h 5945505"/>
              <a:gd name="connsiteX5" fmla="*/ 49467 w 11275695"/>
              <a:gd name="connsiteY5" fmla="*/ 5945505 h 5945505"/>
              <a:gd name="connsiteX6" fmla="*/ 0 w 11275695"/>
              <a:gd name="connsiteY6" fmla="*/ 5896038 h 5945505"/>
              <a:gd name="connsiteX7" fmla="*/ 0 w 11275695"/>
              <a:gd name="connsiteY7" fmla="*/ 49467 h 5945505"/>
              <a:gd name="connsiteX8" fmla="*/ 49467 w 11275695"/>
              <a:gd name="connsiteY8" fmla="*/ 0 h 594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5695" h="5945505">
                <a:moveTo>
                  <a:pt x="49467" y="0"/>
                </a:moveTo>
                <a:lnTo>
                  <a:pt x="11226228" y="0"/>
                </a:lnTo>
                <a:cubicBezTo>
                  <a:pt x="11253548" y="0"/>
                  <a:pt x="11275695" y="22147"/>
                  <a:pt x="11275695" y="49467"/>
                </a:cubicBezTo>
                <a:lnTo>
                  <a:pt x="11275695" y="5896038"/>
                </a:lnTo>
                <a:cubicBezTo>
                  <a:pt x="11275695" y="5923358"/>
                  <a:pt x="11253548" y="5945505"/>
                  <a:pt x="11226228" y="5945505"/>
                </a:cubicBezTo>
                <a:lnTo>
                  <a:pt x="49467" y="5945505"/>
                </a:lnTo>
                <a:cubicBezTo>
                  <a:pt x="22147" y="5945505"/>
                  <a:pt x="0" y="5923358"/>
                  <a:pt x="0" y="5896038"/>
                </a:cubicBezTo>
                <a:lnTo>
                  <a:pt x="0" y="49467"/>
                </a:lnTo>
                <a:cubicBezTo>
                  <a:pt x="0" y="22147"/>
                  <a:pt x="22147" y="0"/>
                  <a:pt x="49467" y="0"/>
                </a:cubicBezTo>
                <a:close/>
              </a:path>
            </a:pathLst>
          </a:custGeom>
        </p:spPr>
      </p:pic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364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5678" y="3139200"/>
            <a:ext cx="7576610" cy="1255728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57280" y="4247769"/>
            <a:ext cx="7555009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200346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1"/>
            <a:ext cx="2956538" cy="276999"/>
          </a:xfrm>
        </p:spPr>
        <p:txBody>
          <a:bodyPr wrap="square" anchor="b">
            <a:spAutoFit/>
          </a:bodyPr>
          <a:lstStyle>
            <a:lvl1pPr>
              <a:defRPr sz="17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1"/>
            <a:ext cx="2992022" cy="706347"/>
          </a:xfrm>
        </p:spPr>
        <p:txBody>
          <a:bodyPr/>
          <a:lstStyle>
            <a:lvl1pPr>
              <a:defRPr sz="53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7314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7998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9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8716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433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985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50493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427542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144184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4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3" y="4204800"/>
            <a:ext cx="480391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3" y="5307012"/>
            <a:ext cx="4782257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3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917370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he Beam (image)" descr="A picture containing shape&#10;&#10;Description automatically generated">
            <a:extLst>
              <a:ext uri="{FF2B5EF4-FFF2-40B4-BE49-F238E27FC236}">
                <a16:creationId xmlns:a16="http://schemas.microsoft.com/office/drawing/2014/main" id="{7450499D-B654-F9A4-A36D-C65C4D7322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pic>
        <p:nvPicPr>
          <p:cNvPr id="15" name="HCLTech logo">
            <a:extLst>
              <a:ext uri="{FF2B5EF4-FFF2-40B4-BE49-F238E27FC236}">
                <a16:creationId xmlns:a16="http://schemas.microsoft.com/office/drawing/2014/main" id="{2A1C9422-3315-3A6C-2A53-75C69BDA55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57" y="501274"/>
            <a:ext cx="2224800" cy="403628"/>
          </a:xfrm>
          <a:prstGeom prst="rect">
            <a:avLst/>
          </a:prstGeom>
        </p:spPr>
      </p:pic>
      <p:sp>
        <p:nvSpPr>
          <p:cNvPr id="16" name="Picture Placeholder 20">
            <a:extLst>
              <a:ext uri="{FF2B5EF4-FFF2-40B4-BE49-F238E27FC236}">
                <a16:creationId xmlns:a16="http://schemas.microsoft.com/office/drawing/2014/main" id="{B0E1B973-80EA-0930-1AC4-8A690DE831AD}"/>
              </a:ext>
            </a:extLst>
          </p:cNvPr>
          <p:cNvSpPr txBox="1">
            <a:spLocks/>
          </p:cNvSpPr>
          <p:nvPr userDrawn="1"/>
        </p:nvSpPr>
        <p:spPr>
          <a:xfrm>
            <a:off x="3034748" y="0"/>
            <a:ext cx="9157251" cy="384313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 Light" panose="020B0604020202020204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ptos Light" panose="020B0604020202020204" pitchFamily="34" charset="0"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j-cs"/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4B737FD-0724-F24D-8061-E3C376CD6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5300" y="0"/>
            <a:ext cx="9156700" cy="3843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79968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4222615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80000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5146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3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6686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04981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312632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200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05019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1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1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1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399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141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32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89206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238238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73403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1"/>
            <a:ext cx="7460185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5998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634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69667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470053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0"/>
            <a:ext cx="54003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1" y="3593737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7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1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1" y="838801"/>
            <a:ext cx="2527628" cy="5115973"/>
          </a:xfrm>
        </p:spPr>
        <p:txBody>
          <a:bodyPr/>
          <a:lstStyle>
            <a:lvl1pPr>
              <a:spcBef>
                <a:spcPts val="2399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055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1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49880" tIns="287923" rIns="449880" bIns="359904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</a:pPr>
            <a:endParaRPr lang="en-US" sz="4798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70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70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21661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1"/>
            <a:ext cx="7282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843676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1686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6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6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6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6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3446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36577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8193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8634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7759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1503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2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2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2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2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2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1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5938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4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4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4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4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681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spcAft>
                <a:spcPts val="1200"/>
              </a:spcAft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9374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1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8" y="1413165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12406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30" y="4435943"/>
            <a:ext cx="4444646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7" y="900114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95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7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011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1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4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1" y="1785600"/>
            <a:ext cx="5025825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/>
            </a:lvl2pPr>
            <a:lvl3pPr marL="0" indent="0">
              <a:buNone/>
              <a:defRPr sz="1799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8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0480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6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305409"/>
            <a:ext cx="4775161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1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1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399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30765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>
                <a:solidFill>
                  <a:schemeClr val="bg1"/>
                </a:solidFill>
              </a:defRPr>
            </a:lvl2pPr>
            <a:lvl3pPr marL="0" indent="0">
              <a:buNone/>
              <a:defRPr sz="1799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6" y="3641346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6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9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799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9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3672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887847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7402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2" y="842798"/>
            <a:ext cx="5156835" cy="2354491"/>
          </a:xfrm>
        </p:spPr>
        <p:txBody>
          <a:bodyPr/>
          <a:lstStyle>
            <a:lvl1pPr>
              <a:defRPr sz="5998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4597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798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ptos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450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1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accent3"/>
                </a:solidFill>
              </a:defRPr>
            </a:lvl2pPr>
            <a:lvl3pPr marL="0" indent="0">
              <a:spcAft>
                <a:spcPts val="1399"/>
              </a:spcAft>
              <a:buFontTx/>
              <a:buNone/>
              <a:defRPr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600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70"/>
            <a:ext cx="7165976" cy="3417255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736389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1"/>
            <a:ext cx="7203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10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9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10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9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10" y="4442401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9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0627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6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150093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3" y="3884401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72035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48852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4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77606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7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6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6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6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36197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9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5618287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1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1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1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1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50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50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50" y="4556054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50" y="5362268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9" y="2570164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9" y="374967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9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9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8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8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8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8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35638395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4379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1928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28438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009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1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1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1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6188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1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783245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1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2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399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6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3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1870076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6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5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8736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1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bg1"/>
                </a:solidFill>
              </a:defRPr>
            </a:lvl2pPr>
            <a:lvl3pPr marL="0" indent="0">
              <a:spcAft>
                <a:spcPts val="1399"/>
              </a:spcAft>
              <a:buNone/>
              <a:defRPr>
                <a:solidFill>
                  <a:schemeClr val="bg1"/>
                </a:solidFill>
              </a:defRPr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9893" indent="-179946">
              <a:buFont typeface="Aptos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7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</p:grpSp>
    </p:spTree>
    <p:extLst>
      <p:ext uri="{BB962C8B-B14F-4D97-AF65-F5344CB8AC3E}">
        <p14:creationId xmlns:p14="http://schemas.microsoft.com/office/powerpoint/2010/main" val="26614450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85340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4495465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04529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70551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0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90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399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41413117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582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1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2784242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37172578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1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9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7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10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69647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210544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9" y="896193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515641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400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1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36941364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446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8274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92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D5527A-C641-62D7-6E90-C5E343A7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23478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E8AAFC62-BC77-E8C5-A5AE-A8016CAA81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0000" y="6463695"/>
            <a:ext cx="236821" cy="123111"/>
          </a:xfrm>
          <a:prstGeom prst="rect">
            <a:avLst/>
          </a:prstGeom>
        </p:spPr>
        <p:txBody>
          <a:bodyPr/>
          <a:lstStyle/>
          <a:p>
            <a:pPr defTabSz="914128">
              <a:defRPr/>
            </a:pPr>
            <a:fld id="{96B43096-6FC2-48D5-8C88-E7DAB952970D}" type="slidenum">
              <a:rPr lang="en-US" sz="1799" smtClean="0">
                <a:solidFill>
                  <a:srgbClr val="000000"/>
                </a:solidFill>
              </a:rPr>
              <a:pPr defTabSz="914128">
                <a:defRPr/>
              </a:pPr>
              <a:t>‹#›</a:t>
            </a:fld>
            <a:endParaRPr lang="en-US" sz="1799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A691F-2EA8-BC0C-F10F-12B5914F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18" y="271195"/>
            <a:ext cx="11539051" cy="5232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372F89A-6ADB-C37D-4231-68A98A30FF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618" y="930614"/>
            <a:ext cx="11539051" cy="5292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08047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Beam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Light" descr="Shape&#10;&#10;Description automatically generated">
            <a:extLst>
              <a:ext uri="{FF2B5EF4-FFF2-40B4-BE49-F238E27FC236}">
                <a16:creationId xmlns:a16="http://schemas.microsoft.com/office/drawing/2014/main" id="{2975ACAA-DA94-04FA-C660-9DB9763009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49601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53431357"/>
      </p:ext>
    </p:extLst>
  </p:cSld>
  <p:clrMapOvr>
    <a:masterClrMapping/>
  </p:clrMapOvr>
  <p:hf hd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– Space right, Sidebar left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(Intense)">
            <a:extLst>
              <a:ext uri="{FF2B5EF4-FFF2-40B4-BE49-F238E27FC236}">
                <a16:creationId xmlns:a16="http://schemas.microsoft.com/office/drawing/2014/main" id="{00362F0C-CF2C-91D5-C832-0CFF1420A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6" t="724" r="38854" b="435"/>
          <a:stretch/>
        </p:blipFill>
        <p:spPr>
          <a:xfrm>
            <a:off x="263" y="0"/>
            <a:ext cx="5425813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61D12A3-D714-8432-C8A0-AFE2A9235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842F0764-C36B-E54C-8D10-19F5A7AD4F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BA6747F-CD9E-3D31-6BCD-949F0508D398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8AB9A9-F591-EB7B-1B4E-D68B0CF38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2088" y="860400"/>
            <a:ext cx="5473035" cy="523264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Insert heading </a:t>
            </a:r>
          </a:p>
        </p:txBody>
      </p:sp>
      <p:sp>
        <p:nvSpPr>
          <p:cNvPr id="9" name="Sidebar">
            <a:extLst>
              <a:ext uri="{FF2B5EF4-FFF2-40B4-BE49-F238E27FC236}">
                <a16:creationId xmlns:a16="http://schemas.microsoft.com/office/drawing/2014/main" id="{5162DCE8-B385-5BFE-2FA5-8B768141AB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876" y="845618"/>
            <a:ext cx="3634324" cy="5113857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defRPr sz="1999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900"/>
              </a:spcAft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2pPr>
            <a:lvl3pPr marL="359893" indent="-179946">
              <a:spcBef>
                <a:spcPts val="600"/>
              </a:spcBef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•"/>
              <a:defRPr sz="1600">
                <a:solidFill>
                  <a:schemeClr val="bg1"/>
                </a:solidFill>
              </a:defRPr>
            </a:lvl3pPr>
            <a:lvl4pPr marL="539839" indent="-179946"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–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6203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322" y="831967"/>
              <a:ext cx="6592804" cy="732510"/>
            </a:xfrm>
            <a:prstGeom prst="rect">
              <a:avLst/>
            </a:prstGeom>
          </p:spPr>
        </p:pic>
      </p:grpSp>
      <p:pic>
        <p:nvPicPr>
          <p:cNvPr id="38" name="object 9">
            <a:extLst>
              <a:ext uri="{FF2B5EF4-FFF2-40B4-BE49-F238E27FC236}">
                <a16:creationId xmlns:a16="http://schemas.microsoft.com/office/drawing/2014/main" id="{96F89763-5FAC-F534-07B2-89D560CF33DD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62" y="0"/>
            <a:ext cx="7843139" cy="6828364"/>
          </a:xfrm>
          <a:prstGeom prst="rect">
            <a:avLst/>
          </a:prstGeom>
        </p:spPr>
      </p:pic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2196503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9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68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296">
          <p15:clr>
            <a:srgbClr val="FBAE40"/>
          </p15:clr>
        </p15:guide>
        <p15:guide id="3" pos="384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379B5CB1-5DBC-3B2B-FA56-8014B25C7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85276" y="170672"/>
            <a:ext cx="3871300" cy="6182698"/>
          </a:xfrm>
          <a:prstGeom prst="roundRect">
            <a:avLst>
              <a:gd name="adj" fmla="val 1457"/>
            </a:avLst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B1973D-758E-4746-292C-7E06C4660076}"/>
              </a:ext>
            </a:extLst>
          </p:cNvPr>
          <p:cNvSpPr/>
          <p:nvPr userDrawn="1"/>
        </p:nvSpPr>
        <p:spPr>
          <a:xfrm>
            <a:off x="190500" y="6524625"/>
            <a:ext cx="3009900" cy="247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39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2">
            <a:extLst>
              <a:ext uri="{FF2B5EF4-FFF2-40B4-BE49-F238E27FC236}">
                <a16:creationId xmlns:a16="http://schemas.microsoft.com/office/drawing/2014/main" id="{02B540E9-51FE-2235-53CE-C45AEAFAB477}"/>
              </a:ext>
            </a:extLst>
          </p:cNvPr>
          <p:cNvGrpSpPr/>
          <p:nvPr userDrawn="1"/>
        </p:nvGrpSpPr>
        <p:grpSpPr>
          <a:xfrm>
            <a:off x="0" y="1"/>
            <a:ext cx="12192000" cy="6858096"/>
            <a:chOff x="0" y="0"/>
            <a:chExt cx="20104100" cy="11308715"/>
          </a:xfrm>
        </p:grpSpPr>
        <p:pic>
          <p:nvPicPr>
            <p:cNvPr id="16" name="object 3">
              <a:extLst>
                <a:ext uri="{FF2B5EF4-FFF2-40B4-BE49-F238E27FC236}">
                  <a16:creationId xmlns:a16="http://schemas.microsoft.com/office/drawing/2014/main" id="{F809D066-FC7F-DCA1-1141-6328C14418F8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77223" y="2446909"/>
              <a:ext cx="17626876" cy="8861646"/>
            </a:xfrm>
            <a:prstGeom prst="rect">
              <a:avLst/>
            </a:prstGeom>
          </p:spPr>
        </p:pic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E86C948-597A-FDC4-3CE6-7BDCA6EAC763}"/>
                </a:ext>
              </a:extLst>
            </p:cNvPr>
            <p:cNvSpPr/>
            <p:nvPr/>
          </p:nvSpPr>
          <p:spPr>
            <a:xfrm>
              <a:off x="307358" y="30735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9894" y="0"/>
                  </a:moveTo>
                  <a:lnTo>
                    <a:pt x="48951" y="0"/>
                  </a:lnTo>
                  <a:lnTo>
                    <a:pt x="29896" y="3846"/>
                  </a:lnTo>
                  <a:lnTo>
                    <a:pt x="14337" y="14337"/>
                  </a:lnTo>
                  <a:lnTo>
                    <a:pt x="3846" y="29896"/>
                  </a:lnTo>
                  <a:lnTo>
                    <a:pt x="0" y="48951"/>
                  </a:lnTo>
                  <a:lnTo>
                    <a:pt x="0" y="369904"/>
                  </a:lnTo>
                  <a:lnTo>
                    <a:pt x="3846" y="388959"/>
                  </a:lnTo>
                  <a:lnTo>
                    <a:pt x="14337" y="404519"/>
                  </a:lnTo>
                  <a:lnTo>
                    <a:pt x="29896" y="415009"/>
                  </a:lnTo>
                  <a:lnTo>
                    <a:pt x="48951" y="418856"/>
                  </a:lnTo>
                  <a:lnTo>
                    <a:pt x="369894" y="418856"/>
                  </a:lnTo>
                  <a:lnTo>
                    <a:pt x="388954" y="415009"/>
                  </a:lnTo>
                  <a:lnTo>
                    <a:pt x="404517" y="404519"/>
                  </a:lnTo>
                  <a:lnTo>
                    <a:pt x="415009" y="388959"/>
                  </a:lnTo>
                  <a:lnTo>
                    <a:pt x="418856" y="369904"/>
                  </a:lnTo>
                  <a:lnTo>
                    <a:pt x="418856" y="48951"/>
                  </a:lnTo>
                  <a:lnTo>
                    <a:pt x="415009" y="29896"/>
                  </a:lnTo>
                  <a:lnTo>
                    <a:pt x="404517" y="14337"/>
                  </a:lnTo>
                  <a:lnTo>
                    <a:pt x="388954" y="3846"/>
                  </a:lnTo>
                  <a:lnTo>
                    <a:pt x="369894" y="0"/>
                  </a:lnTo>
                  <a:close/>
                </a:path>
              </a:pathLst>
            </a:custGeom>
            <a:solidFill>
              <a:srgbClr val="8BC7F9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C9668E0-DA4F-8341-5CEB-13CBEF8CEB1D}"/>
                </a:ext>
              </a:extLst>
            </p:cNvPr>
            <p:cNvSpPr/>
            <p:nvPr/>
          </p:nvSpPr>
          <p:spPr>
            <a:xfrm>
              <a:off x="307354" y="0"/>
              <a:ext cx="419100" cy="287020"/>
            </a:xfrm>
            <a:custGeom>
              <a:avLst/>
              <a:gdLst/>
              <a:ahLst/>
              <a:cxnLst/>
              <a:rect l="l" t="t" r="r" b="b"/>
              <a:pathLst>
                <a:path w="419100" h="287020">
                  <a:moveTo>
                    <a:pt x="418856" y="0"/>
                  </a:moveTo>
                  <a:lnTo>
                    <a:pt x="0" y="0"/>
                  </a:lnTo>
                  <a:lnTo>
                    <a:pt x="0" y="237458"/>
                  </a:lnTo>
                  <a:lnTo>
                    <a:pt x="3846" y="256513"/>
                  </a:lnTo>
                  <a:lnTo>
                    <a:pt x="14337" y="272072"/>
                  </a:lnTo>
                  <a:lnTo>
                    <a:pt x="29896" y="282563"/>
                  </a:lnTo>
                  <a:lnTo>
                    <a:pt x="48951" y="286410"/>
                  </a:lnTo>
                  <a:lnTo>
                    <a:pt x="369904" y="286410"/>
                  </a:lnTo>
                  <a:lnTo>
                    <a:pt x="388959" y="282563"/>
                  </a:lnTo>
                  <a:lnTo>
                    <a:pt x="404519" y="272072"/>
                  </a:lnTo>
                  <a:lnTo>
                    <a:pt x="415009" y="256513"/>
                  </a:lnTo>
                  <a:lnTo>
                    <a:pt x="418856" y="237458"/>
                  </a:lnTo>
                  <a:lnTo>
                    <a:pt x="418856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19" name="object 6">
              <a:extLst>
                <a:ext uri="{FF2B5EF4-FFF2-40B4-BE49-F238E27FC236}">
                  <a16:creationId xmlns:a16="http://schemas.microsoft.com/office/drawing/2014/main" id="{415DB158-B0A5-A79C-2BE6-4D0F6DC30DE1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307362"/>
              <a:ext cx="1709120" cy="418856"/>
            </a:xfrm>
            <a:prstGeom prst="rect">
              <a:avLst/>
            </a:prstGeom>
          </p:spPr>
        </p:pic>
        <p:pic>
          <p:nvPicPr>
            <p:cNvPr id="20" name="object 7">
              <a:extLst>
                <a:ext uri="{FF2B5EF4-FFF2-40B4-BE49-F238E27FC236}">
                  <a16:creationId xmlns:a16="http://schemas.microsoft.com/office/drawing/2014/main" id="{E25AF89C-106B-710C-94F8-AC5E24565479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0"/>
              <a:ext cx="1709120" cy="286420"/>
            </a:xfrm>
            <a:prstGeom prst="rect">
              <a:avLst/>
            </a:prstGeom>
          </p:spPr>
        </p:pic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FB636AF3-DB59-A193-BD0B-188A5BB8CC18}"/>
                </a:ext>
              </a:extLst>
            </p:cNvPr>
            <p:cNvSpPr/>
            <p:nvPr/>
          </p:nvSpPr>
          <p:spPr>
            <a:xfrm>
              <a:off x="0" y="307355"/>
              <a:ext cx="287020" cy="419100"/>
            </a:xfrm>
            <a:custGeom>
              <a:avLst/>
              <a:gdLst/>
              <a:ahLst/>
              <a:cxnLst/>
              <a:rect l="l" t="t" r="r" b="b"/>
              <a:pathLst>
                <a:path w="287020" h="419100">
                  <a:moveTo>
                    <a:pt x="237458" y="0"/>
                  </a:moveTo>
                  <a:lnTo>
                    <a:pt x="0" y="0"/>
                  </a:lnTo>
                  <a:lnTo>
                    <a:pt x="0" y="418856"/>
                  </a:lnTo>
                  <a:lnTo>
                    <a:pt x="237458" y="418856"/>
                  </a:lnTo>
                  <a:lnTo>
                    <a:pt x="256513" y="415009"/>
                  </a:lnTo>
                  <a:lnTo>
                    <a:pt x="272072" y="404519"/>
                  </a:lnTo>
                  <a:lnTo>
                    <a:pt x="282563" y="388959"/>
                  </a:lnTo>
                  <a:lnTo>
                    <a:pt x="286410" y="369904"/>
                  </a:lnTo>
                  <a:lnTo>
                    <a:pt x="286410" y="48951"/>
                  </a:lnTo>
                  <a:lnTo>
                    <a:pt x="282563" y="29896"/>
                  </a:lnTo>
                  <a:lnTo>
                    <a:pt x="272072" y="14337"/>
                  </a:lnTo>
                  <a:lnTo>
                    <a:pt x="256513" y="3846"/>
                  </a:lnTo>
                  <a:lnTo>
                    <a:pt x="237458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22" name="object 9">
              <a:extLst>
                <a:ext uri="{FF2B5EF4-FFF2-40B4-BE49-F238E27FC236}">
                  <a16:creationId xmlns:a16="http://schemas.microsoft.com/office/drawing/2014/main" id="{3FF75E7B-9C04-A1D2-F3AE-7F811EF37228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47160"/>
              <a:ext cx="286410" cy="1678807"/>
            </a:xfrm>
            <a:prstGeom prst="rect">
              <a:avLst/>
            </a:prstGeom>
          </p:spPr>
        </p:pic>
        <p:pic>
          <p:nvPicPr>
            <p:cNvPr id="23" name="object 10">
              <a:extLst>
                <a:ext uri="{FF2B5EF4-FFF2-40B4-BE49-F238E27FC236}">
                  <a16:creationId xmlns:a16="http://schemas.microsoft.com/office/drawing/2014/main" id="{8B8774F7-5731-793D-7A5C-AA1B475A5ADE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747160"/>
              <a:ext cx="1709120" cy="1678807"/>
            </a:xfrm>
            <a:prstGeom prst="rect">
              <a:avLst/>
            </a:prstGeom>
          </p:spPr>
        </p:pic>
        <p:pic>
          <p:nvPicPr>
            <p:cNvPr id="24" name="object 11">
              <a:extLst>
                <a:ext uri="{FF2B5EF4-FFF2-40B4-BE49-F238E27FC236}">
                  <a16:creationId xmlns:a16="http://schemas.microsoft.com/office/drawing/2014/main" id="{43D95EBA-1F4D-C562-A103-31ABD099CF01}"/>
                </a:ext>
              </a:extLst>
            </p:cNvPr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7362" y="747160"/>
              <a:ext cx="418856" cy="1678807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CB3598A9-DA54-1DC9-6609-A40F50005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5708" y="1790184"/>
            <a:ext cx="10005292" cy="679904"/>
          </a:xfrm>
        </p:spPr>
        <p:txBody>
          <a:bodyPr tIns="0" rIns="0" bIns="0" anchor="b">
            <a:noAutofit/>
          </a:bodyPr>
          <a:lstStyle>
            <a:lvl1pPr>
              <a:lnSpc>
                <a:spcPct val="100000"/>
              </a:lnSpc>
              <a:defRPr sz="59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EC32ACE-95DE-B566-DA4D-35A2F5709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2192" y="3835271"/>
            <a:ext cx="3769157" cy="2948854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994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 sz="24993">
                <a:solidFill>
                  <a:schemeClr val="bg1"/>
                </a:solidFill>
              </a:defRPr>
            </a:lvl2pPr>
            <a:lvl3pPr marL="914128" indent="0">
              <a:buNone/>
              <a:defRPr sz="24993">
                <a:solidFill>
                  <a:schemeClr val="bg1"/>
                </a:solidFill>
              </a:defRPr>
            </a:lvl3pPr>
            <a:lvl4pPr marL="1371192" indent="0">
              <a:buNone/>
              <a:defRPr sz="24993">
                <a:solidFill>
                  <a:schemeClr val="bg1"/>
                </a:solidFill>
              </a:defRPr>
            </a:lvl4pPr>
            <a:lvl5pPr marL="1828256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3C0703F-A9C5-5D3C-B1A1-3B1966313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4988" y="2470151"/>
            <a:ext cx="10006012" cy="75882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4398" b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+mj-ea"/>
                <a:cs typeface="Aptos" pitchFamily="50" charset="0"/>
              </a:defRPr>
            </a:lvl1pPr>
            <a:lvl2pPr>
              <a:defRPr lang="en-GB" sz="1799" smtClean="0"/>
            </a:lvl2pPr>
            <a:lvl3pPr>
              <a:defRPr lang="en-GB" sz="1799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02BB7-E74B-B445-7CB9-D641A4CA3578}"/>
              </a:ext>
            </a:extLst>
          </p:cNvPr>
          <p:cNvSpPr/>
          <p:nvPr userDrawn="1"/>
        </p:nvSpPr>
        <p:spPr>
          <a:xfrm>
            <a:off x="465812" y="6530109"/>
            <a:ext cx="1036485" cy="25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  <a:cs typeface="Apto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0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9808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2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599" b="1">
                <a:latin typeface="Aptos" panose="020B0504030202060203" pitchFamily="34" charset="0"/>
                <a:cs typeface="Aptos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5891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0338" y="505905"/>
            <a:ext cx="3485964" cy="388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BA19B-6EFF-27C6-0DB7-D1720889F648}"/>
              </a:ext>
            </a:extLst>
          </p:cNvPr>
          <p:cNvCxnSpPr/>
          <p:nvPr userDrawn="1"/>
        </p:nvCxnSpPr>
        <p:spPr>
          <a:xfrm>
            <a:off x="5063677" y="505905"/>
            <a:ext cx="0" cy="388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70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29879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8007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3888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7938775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7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39324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48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2713952-5797-BC1E-00CD-623368AB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4672" y="6541842"/>
            <a:ext cx="10259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en-IN" sz="800" b="0" i="0" smtClean="0">
                <a:solidFill>
                  <a:schemeClr val="tx1">
                    <a:alpha val="50000"/>
                  </a:schemeClr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fld id="{570547DA-62F2-46FF-A67E-24DBD4865419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1"/>
            <a:ext cx="10968598" cy="534505"/>
          </a:xfrm>
        </p:spPr>
        <p:txBody>
          <a:bodyPr/>
          <a:lstStyle>
            <a:lvl1pPr>
              <a:defRPr b="1" i="0" spc="-150">
                <a:latin typeface="Aptos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220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07197E-9B57-3FAA-058E-45EB57A768BA}"/>
              </a:ext>
            </a:extLst>
          </p:cNvPr>
          <p:cNvSpPr/>
          <p:nvPr userDrawn="1"/>
        </p:nvSpPr>
        <p:spPr>
          <a:xfrm flipH="1">
            <a:off x="4686088" y="-15993"/>
            <a:ext cx="7505912" cy="6873993"/>
          </a:xfrm>
          <a:custGeom>
            <a:avLst/>
            <a:gdLst>
              <a:gd name="csX0" fmla="*/ 0 w 7505912"/>
              <a:gd name="csY0" fmla="*/ 0 h 6873993"/>
              <a:gd name="csX1" fmla="*/ 7505912 w 7505912"/>
              <a:gd name="csY1" fmla="*/ 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3340312 w 7505912"/>
              <a:gd name="csY1" fmla="*/ 254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25400 h 6899393"/>
              <a:gd name="csX1" fmla="*/ 2057612 w 7505912"/>
              <a:gd name="csY1" fmla="*/ 0 h 6899393"/>
              <a:gd name="csX2" fmla="*/ 7505912 w 7505912"/>
              <a:gd name="csY2" fmla="*/ 6899393 h 6899393"/>
              <a:gd name="csX3" fmla="*/ 0 w 7505912"/>
              <a:gd name="csY3" fmla="*/ 6899393 h 6899393"/>
              <a:gd name="csX4" fmla="*/ 0 w 7505912"/>
              <a:gd name="csY4" fmla="*/ 25400 h 6899393"/>
              <a:gd name="csX0" fmla="*/ 0 w 7505912"/>
              <a:gd name="csY0" fmla="*/ 0 h 6873993"/>
              <a:gd name="csX1" fmla="*/ 2946612 w 7505912"/>
              <a:gd name="csY1" fmla="*/ 635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41849 w 7505912"/>
              <a:gd name="csY1" fmla="*/ 15875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27562 w 7505912"/>
              <a:gd name="csY1" fmla="*/ 11113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05912" h="6873993">
                <a:moveTo>
                  <a:pt x="0" y="0"/>
                </a:moveTo>
                <a:lnTo>
                  <a:pt x="2927562" y="11113"/>
                </a:lnTo>
                <a:lnTo>
                  <a:pt x="7505912" y="6873993"/>
                </a:lnTo>
                <a:lnTo>
                  <a:pt x="0" y="687399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95" t="-71582" r="-146" b="-79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4D044E64-8C02-C202-D8B8-91F07CDD7B50}"/>
              </a:ext>
            </a:extLst>
          </p:cNvPr>
          <p:cNvSpPr/>
          <p:nvPr userDrawn="1"/>
        </p:nvSpPr>
        <p:spPr>
          <a:xfrm flipH="1" flipV="1">
            <a:off x="9232900" y="-58058"/>
            <a:ext cx="2959100" cy="2768031"/>
          </a:xfrm>
          <a:prstGeom prst="rt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9EDB3ECE-39F1-0FDE-5D24-256060C12E5D}"/>
              </a:ext>
            </a:extLst>
          </p:cNvPr>
          <p:cNvSpPr/>
          <p:nvPr userDrawn="1"/>
        </p:nvSpPr>
        <p:spPr>
          <a:xfrm flipV="1">
            <a:off x="0" y="0"/>
            <a:ext cx="2184400" cy="2120900"/>
          </a:xfrm>
          <a:prstGeom prst="rtTriangle">
            <a:avLst/>
          </a:prstGeom>
          <a:solidFill>
            <a:srgbClr val="86CB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C388A4E-5D82-6901-B7D8-9734A6B50E94}"/>
              </a:ext>
            </a:extLst>
          </p:cNvPr>
          <p:cNvSpPr/>
          <p:nvPr userDrawn="1"/>
        </p:nvSpPr>
        <p:spPr>
          <a:xfrm>
            <a:off x="0" y="4737100"/>
            <a:ext cx="2184400" cy="2120900"/>
          </a:xfrm>
          <a:prstGeom prst="rtTriangle">
            <a:avLst/>
          </a:prstGeom>
          <a:solidFill>
            <a:srgbClr val="FDD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5E0A94A-41F2-A490-8A55-040978D63E0A}"/>
              </a:ext>
            </a:extLst>
          </p:cNvPr>
          <p:cNvSpPr/>
          <p:nvPr userDrawn="1"/>
        </p:nvSpPr>
        <p:spPr>
          <a:xfrm flipV="1">
            <a:off x="787400" y="0"/>
            <a:ext cx="1955800" cy="1193505"/>
          </a:xfrm>
          <a:prstGeom prst="triangle">
            <a:avLst/>
          </a:prstGeom>
          <a:solidFill>
            <a:srgbClr val="8EB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19A5478-3BE5-55EA-A23B-04207FEE4C2B}"/>
              </a:ext>
            </a:extLst>
          </p:cNvPr>
          <p:cNvSpPr/>
          <p:nvPr userDrawn="1"/>
        </p:nvSpPr>
        <p:spPr>
          <a:xfrm flipH="1" flipV="1">
            <a:off x="9820658" y="0"/>
            <a:ext cx="2371342" cy="2171700"/>
          </a:xfrm>
          <a:prstGeom prst="rtTriangle">
            <a:avLst/>
          </a:prstGeom>
          <a:solidFill>
            <a:srgbClr val="F28E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500" y="2330045"/>
            <a:ext cx="7576610" cy="1255728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5500" y="3734275"/>
            <a:ext cx="7555009" cy="332399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1A999C7-D42B-9A0B-41AC-68DDC39ACC19}"/>
              </a:ext>
            </a:extLst>
          </p:cNvPr>
          <p:cNvSpPr/>
          <p:nvPr userDrawn="1"/>
        </p:nvSpPr>
        <p:spPr>
          <a:xfrm>
            <a:off x="787400" y="5664493"/>
            <a:ext cx="1955800" cy="1215278"/>
          </a:xfrm>
          <a:prstGeom prst="triangl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4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8845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9044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7205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716517"/>
            <a:ext cx="1143000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6509-7E90-804D-6122-6E676B1E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60323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2129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98116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D1D9-674B-B0B8-03C5-2CBC9C8C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6AF3-B50B-B2AF-6249-6CB1F1AC3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703B-E1B4-9873-429A-2BB97FCC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C183D-DE67-4C69-B55E-8223FFC46376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0A72-6811-A864-55BB-6911DFDB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5E7F-8723-31FA-4FE9-F86E88F6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89DEA-E4B6-4420-8741-6BF15F6C8E6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934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644589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7129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86088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8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9306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Re-energizing our GTM — </a:t>
            </a:r>
            <a:r>
              <a:rPr sz="2800" b="1">
                <a:solidFill>
                  <a:srgbClr val="5F1EBE"/>
                </a:solidFill>
                <a:latin typeface="Aptos"/>
              </a:rPr>
              <a:t>three plays, one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42415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Vertical sales embedded, DBS and DPO on one story, partners co-creating — early proof already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26464"/>
            <a:ext cx="352044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645920"/>
            <a:ext cx="530352" cy="365760"/>
          </a:xfrm>
          <a:prstGeom prst="roundRect">
            <a:avLst>
              <a:gd name="adj" fmla="val 18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591056"/>
            <a:ext cx="2404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411482"/>
                </a:solidFill>
                <a:latin typeface="Aptos"/>
              </a:rPr>
              <a:t>Embedded with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411482"/>
                </a:solidFill>
                <a:latin typeface="Aptos"/>
              </a:rPr>
              <a:t>Vertical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157984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8291A0"/>
                </a:solidFill>
                <a:latin typeface="Aptos"/>
              </a:rPr>
              <a:t>Deepen vertical alignment and activate BPO platform conversations at scale.</a:t>
            </a:r>
          </a:p>
        </p:txBody>
      </p:sp>
      <p:sp>
        <p:nvSpPr>
          <p:cNvPr id="8" name="Oval 7"/>
          <p:cNvSpPr/>
          <p:nvPr/>
        </p:nvSpPr>
        <p:spPr>
          <a:xfrm>
            <a:off x="1257300" y="2679191"/>
            <a:ext cx="2194560" cy="1060704"/>
          </a:xfrm>
          <a:prstGeom prst="ellipse">
            <a:avLst/>
          </a:prstGeom>
          <a:noFill/>
          <a:ln w="9525">
            <a:solidFill>
              <a:srgbClr val="C8D2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52244" y="2807208"/>
            <a:ext cx="804672" cy="804672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4112" y="3074212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2255824" y="3187598"/>
            <a:ext cx="146304" cy="16093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2868" y="3074212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354580" y="3187598"/>
            <a:ext cx="146304" cy="16093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6716" y="2651760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8156" y="2743200"/>
            <a:ext cx="201168" cy="201168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93418" y="2788462"/>
            <a:ext cx="110642" cy="110642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0634" y="2825678"/>
            <a:ext cx="36210" cy="36210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68396" y="2651760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98057" y="2757281"/>
            <a:ext cx="124724" cy="173004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326221" y="2795503"/>
            <a:ext cx="68397" cy="0"/>
          </a:xfrm>
          <a:custGeom>
            <a:avLst/>
            <a:gdLst/>
            <a:ahLst/>
            <a:cxnLst/>
            <a:rect l="l" t="t" r="r" b="b"/>
            <a:pathLst>
              <a:path w="68397" h="0">
                <a:moveTo>
                  <a:pt x="0" y="0"/>
                </a:moveTo>
                <a:lnTo>
                  <a:pt x="68397" y="0"/>
                </a:lnTo>
              </a:path>
            </a:pathLst>
          </a:custGeom>
          <a:noFill/>
          <a:ln w="10795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326221" y="2837748"/>
            <a:ext cx="68397" cy="0"/>
          </a:xfrm>
          <a:custGeom>
            <a:avLst/>
            <a:gdLst/>
            <a:ahLst/>
            <a:cxnLst/>
            <a:rect l="l" t="t" r="r" b="b"/>
            <a:pathLst>
              <a:path w="68397" h="0">
                <a:moveTo>
                  <a:pt x="0" y="0"/>
                </a:moveTo>
                <a:lnTo>
                  <a:pt x="68397" y="0"/>
                </a:lnTo>
              </a:path>
            </a:pathLst>
          </a:custGeom>
          <a:noFill/>
          <a:ln w="10795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26221" y="2879994"/>
            <a:ext cx="68397" cy="0"/>
          </a:xfrm>
          <a:custGeom>
            <a:avLst/>
            <a:gdLst/>
            <a:ahLst/>
            <a:cxnLst/>
            <a:rect l="l" t="t" r="r" b="b"/>
            <a:pathLst>
              <a:path w="68397" h="0">
                <a:moveTo>
                  <a:pt x="0" y="0"/>
                </a:moveTo>
                <a:lnTo>
                  <a:pt x="68397" y="0"/>
                </a:lnTo>
              </a:path>
            </a:pathLst>
          </a:custGeom>
          <a:noFill/>
          <a:ln w="10795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" y="3383279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28623" y="3500871"/>
            <a:ext cx="40233" cy="40233"/>
          </a:xfrm>
          <a:prstGeom prst="roundRect">
            <a:avLst>
              <a:gd name="adj" fmla="val 25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84366" y="3603467"/>
            <a:ext cx="32186" cy="32186"/>
          </a:xfrm>
          <a:prstGeom prst="roundRect">
            <a:avLst>
              <a:gd name="adj" fmla="val 25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32646" y="3603467"/>
            <a:ext cx="32186" cy="32186"/>
          </a:xfrm>
          <a:prstGeom prst="roundRect">
            <a:avLst>
              <a:gd name="adj" fmla="val 25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80926" y="3603467"/>
            <a:ext cx="32186" cy="32186"/>
          </a:xfrm>
          <a:prstGeom prst="roundRect">
            <a:avLst>
              <a:gd name="adj" fmla="val 25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300459" y="3583350"/>
            <a:ext cx="96561" cy="0"/>
          </a:xfrm>
          <a:custGeom>
            <a:avLst/>
            <a:gdLst/>
            <a:ahLst/>
            <a:cxnLst/>
            <a:rect l="l" t="t" r="r" b="b"/>
            <a:pathLst>
              <a:path w="96561" h="0">
                <a:moveTo>
                  <a:pt x="0" y="0"/>
                </a:moveTo>
                <a:lnTo>
                  <a:pt x="96561" y="0"/>
                </a:lnTo>
              </a:path>
            </a:pathLst>
          </a:custGeom>
          <a:noFill/>
          <a:ln w="10795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68396" y="3383279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90011" y="3569268"/>
            <a:ext cx="36210" cy="68397"/>
          </a:xfrm>
          <a:prstGeom prst="roundRect">
            <a:avLst>
              <a:gd name="adj" fmla="val 30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44326" y="3520988"/>
            <a:ext cx="36210" cy="116677"/>
          </a:xfrm>
          <a:prstGeom prst="roundRect">
            <a:avLst>
              <a:gd name="adj" fmla="val 30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98641" y="3468684"/>
            <a:ext cx="36210" cy="168981"/>
          </a:xfrm>
          <a:prstGeom prst="roundRect">
            <a:avLst>
              <a:gd name="adj" fmla="val 30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32104" y="3950208"/>
            <a:ext cx="3044952" cy="0"/>
          </a:xfrm>
          <a:custGeom>
            <a:avLst/>
            <a:gdLst/>
            <a:ahLst/>
            <a:cxnLst/>
            <a:rect l="l" t="t" r="r" b="b"/>
            <a:pathLst>
              <a:path w="3044952" h="0">
                <a:moveTo>
                  <a:pt x="0" y="0"/>
                </a:moveTo>
                <a:lnTo>
                  <a:pt x="3044952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4059935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11482"/>
                </a:solidFill>
                <a:latin typeface="Aptos"/>
              </a:rPr>
              <a:t>HIGHLIGHTS</a:t>
            </a:r>
          </a:p>
        </p:txBody>
      </p:sp>
      <p:sp>
        <p:nvSpPr>
          <p:cNvPr id="35" name="Oval 34"/>
          <p:cNvSpPr/>
          <p:nvPr/>
        </p:nvSpPr>
        <p:spPr>
          <a:xfrm>
            <a:off x="850392" y="4425696"/>
            <a:ext cx="82296" cy="82296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33425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11482"/>
                </a:solidFill>
                <a:latin typeface="Aptos"/>
              </a:rPr>
              <a:t>1st</a:t>
            </a:r>
            <a:r>
              <a:rPr sz="950" b="0">
                <a:solidFill>
                  <a:srgbClr val="000000"/>
                </a:solidFill>
                <a:latin typeface="Aptos"/>
              </a:rPr>
              <a:t> Advisor Day completed</a:t>
            </a:r>
          </a:p>
        </p:txBody>
      </p:sp>
      <p:sp>
        <p:nvSpPr>
          <p:cNvPr id="37" name="Oval 36"/>
          <p:cNvSpPr/>
          <p:nvPr/>
        </p:nvSpPr>
        <p:spPr>
          <a:xfrm>
            <a:off x="850392" y="4791456"/>
            <a:ext cx="82296" cy="82296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0001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11482"/>
                </a:solidFill>
                <a:latin typeface="Aptos"/>
              </a:rPr>
              <a:t>26+</a:t>
            </a:r>
            <a:r>
              <a:rPr sz="950" b="0">
                <a:solidFill>
                  <a:srgbClr val="000000"/>
                </a:solidFill>
                <a:latin typeface="Aptos"/>
              </a:rPr>
              <a:t> advisors engaged</a:t>
            </a:r>
          </a:p>
        </p:txBody>
      </p:sp>
      <p:sp>
        <p:nvSpPr>
          <p:cNvPr id="39" name="Oval 38"/>
          <p:cNvSpPr/>
          <p:nvPr/>
        </p:nvSpPr>
        <p:spPr>
          <a:xfrm>
            <a:off x="850392" y="5157216"/>
            <a:ext cx="82296" cy="82296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06577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11482"/>
                </a:solidFill>
                <a:latin typeface="Aptos"/>
              </a:rPr>
              <a:t>89%</a:t>
            </a:r>
            <a:r>
              <a:rPr sz="950" b="0">
                <a:solidFill>
                  <a:srgbClr val="000000"/>
                </a:solidFill>
                <a:latin typeface="Aptos"/>
              </a:rPr>
              <a:t> willing to take AFP to market</a:t>
            </a:r>
          </a:p>
        </p:txBody>
      </p:sp>
      <p:sp>
        <p:nvSpPr>
          <p:cNvPr id="41" name="Oval 40"/>
          <p:cNvSpPr/>
          <p:nvPr/>
        </p:nvSpPr>
        <p:spPr>
          <a:xfrm>
            <a:off x="850392" y="5522976"/>
            <a:ext cx="82296" cy="82296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43153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11482"/>
                </a:solidFill>
                <a:latin typeface="Aptos"/>
              </a:rPr>
              <a:t>14</a:t>
            </a:r>
            <a:r>
              <a:rPr sz="950" b="0">
                <a:solidFill>
                  <a:srgbClr val="000000"/>
                </a:solidFill>
                <a:latin typeface="Aptos"/>
              </a:rPr>
              <a:t> successful interactions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852159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291A0"/>
                </a:solidFill>
                <a:latin typeface="Aptos"/>
              </a:rPr>
              <a:t>KPMG advisors, Growth Market (AUS)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1426464"/>
            <a:ext cx="352044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0" y="1645920"/>
            <a:ext cx="530352" cy="365760"/>
          </a:xfrm>
          <a:prstGeom prst="roundRect">
            <a:avLst>
              <a:gd name="adj" fmla="val 1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1591056"/>
            <a:ext cx="2404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5F1EBE"/>
                </a:solidFill>
                <a:latin typeface="Aptos"/>
              </a:rPr>
              <a:t>One story —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5F1EBE"/>
                </a:solidFill>
                <a:latin typeface="Aptos"/>
              </a:rPr>
              <a:t>DBS + DPO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2157984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8291A0"/>
                </a:solidFill>
                <a:latin typeface="Aptos"/>
              </a:rPr>
              <a:t>One integrated narrative that delivers greater value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32604" y="2752344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187391" y="2943270"/>
            <a:ext cx="204825" cy="8778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87391" y="3036905"/>
            <a:ext cx="204825" cy="8778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87391" y="3130539"/>
            <a:ext cx="204825" cy="8778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32604" y="33009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DBS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1948" y="2752344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Gear 6 53"/>
          <p:cNvSpPr/>
          <p:nvPr/>
        </p:nvSpPr>
        <p:spPr>
          <a:xfrm>
            <a:off x="6773326" y="2937418"/>
            <a:ext cx="251642" cy="251642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64035" y="3028127"/>
            <a:ext cx="70225" cy="70225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1948" y="33009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DPO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4708" y="2779776"/>
            <a:ext cx="859536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5F1EBE"/>
                </a:solidFill>
                <a:latin typeface="Aptos"/>
              </a:rPr>
              <a:t>Stronger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5F1EBE"/>
                </a:solidFill>
                <a:latin typeface="Aptos"/>
              </a:rPr>
              <a:t>Customer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5F1EBE"/>
                </a:solidFill>
                <a:latin typeface="Aptos"/>
              </a:rPr>
              <a:t>Value</a:t>
            </a:r>
          </a:p>
        </p:txBody>
      </p:sp>
      <p:sp>
        <p:nvSpPr>
          <p:cNvPr id="58" name="Freeform 57"/>
          <p:cNvSpPr/>
          <p:nvPr/>
        </p:nvSpPr>
        <p:spPr>
          <a:xfrm>
            <a:off x="4572000" y="3950208"/>
            <a:ext cx="3044952" cy="0"/>
          </a:xfrm>
          <a:custGeom>
            <a:avLst/>
            <a:gdLst/>
            <a:ahLst/>
            <a:cxnLst/>
            <a:rect l="l" t="t" r="r" b="b"/>
            <a:pathLst>
              <a:path w="3044952" h="0">
                <a:moveTo>
                  <a:pt x="0" y="0"/>
                </a:moveTo>
                <a:lnTo>
                  <a:pt x="3044952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4059935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1EBE"/>
                </a:solidFill>
                <a:latin typeface="Aptos"/>
              </a:rPr>
              <a:t>HIGHLIGHTS</a:t>
            </a:r>
          </a:p>
        </p:txBody>
      </p:sp>
      <p:sp>
        <p:nvSpPr>
          <p:cNvPr id="60" name="Oval 59"/>
          <p:cNvSpPr/>
          <p:nvPr/>
        </p:nvSpPr>
        <p:spPr>
          <a:xfrm>
            <a:off x="4590288" y="4425696"/>
            <a:ext cx="82296" cy="8229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91456" y="433425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5+</a:t>
            </a:r>
            <a:r>
              <a:rPr sz="950" b="0">
                <a:solidFill>
                  <a:srgbClr val="000000"/>
                </a:solidFill>
                <a:latin typeface="Aptos"/>
              </a:rPr>
              <a:t> CFO roundtables planned, FY27</a:t>
            </a:r>
          </a:p>
        </p:txBody>
      </p:sp>
      <p:sp>
        <p:nvSpPr>
          <p:cNvPr id="62" name="Oval 61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91456" y="470001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15+</a:t>
            </a:r>
            <a:r>
              <a:rPr sz="950" b="0">
                <a:solidFill>
                  <a:srgbClr val="000000"/>
                </a:solidFill>
                <a:latin typeface="Aptos"/>
              </a:rPr>
              <a:t> analyst briefings planned, FY27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74152" y="1426464"/>
            <a:ext cx="352044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311896" y="1645920"/>
            <a:ext cx="530352" cy="365760"/>
          </a:xfrm>
          <a:prstGeom prst="roundRect">
            <a:avLst>
              <a:gd name="adj" fmla="val 18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51976" y="1591056"/>
            <a:ext cx="24048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0F5FDC"/>
                </a:solidFill>
                <a:latin typeface="Aptos"/>
              </a:rPr>
              <a:t>Co-created by the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0F5FDC"/>
                </a:solidFill>
                <a:latin typeface="Aptos"/>
              </a:rPr>
              <a:t>Partner ecosystem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11896" y="2157984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8291A0"/>
                </a:solidFill>
                <a:latin typeface="Aptos"/>
              </a:rPr>
              <a:t>Leverage hyperscalers and partners to build, innovate and scale together.</a:t>
            </a:r>
          </a:p>
        </p:txBody>
      </p:sp>
      <p:sp>
        <p:nvSpPr>
          <p:cNvPr id="68" name="Oval 67"/>
          <p:cNvSpPr/>
          <p:nvPr/>
        </p:nvSpPr>
        <p:spPr>
          <a:xfrm>
            <a:off x="9468612" y="2843784"/>
            <a:ext cx="731520" cy="73152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801453" y="3087745"/>
            <a:ext cx="65836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729033" y="3255629"/>
            <a:ext cx="52669" cy="5266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808037" y="3255629"/>
            <a:ext cx="52669" cy="5266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87041" y="3255629"/>
            <a:ext cx="52669" cy="5266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755367" y="3222711"/>
            <a:ext cx="158009" cy="0"/>
          </a:xfrm>
          <a:custGeom>
            <a:avLst/>
            <a:gdLst/>
            <a:ahLst/>
            <a:cxnLst/>
            <a:rect l="l" t="t" r="r" b="b"/>
            <a:pathLst>
              <a:path w="158009" h="0">
                <a:moveTo>
                  <a:pt x="0" y="0"/>
                </a:moveTo>
                <a:lnTo>
                  <a:pt x="158009" y="0"/>
                </a:lnTo>
              </a:path>
            </a:pathLst>
          </a:custGeom>
          <a:noFill/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9340596" y="2843784"/>
            <a:ext cx="182880" cy="201167"/>
          </a:xfrm>
          <a:custGeom>
            <a:avLst/>
            <a:gdLst/>
            <a:ahLst/>
            <a:cxnLst/>
            <a:rect l="l" t="t" r="r" b="b"/>
            <a:pathLst>
              <a:path w="182880" h="201167">
                <a:moveTo>
                  <a:pt x="0" y="0"/>
                </a:moveTo>
                <a:lnTo>
                  <a:pt x="182880" y="201167"/>
                </a:lnTo>
              </a:path>
            </a:pathLst>
          </a:custGeom>
          <a:noFill/>
          <a:ln w="9525">
            <a:solidFill>
              <a:srgbClr val="C8D2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316468" y="2697479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Hyperscalers</a:t>
            </a:r>
          </a:p>
        </p:txBody>
      </p:sp>
      <p:sp>
        <p:nvSpPr>
          <p:cNvPr id="76" name="Freeform 75"/>
          <p:cNvSpPr/>
          <p:nvPr/>
        </p:nvSpPr>
        <p:spPr>
          <a:xfrm>
            <a:off x="10145268" y="2843784"/>
            <a:ext cx="182880" cy="201167"/>
          </a:xfrm>
          <a:custGeom>
            <a:avLst/>
            <a:gdLst/>
            <a:ahLst/>
            <a:cxnLst/>
            <a:rect l="l" t="t" r="r" b="b"/>
            <a:pathLst>
              <a:path w="182880" h="201167">
                <a:moveTo>
                  <a:pt x="182880" y="0"/>
                </a:moveTo>
                <a:lnTo>
                  <a:pt x="0" y="201167"/>
                </a:lnTo>
              </a:path>
            </a:pathLst>
          </a:custGeom>
          <a:noFill/>
          <a:ln w="9525">
            <a:solidFill>
              <a:srgbClr val="C8D2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328148" y="2697479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MS &amp; AWS</a:t>
            </a:r>
          </a:p>
        </p:txBody>
      </p:sp>
      <p:sp>
        <p:nvSpPr>
          <p:cNvPr id="78" name="Freeform 77"/>
          <p:cNvSpPr/>
          <p:nvPr/>
        </p:nvSpPr>
        <p:spPr>
          <a:xfrm>
            <a:off x="9340596" y="3374136"/>
            <a:ext cx="182880" cy="201167"/>
          </a:xfrm>
          <a:custGeom>
            <a:avLst/>
            <a:gdLst/>
            <a:ahLst/>
            <a:cxnLst/>
            <a:rect l="l" t="t" r="r" b="b"/>
            <a:pathLst>
              <a:path w="182880" h="201167">
                <a:moveTo>
                  <a:pt x="0" y="201167"/>
                </a:moveTo>
                <a:lnTo>
                  <a:pt x="182880" y="0"/>
                </a:lnTo>
              </a:path>
            </a:pathLst>
          </a:custGeom>
          <a:noFill/>
          <a:ln w="9525">
            <a:solidFill>
              <a:srgbClr val="C8D2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316468" y="3428999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Startup Play</a:t>
            </a:r>
          </a:p>
        </p:txBody>
      </p:sp>
      <p:sp>
        <p:nvSpPr>
          <p:cNvPr id="80" name="Freeform 79"/>
          <p:cNvSpPr/>
          <p:nvPr/>
        </p:nvSpPr>
        <p:spPr>
          <a:xfrm>
            <a:off x="10145268" y="3374136"/>
            <a:ext cx="182880" cy="201167"/>
          </a:xfrm>
          <a:custGeom>
            <a:avLst/>
            <a:gdLst/>
            <a:ahLst/>
            <a:cxnLst/>
            <a:rect l="l" t="t" r="r" b="b"/>
            <a:pathLst>
              <a:path w="182880" h="201167">
                <a:moveTo>
                  <a:pt x="182880" y="20116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8D2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328148" y="3428999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GTM Momentum</a:t>
            </a:r>
          </a:p>
        </p:txBody>
      </p:sp>
      <p:sp>
        <p:nvSpPr>
          <p:cNvPr id="82" name="Freeform 81"/>
          <p:cNvSpPr/>
          <p:nvPr/>
        </p:nvSpPr>
        <p:spPr>
          <a:xfrm>
            <a:off x="8311896" y="3950208"/>
            <a:ext cx="3044952" cy="0"/>
          </a:xfrm>
          <a:custGeom>
            <a:avLst/>
            <a:gdLst/>
            <a:ahLst/>
            <a:cxnLst/>
            <a:rect l="l" t="t" r="r" b="b"/>
            <a:pathLst>
              <a:path w="3044952" h="0">
                <a:moveTo>
                  <a:pt x="0" y="0"/>
                </a:moveTo>
                <a:lnTo>
                  <a:pt x="3044952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11896" y="4059935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F5FDC"/>
                </a:solidFill>
                <a:latin typeface="Aptos"/>
              </a:rPr>
              <a:t>HIGHLIGHTS</a:t>
            </a:r>
          </a:p>
        </p:txBody>
      </p:sp>
      <p:sp>
        <p:nvSpPr>
          <p:cNvPr id="84" name="Oval 83"/>
          <p:cNvSpPr/>
          <p:nvPr/>
        </p:nvSpPr>
        <p:spPr>
          <a:xfrm>
            <a:off x="8330183" y="4425696"/>
            <a:ext cx="82296" cy="82296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31352" y="433425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F5FDC"/>
                </a:solidFill>
                <a:latin typeface="Aptos"/>
              </a:rPr>
              <a:t>96</a:t>
            </a:r>
            <a:r>
              <a:rPr sz="950" b="0">
                <a:solidFill>
                  <a:srgbClr val="000000"/>
                </a:solidFill>
                <a:latin typeface="Aptos"/>
              </a:rPr>
              <a:t> media reactions — Autonomous Finance Platform with Google</a:t>
            </a:r>
          </a:p>
        </p:txBody>
      </p:sp>
      <p:sp>
        <p:nvSpPr>
          <p:cNvPr id="86" name="Oval 85"/>
          <p:cNvSpPr/>
          <p:nvPr/>
        </p:nvSpPr>
        <p:spPr>
          <a:xfrm>
            <a:off x="8330183" y="4791456"/>
            <a:ext cx="82296" cy="82296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31352" y="470001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F5FDC"/>
                </a:solidFill>
                <a:latin typeface="Aptos"/>
              </a:rPr>
              <a:t>Krisp.ai</a:t>
            </a:r>
            <a:r>
              <a:rPr sz="950" b="0">
                <a:solidFill>
                  <a:srgbClr val="000000"/>
                </a:solidFill>
                <a:latin typeface="Aptos"/>
              </a:rPr>
              <a:t> — real-time voice translation</a:t>
            </a:r>
          </a:p>
        </p:txBody>
      </p:sp>
      <p:sp>
        <p:nvSpPr>
          <p:cNvPr id="88" name="Oval 87"/>
          <p:cNvSpPr/>
          <p:nvPr/>
        </p:nvSpPr>
        <p:spPr>
          <a:xfrm>
            <a:off x="8330183" y="5157216"/>
            <a:ext cx="82296" cy="82296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31352" y="506577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F5FDC"/>
                </a:solidFill>
                <a:latin typeface="Aptos"/>
              </a:rPr>
              <a:t>Stutt.ai</a:t>
            </a:r>
            <a:r>
              <a:rPr sz="950" b="0">
                <a:solidFill>
                  <a:srgbClr val="000000"/>
                </a:solidFill>
                <a:latin typeface="Aptos"/>
              </a:rPr>
              <a:t> — automated collections</a:t>
            </a:r>
          </a:p>
        </p:txBody>
      </p:sp>
      <p:sp>
        <p:nvSpPr>
          <p:cNvPr id="90" name="Freeform 89"/>
          <p:cNvSpPr/>
          <p:nvPr/>
        </p:nvSpPr>
        <p:spPr>
          <a:xfrm>
            <a:off x="1463040" y="6391656"/>
            <a:ext cx="2788920" cy="0"/>
          </a:xfrm>
          <a:custGeom>
            <a:avLst/>
            <a:gdLst/>
            <a:ahLst/>
            <a:cxnLst/>
            <a:rect l="l" t="t" r="r" b="b"/>
            <a:pathLst>
              <a:path w="2788920" h="0">
                <a:moveTo>
                  <a:pt x="0" y="0"/>
                </a:moveTo>
                <a:lnTo>
                  <a:pt x="278892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7955279" y="6391656"/>
            <a:ext cx="2788921" cy="0"/>
          </a:xfrm>
          <a:custGeom>
            <a:avLst/>
            <a:gdLst/>
            <a:ahLst/>
            <a:cxnLst/>
            <a:rect l="l" t="t" r="r" b="b"/>
            <a:pathLst>
              <a:path w="2788921" h="0">
                <a:moveTo>
                  <a:pt x="0" y="0"/>
                </a:moveTo>
                <a:lnTo>
                  <a:pt x="2788921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4360" y="6272784"/>
            <a:ext cx="11000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Aligned. Integrated. Innovative. Impactful.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