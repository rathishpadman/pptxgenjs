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9384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7" Type="http://schemas.openxmlformats.org/officeDocument/2006/relationships/slideLayout" Target="../slideLayouts/slideLayout17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7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Re-energizing our GTM — </a:t>
            </a:r>
            <a:r>
              <a:rPr sz="2800" b="1">
                <a:solidFill>
                  <a:srgbClr val="5F1EBE"/>
                </a:solidFill>
                <a:latin typeface="Aptos"/>
              </a:rPr>
              <a:t>three plays, one motion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24128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Industry-led, AI-powered, ecosystem-enabled GTM to accelerate platform adoption.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81328"/>
            <a:ext cx="3456432" cy="29626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700784"/>
            <a:ext cx="475488" cy="402336"/>
          </a:xfrm>
          <a:prstGeom prst="roundRect">
            <a:avLst>
              <a:gd name="adj" fmla="val 2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682496"/>
            <a:ext cx="23774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411482"/>
                </a:solidFill>
                <a:latin typeface="Aptos"/>
              </a:rPr>
              <a:t>VERTICAL SALES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938528"/>
            <a:ext cx="23774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Drive demand</a:t>
            </a:r>
          </a:p>
        </p:txBody>
      </p:sp>
      <p:sp>
        <p:nvSpPr>
          <p:cNvPr id="8" name="Oval 7"/>
          <p:cNvSpPr/>
          <p:nvPr/>
        </p:nvSpPr>
        <p:spPr>
          <a:xfrm>
            <a:off x="1161288" y="2432304"/>
            <a:ext cx="402336" cy="402336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52728" y="2523744"/>
            <a:ext cx="219456" cy="219456"/>
          </a:xfrm>
          <a:prstGeom prst="ellipse">
            <a:avLst/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02105" y="2573121"/>
            <a:ext cx="120700" cy="120700"/>
          </a:xfrm>
          <a:prstGeom prst="ellipse">
            <a:avLst/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2704" y="2613720"/>
            <a:ext cx="39502" cy="39502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2395728"/>
            <a:ext cx="2103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Deepen vertical alignment</a:t>
            </a:r>
          </a:p>
        </p:txBody>
      </p:sp>
      <p:sp>
        <p:nvSpPr>
          <p:cNvPr id="13" name="Oval 12"/>
          <p:cNvSpPr/>
          <p:nvPr/>
        </p:nvSpPr>
        <p:spPr>
          <a:xfrm>
            <a:off x="1161288" y="3072384"/>
            <a:ext cx="402336" cy="402336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14175" y="3192353"/>
            <a:ext cx="65836" cy="65836"/>
          </a:xfrm>
          <a:prstGeom prst="ellipse">
            <a:avLst/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1303202" y="3260384"/>
            <a:ext cx="87782" cy="96560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3428" y="3192353"/>
            <a:ext cx="65836" cy="65836"/>
          </a:xfrm>
          <a:prstGeom prst="ellipse">
            <a:avLst/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1362456" y="3260384"/>
            <a:ext cx="87782" cy="96560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09928" y="3035808"/>
            <a:ext cx="2103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CXO access &amp; engagement</a:t>
            </a:r>
          </a:p>
        </p:txBody>
      </p:sp>
      <p:sp>
        <p:nvSpPr>
          <p:cNvPr id="19" name="Oval 18"/>
          <p:cNvSpPr/>
          <p:nvPr/>
        </p:nvSpPr>
        <p:spPr>
          <a:xfrm>
            <a:off x="1161288" y="3712463"/>
            <a:ext cx="402336" cy="402336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85646" y="3907048"/>
            <a:ext cx="39502" cy="74615"/>
          </a:xfrm>
          <a:prstGeom prst="roundRect">
            <a:avLst>
              <a:gd name="adj" fmla="val 3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344899" y="3854378"/>
            <a:ext cx="39502" cy="127284"/>
          </a:xfrm>
          <a:prstGeom prst="roundRect">
            <a:avLst>
              <a:gd name="adj" fmla="val 3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04152" y="3797320"/>
            <a:ext cx="39502" cy="184343"/>
          </a:xfrm>
          <a:prstGeom prst="roundRect">
            <a:avLst>
              <a:gd name="adj" fmla="val 3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09928" y="3675887"/>
            <a:ext cx="2103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Activate BPO platform conversations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" y="4297680"/>
            <a:ext cx="2980944" cy="54864"/>
          </a:xfrm>
          <a:prstGeom prst="roundRect">
            <a:avLst>
              <a:gd name="adj" fmla="val 5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66260" y="1481328"/>
            <a:ext cx="3456432" cy="29626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04004" y="1700784"/>
            <a:ext cx="475488" cy="402336"/>
          </a:xfrm>
          <a:prstGeom prst="roundRect">
            <a:avLst>
              <a:gd name="adj" fmla="val 2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7508" y="1682496"/>
            <a:ext cx="23774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F1EBE"/>
                </a:solidFill>
                <a:latin typeface="Aptos"/>
              </a:rPr>
              <a:t>DBS + DPO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7508" y="1938528"/>
            <a:ext cx="23774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Unify the 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86300" y="2414016"/>
            <a:ext cx="1234440" cy="960120"/>
          </a:xfrm>
          <a:prstGeom prst="roundRect">
            <a:avLst>
              <a:gd name="adj" fmla="val 11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01107" y="2623230"/>
            <a:ext cx="204825" cy="8778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201107" y="2716865"/>
            <a:ext cx="204825" cy="8778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201107" y="2810499"/>
            <a:ext cx="204825" cy="8778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300" y="299923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DBS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8212" y="2414016"/>
            <a:ext cx="1234440" cy="960120"/>
          </a:xfrm>
          <a:prstGeom prst="roundRect">
            <a:avLst>
              <a:gd name="adj" fmla="val 11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41540" y="2623230"/>
            <a:ext cx="87782" cy="8778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74240" y="2749052"/>
            <a:ext cx="87782" cy="8778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908840" y="2749052"/>
            <a:ext cx="87782" cy="8778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8212" y="299923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DPO</a:t>
            </a:r>
          </a:p>
        </p:txBody>
      </p:sp>
      <p:sp>
        <p:nvSpPr>
          <p:cNvPr id="39" name="Oval 38"/>
          <p:cNvSpPr/>
          <p:nvPr/>
        </p:nvSpPr>
        <p:spPr>
          <a:xfrm>
            <a:off x="5929884" y="272491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1">
                <a:solidFill>
                  <a:srgbClr val="5F1EBE"/>
                </a:solidFill>
                <a:latin typeface="Aptos"/>
              </a:rPr>
              <a:t>+</a:t>
            </a:r>
          </a:p>
        </p:txBody>
      </p:sp>
      <p:sp>
        <p:nvSpPr>
          <p:cNvPr id="40" name="Freeform 39"/>
          <p:cNvSpPr/>
          <p:nvPr/>
        </p:nvSpPr>
        <p:spPr>
          <a:xfrm>
            <a:off x="6094476" y="3438144"/>
            <a:ext cx="0" cy="146304"/>
          </a:xfrm>
          <a:custGeom>
            <a:avLst/>
            <a:gdLst/>
            <a:ahLst/>
            <a:cxnLst/>
            <a:rect l="l" t="t" r="r" b="b"/>
            <a:pathLst>
              <a:path w="0" h="146304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1397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039612" y="3529584"/>
            <a:ext cx="109728" cy="54864"/>
          </a:xfrm>
          <a:custGeom>
            <a:avLst/>
            <a:gdLst/>
            <a:ahLst/>
            <a:cxnLst/>
            <a:rect l="l" t="t" r="r" b="b"/>
            <a:pathLst>
              <a:path w="109728" h="54864">
                <a:moveTo>
                  <a:pt x="0" y="0"/>
                </a:moveTo>
                <a:lnTo>
                  <a:pt x="54864" y="54864"/>
                </a:lnTo>
                <a:lnTo>
                  <a:pt x="109728" y="0"/>
                </a:lnTo>
              </a:path>
            </a:pathLst>
          </a:custGeom>
          <a:noFill/>
          <a:ln w="1397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604004" y="3657600"/>
            <a:ext cx="2980944" cy="603504"/>
          </a:xfrm>
          <a:prstGeom prst="roundRect">
            <a:avLst>
              <a:gd name="adj" fmla="val 14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50" b="1">
                <a:solidFill>
                  <a:srgbClr val="5F1EBE"/>
                </a:solidFill>
                <a:latin typeface="Aptos"/>
              </a:rPr>
              <a:t>ONE INTEGRATED NARRATIVE</a:t>
            </a:r>
          </a:p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Greater customer value together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04004" y="4297680"/>
            <a:ext cx="2980944" cy="5486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38160" y="1481328"/>
            <a:ext cx="3456432" cy="29626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375904" y="1700784"/>
            <a:ext cx="475488" cy="402336"/>
          </a:xfrm>
          <a:prstGeom prst="roundRect">
            <a:avLst>
              <a:gd name="adj" fmla="val 2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9408" y="1682496"/>
            <a:ext cx="23774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5FDC"/>
                </a:solidFill>
                <a:latin typeface="Aptos"/>
              </a:rPr>
              <a:t>ECOSYSTEM INNOVATION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9408" y="1938528"/>
            <a:ext cx="23774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Scale the reach</a:t>
            </a:r>
          </a:p>
        </p:txBody>
      </p:sp>
      <p:sp>
        <p:nvSpPr>
          <p:cNvPr id="48" name="Oval 47"/>
          <p:cNvSpPr/>
          <p:nvPr/>
        </p:nvSpPr>
        <p:spPr>
          <a:xfrm>
            <a:off x="8705088" y="2432304"/>
            <a:ext cx="402336" cy="402336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loud 48"/>
          <p:cNvSpPr/>
          <p:nvPr/>
        </p:nvSpPr>
        <p:spPr>
          <a:xfrm>
            <a:off x="8807500" y="2561051"/>
            <a:ext cx="197510" cy="144840"/>
          </a:xfrm>
          <a:prstGeom prst="cloud">
            <a:avLst/>
          </a:prstGeom>
          <a:noFill/>
          <a:ln w="1270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53728" y="2395728"/>
            <a:ext cx="2103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Hyperscalers</a:t>
            </a:r>
          </a:p>
        </p:txBody>
      </p:sp>
      <p:sp>
        <p:nvSpPr>
          <p:cNvPr id="51" name="Oval 50"/>
          <p:cNvSpPr/>
          <p:nvPr/>
        </p:nvSpPr>
        <p:spPr>
          <a:xfrm>
            <a:off x="8705088" y="3072384"/>
            <a:ext cx="402336" cy="402336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8825057" y="3192353"/>
            <a:ext cx="162397" cy="162397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53728" y="3035808"/>
            <a:ext cx="2103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Startup plays — Krisp.ai, Stutt.ai</a:t>
            </a:r>
          </a:p>
        </p:txBody>
      </p:sp>
      <p:sp>
        <p:nvSpPr>
          <p:cNvPr id="54" name="Oval 53"/>
          <p:cNvSpPr/>
          <p:nvPr/>
        </p:nvSpPr>
        <p:spPr>
          <a:xfrm>
            <a:off x="8705088" y="3712463"/>
            <a:ext cx="402336" cy="402336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884310" y="3832433"/>
            <a:ext cx="43891" cy="43891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836030" y="3944355"/>
            <a:ext cx="35112" cy="35112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888699" y="3944355"/>
            <a:ext cx="35112" cy="35112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941368" y="3944355"/>
            <a:ext cx="35112" cy="35112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8853586" y="3922410"/>
            <a:ext cx="105339" cy="0"/>
          </a:xfrm>
          <a:custGeom>
            <a:avLst/>
            <a:gdLst/>
            <a:ahLst/>
            <a:cxnLst/>
            <a:rect l="l" t="t" r="r" b="b"/>
            <a:pathLst>
              <a:path w="105339" h="0">
                <a:moveTo>
                  <a:pt x="0" y="0"/>
                </a:moveTo>
                <a:lnTo>
                  <a:pt x="105339" y="0"/>
                </a:lnTo>
              </a:path>
            </a:pathLst>
          </a:custGeom>
          <a:noFill/>
          <a:ln w="10795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53728" y="3675887"/>
            <a:ext cx="2103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Joint GTM initiatives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75904" y="4297680"/>
            <a:ext cx="2980944" cy="5486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 rot="5400000">
            <a:off x="4114800" y="2852928"/>
            <a:ext cx="182880" cy="237744"/>
          </a:xfrm>
          <a:prstGeom prst="triangle">
            <a:avLst/>
          </a:prstGeom>
          <a:solidFill>
            <a:srgbClr val="C8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Isosceles Triangle 62"/>
          <p:cNvSpPr/>
          <p:nvPr/>
        </p:nvSpPr>
        <p:spPr>
          <a:xfrm rot="5400000">
            <a:off x="7886700" y="2852928"/>
            <a:ext cx="182880" cy="237744"/>
          </a:xfrm>
          <a:prstGeom prst="triangle">
            <a:avLst/>
          </a:prstGeom>
          <a:solidFill>
            <a:srgbClr val="C8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94360" y="4590288"/>
            <a:ext cx="11000232" cy="749808"/>
          </a:xfrm>
          <a:prstGeom prst="roundRect">
            <a:avLst>
              <a:gd name="adj" fmla="val 16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52444" y="4709159"/>
            <a:ext cx="512064" cy="51206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5-Point Star 65"/>
          <p:cNvSpPr/>
          <p:nvPr/>
        </p:nvSpPr>
        <p:spPr>
          <a:xfrm>
            <a:off x="3690518" y="4847234"/>
            <a:ext cx="235915" cy="235915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338828" y="4754879"/>
            <a:ext cx="0" cy="420624"/>
          </a:xfrm>
          <a:custGeom>
            <a:avLst/>
            <a:gdLst/>
            <a:ahLst/>
            <a:cxnLst/>
            <a:rect l="l" t="t" r="r" b="b"/>
            <a:pathLst>
              <a:path w="0" h="420624">
                <a:moveTo>
                  <a:pt x="0" y="0"/>
                </a:moveTo>
                <a:lnTo>
                  <a:pt x="0" y="420624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58283" y="4590288"/>
            <a:ext cx="40690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411482"/>
                </a:solidFill>
                <a:latin typeface="Aptos"/>
              </a:rPr>
              <a:t>1st DPO ADVISOR DAY COMPLETED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A strong start to our platform-led GTM motion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4360" y="5486400"/>
            <a:ext cx="257860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8952" y="5696712"/>
            <a:ext cx="475488" cy="475488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07084" y="5926775"/>
            <a:ext cx="46085" cy="8705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76213" y="5865327"/>
            <a:ext cx="46085" cy="14849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45342" y="5798759"/>
            <a:ext cx="46085" cy="21506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362456" y="5577840"/>
            <a:ext cx="166420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5F1EBE"/>
                </a:solidFill>
                <a:latin typeface="Aptos"/>
              </a:rPr>
              <a:t>89%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62456" y="5943600"/>
            <a:ext cx="1664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Willing to take DPO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platform to market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401568" y="5486400"/>
            <a:ext cx="257860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566160" y="5696712"/>
            <a:ext cx="475488" cy="475488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747576" y="5839724"/>
            <a:ext cx="76809" cy="76809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ound Same Side Corner Rectangle 78"/>
          <p:cNvSpPr/>
          <p:nvPr/>
        </p:nvSpPr>
        <p:spPr>
          <a:xfrm>
            <a:off x="3734775" y="5919094"/>
            <a:ext cx="102412" cy="11265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816705" y="5839724"/>
            <a:ext cx="76809" cy="76809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ound Same Side Corner Rectangle 80"/>
          <p:cNvSpPr/>
          <p:nvPr/>
        </p:nvSpPr>
        <p:spPr>
          <a:xfrm>
            <a:off x="3803904" y="5919094"/>
            <a:ext cx="102412" cy="11265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69663" y="5577840"/>
            <a:ext cx="166420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5F1EBE"/>
                </a:solidFill>
                <a:latin typeface="Aptos"/>
              </a:rPr>
              <a:t>20+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69663" y="5943600"/>
            <a:ext cx="1664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Sales enablement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sessions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208776" y="5486400"/>
            <a:ext cx="257860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73368" y="5696712"/>
            <a:ext cx="475488" cy="475488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483096" y="5806440"/>
            <a:ext cx="256032" cy="25603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40703" y="5864047"/>
            <a:ext cx="140817" cy="140817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588069" y="5911413"/>
            <a:ext cx="46085" cy="460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6872" y="5577840"/>
            <a:ext cx="166420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5F1EBE"/>
                </a:solidFill>
                <a:latin typeface="Aptos"/>
              </a:rPr>
              <a:t>5+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76872" y="5943600"/>
            <a:ext cx="1664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CFO roundtables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planned, FY27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015984" y="5486400"/>
            <a:ext cx="257860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9180576" y="5696712"/>
            <a:ext cx="475488" cy="475488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9338950" y="5824362"/>
            <a:ext cx="158739" cy="220187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9374794" y="5873008"/>
            <a:ext cx="43525" cy="0"/>
          </a:xfrm>
          <a:custGeom>
            <a:avLst/>
            <a:gdLst/>
            <a:ahLst/>
            <a:cxnLst/>
            <a:rect l="l" t="t" r="r" b="b"/>
            <a:pathLst>
              <a:path w="43525" h="0">
                <a:moveTo>
                  <a:pt x="0" y="0"/>
                </a:moveTo>
                <a:lnTo>
                  <a:pt x="43525" y="0"/>
                </a:lnTo>
              </a:path>
            </a:pathLst>
          </a:custGeom>
          <a:noFill/>
          <a:ln w="1079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9374794" y="5926775"/>
            <a:ext cx="43525" cy="0"/>
          </a:xfrm>
          <a:custGeom>
            <a:avLst/>
            <a:gdLst/>
            <a:ahLst/>
            <a:cxnLst/>
            <a:rect l="l" t="t" r="r" b="b"/>
            <a:pathLst>
              <a:path w="43525" h="0">
                <a:moveTo>
                  <a:pt x="0" y="0"/>
                </a:moveTo>
                <a:lnTo>
                  <a:pt x="43525" y="0"/>
                </a:lnTo>
              </a:path>
            </a:pathLst>
          </a:custGeom>
          <a:noFill/>
          <a:ln w="1079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9374794" y="5980541"/>
            <a:ext cx="43525" cy="0"/>
          </a:xfrm>
          <a:custGeom>
            <a:avLst/>
            <a:gdLst/>
            <a:ahLst/>
            <a:cxnLst/>
            <a:rect l="l" t="t" r="r" b="b"/>
            <a:pathLst>
              <a:path w="43525" h="0">
                <a:moveTo>
                  <a:pt x="0" y="0"/>
                </a:moveTo>
                <a:lnTo>
                  <a:pt x="43525" y="0"/>
                </a:lnTo>
              </a:path>
            </a:pathLst>
          </a:custGeom>
          <a:noFill/>
          <a:ln w="1079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784080" y="5577840"/>
            <a:ext cx="166420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5F1EBE"/>
                </a:solidFill>
                <a:latin typeface="Aptos"/>
              </a:rPr>
              <a:t>15+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784080" y="5943600"/>
            <a:ext cx="1664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Analyst briefings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planned, FY27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