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00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5EA7A6-9703-439D-9860-421146C0496A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63207D-A882-40A9-8398-32F59628DE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045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9384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7" Type="http://schemas.openxmlformats.org/officeDocument/2006/relationships/slideLayout" Target="../slideLayouts/slideLayout17.xml"/><Relationship Id="rId1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7C2F9B-1B75-1D6F-DECD-AA527616B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421200"/>
            <a:ext cx="10968598" cy="52322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9EB0A9-F700-84AF-0327-18A849481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5017" y="1812555"/>
            <a:ext cx="10946748" cy="41469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level: Subhead</a:t>
            </a:r>
          </a:p>
          <a:p>
            <a:pPr lvl="1"/>
            <a:r>
              <a:rPr lang="en-US"/>
              <a:t>Second level: Body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grpSp>
        <p:nvGrpSpPr>
          <p:cNvPr id="68" name="Columns Guides" hidden="1">
            <a:extLst>
              <a:ext uri="{FF2B5EF4-FFF2-40B4-BE49-F238E27FC236}">
                <a16:creationId xmlns:a16="http://schemas.microsoft.com/office/drawing/2014/main" id="{EFAC4366-2CF4-C5A9-31A8-6F9DECFE4E2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28651" y="-482750"/>
            <a:ext cx="10934825" cy="270781"/>
            <a:chOff x="628650" y="-708661"/>
            <a:chExt cx="10934825" cy="27078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C7F93F2-F654-4332-F215-0A3B672F9D7F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865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F056A12-0E3D-624F-504F-6DE97A67C97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255993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0B3FC0-A1BF-DD01-AC83-56CAA0EAB3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88333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DC71EE-0C0B-F54C-6A2D-EDCE55842B9B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251067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910EEB-33EE-2A8B-7882-314F27D7F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13802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4A08A2A-900E-CD04-5544-124CB7F0B3AA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76536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6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9FFA843-DF76-CE08-0766-D60499CC332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439270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7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3CBA17-0C95-42F3-A32C-8AFA9996B9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020051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8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F1624C-8BDC-798E-28B2-AA590ADC47E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647394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9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E6ACB19-6D3E-4F02-F268-97E802E82F44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74737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10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DE60CBC-8DDE-BC59-3E28-7D81EB036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90208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4382D73-6C2A-3D3F-14DA-9EC80E15604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7529423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12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4B3B06D-B96D-49CC-81E4-D15E316CB61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15676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13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E64E8E0-1325-6F0E-8900-F6E6306C6D4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78410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14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80BEEB7-FB77-E0B7-234E-F1C3D62D934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941145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15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E8BFEF6-B6D0-D3B6-938B-FEBFD244E001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03879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16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7113FA8-AE40-F16B-F5B6-020A3E94EC8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66613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17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8A9647F-C0C5-B3CF-7646-72E25BE02F6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1293475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18</a:t>
              </a:r>
            </a:p>
          </p:txBody>
        </p:sp>
      </p:grpSp>
      <p:sp>
        <p:nvSpPr>
          <p:cNvPr id="32" name="Slide Number Placeholder 1">
            <a:extLst>
              <a:ext uri="{FF2B5EF4-FFF2-40B4-BE49-F238E27FC236}">
                <a16:creationId xmlns:a16="http://schemas.microsoft.com/office/drawing/2014/main" id="{B62F0297-57AD-07EC-451E-0DBDD282712E}"/>
              </a:ext>
            </a:extLst>
          </p:cNvPr>
          <p:cNvSpPr txBox="1">
            <a:spLocks/>
          </p:cNvSpPr>
          <p:nvPr userDrawn="1"/>
        </p:nvSpPr>
        <p:spPr>
          <a:xfrm>
            <a:off x="410261" y="6465601"/>
            <a:ext cx="183187" cy="123111"/>
          </a:xfrm>
          <a:prstGeom prst="rect">
            <a:avLst/>
          </a:prstGeom>
        </p:spPr>
        <p:txBody>
          <a:bodyPr lIns="0" tIns="46788" rIns="0" anchor="ctr"/>
          <a:lstStyle>
            <a:defPPr>
              <a:defRPr lang="en-US"/>
            </a:defPPr>
            <a:lvl1pPr marL="0" algn="l" defTabSz="914400" rtl="0" eaLnBrk="1" latinLnBrk="0" hangingPunct="1">
              <a:spcBef>
                <a:spcPts val="1800"/>
              </a:spcBef>
              <a:spcAft>
                <a:spcPts val="900"/>
              </a:spcAft>
              <a:defRPr sz="2000" dirty="0">
                <a:latin typeface="+mj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1200"/>
              </a:spcAft>
              <a:defRPr sz="1600" dirty="0">
                <a:latin typeface="+mn-lt"/>
                <a:ea typeface="+mn-ea"/>
                <a:cs typeface="+mn-cs"/>
              </a:defRPr>
            </a:lvl2pPr>
            <a:lvl3pPr marL="180000" indent="-180000" algn="l" rtl="0" eaLnBrk="1" latinLnBrk="0" hangingPunct="1">
              <a:spcAft>
                <a:spcPts val="900"/>
              </a:spcAft>
              <a:buFont typeface="Aptos" panose="020B0504030202060203" pitchFamily="34" charset="0"/>
              <a:buChar char="•"/>
              <a:defRPr sz="1600" dirty="0"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–"/>
              <a:defRPr sz="1400" dirty="0">
                <a:latin typeface="+mn-lt"/>
                <a:ea typeface="+mn-ea"/>
                <a:cs typeface="+mn-cs"/>
              </a:defRPr>
            </a:lvl4pPr>
            <a:lvl5pPr marL="540000" indent="-1800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•"/>
              <a:defRPr sz="1400" dirty="0">
                <a:latin typeface="+mn-lt"/>
                <a:ea typeface="+mn-ea"/>
                <a:cs typeface="+mn-cs"/>
              </a:defRPr>
            </a:lvl5pPr>
            <a:lvl6pPr marL="540000" algn="l" defTabSz="914400" rtl="0" eaLnBrk="1" latinLnBrk="0" hangingPunct="1">
              <a:spcBef>
                <a:spcPts val="600"/>
              </a:spcBef>
              <a:spcAft>
                <a:spcPts val="600"/>
              </a:spcAft>
              <a:defRPr sz="1200" dirty="0">
                <a:latin typeface="+mn-lt"/>
                <a:ea typeface="+mn-ea"/>
                <a:cs typeface="+mn-cs"/>
              </a:defRPr>
            </a:lvl6pPr>
          </a:lstStyle>
          <a:p>
            <a:pPr algn="ctr"/>
            <a:fld id="{570547DA-62F2-46FF-A67E-24DBD4865419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pPr algn="ctr"/>
              <a:t>‹#›</a:t>
            </a:fld>
            <a:endParaRPr lang="en-US" sz="80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11579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7"/>
  </p:sldLayoutIdLst>
  <p:hf hdr="0" dt="0"/>
  <p:txStyles>
    <p:titleStyle>
      <a:lvl1pPr algn="l" defTabSz="914128" rtl="0" eaLnBrk="1" latinLnBrk="0" hangingPunct="1">
        <a:lnSpc>
          <a:spcPct val="85000"/>
        </a:lnSpc>
        <a:spcBef>
          <a:spcPct val="0"/>
        </a:spcBef>
        <a:buNone/>
        <a:defRPr sz="3999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128" rtl="0" eaLnBrk="1" latinLnBrk="0" hangingPunct="1">
        <a:lnSpc>
          <a:spcPct val="100000"/>
        </a:lnSpc>
        <a:spcBef>
          <a:spcPts val="1799"/>
        </a:spcBef>
        <a:spcAft>
          <a:spcPts val="900"/>
        </a:spcAft>
        <a:buFont typeface="Aptos" panose="020B0504030202060203" pitchFamily="34" charset="0"/>
        <a:buNone/>
        <a:defRPr sz="1999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128" rtl="0" eaLnBrk="1" latinLnBrk="0" hangingPunct="1">
        <a:lnSpc>
          <a:spcPct val="100000"/>
        </a:lnSpc>
        <a:spcBef>
          <a:spcPts val="0"/>
        </a:spcBef>
        <a:spcAft>
          <a:spcPts val="1399"/>
        </a:spcAft>
        <a:buFont typeface="Aptos" panose="020B0504030202060203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79946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Tx/>
        <a:buFont typeface="Aptos" panose="020B0504030202060203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359893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ptos" panose="020B0504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4pPr>
      <a:lvl5pPr marL="539839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ptos" panose="020B0504030202060203" pitchFamily="34" charset="0"/>
        <a:buChar char="•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539839" indent="0" algn="l" defTabSz="914128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ptos" panose="020B0504030202060203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917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80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45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8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92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6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2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8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9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13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8" pos="396">
          <p15:clr>
            <a:srgbClr val="5ACBF0"/>
          </p15:clr>
        </p15:guide>
        <p15:guide id="49" pos="565">
          <p15:clr>
            <a:srgbClr val="9FCC3B"/>
          </p15:clr>
        </p15:guide>
        <p15:guide id="50" pos="792">
          <p15:clr>
            <a:srgbClr val="A4A3A4"/>
          </p15:clr>
        </p15:guide>
        <p15:guide id="51" pos="960">
          <p15:clr>
            <a:srgbClr val="A4A3A4"/>
          </p15:clr>
        </p15:guide>
        <p15:guide id="52" pos="1187">
          <p15:clr>
            <a:srgbClr val="A4A3A4"/>
          </p15:clr>
        </p15:guide>
        <p15:guide id="53" pos="1355">
          <p15:clr>
            <a:srgbClr val="A4A3A4"/>
          </p15:clr>
        </p15:guide>
        <p15:guide id="54" pos="1582">
          <p15:clr>
            <a:srgbClr val="A4A3A4"/>
          </p15:clr>
        </p15:guide>
        <p15:guide id="55" pos="1750">
          <p15:clr>
            <a:srgbClr val="A4A3A4"/>
          </p15:clr>
        </p15:guide>
        <p15:guide id="56" pos="1977">
          <p15:clr>
            <a:srgbClr val="A4A3A4"/>
          </p15:clr>
        </p15:guide>
        <p15:guide id="57" pos="2145">
          <p15:clr>
            <a:srgbClr val="A4A3A4"/>
          </p15:clr>
        </p15:guide>
        <p15:guide id="58" pos="2372">
          <p15:clr>
            <a:srgbClr val="A4A3A4"/>
          </p15:clr>
        </p15:guide>
        <p15:guide id="59" pos="2541">
          <p15:clr>
            <a:srgbClr val="A4A3A4"/>
          </p15:clr>
        </p15:guide>
        <p15:guide id="60" pos="2767">
          <p15:clr>
            <a:srgbClr val="A4A3A4"/>
          </p15:clr>
        </p15:guide>
        <p15:guide id="61" pos="2936">
          <p15:clr>
            <a:srgbClr val="A4A3A4"/>
          </p15:clr>
        </p15:guide>
        <p15:guide id="62" pos="3163">
          <p15:clr>
            <a:srgbClr val="A4A3A4"/>
          </p15:clr>
        </p15:guide>
        <p15:guide id="63" pos="3331">
          <p15:clr>
            <a:srgbClr val="A4A3A4"/>
          </p15:clr>
        </p15:guide>
        <p15:guide id="64" pos="3558">
          <p15:clr>
            <a:srgbClr val="A4A3A4"/>
          </p15:clr>
        </p15:guide>
        <p15:guide id="65" pos="3726">
          <p15:clr>
            <a:srgbClr val="A4A3A4"/>
          </p15:clr>
        </p15:guide>
        <p15:guide id="66" pos="3953">
          <p15:clr>
            <a:srgbClr val="A4A3A4"/>
          </p15:clr>
        </p15:guide>
        <p15:guide id="67" pos="4121">
          <p15:clr>
            <a:srgbClr val="A4A3A4"/>
          </p15:clr>
        </p15:guide>
        <p15:guide id="68" pos="4348">
          <p15:clr>
            <a:srgbClr val="A4A3A4"/>
          </p15:clr>
        </p15:guide>
        <p15:guide id="69" pos="4516">
          <p15:clr>
            <a:srgbClr val="A4A3A4"/>
          </p15:clr>
        </p15:guide>
        <p15:guide id="70" pos="4743">
          <p15:clr>
            <a:srgbClr val="A4A3A4"/>
          </p15:clr>
        </p15:guide>
        <p15:guide id="71" pos="4912">
          <p15:clr>
            <a:srgbClr val="A4A3A4"/>
          </p15:clr>
        </p15:guide>
        <p15:guide id="72" pos="5138">
          <p15:clr>
            <a:srgbClr val="A4A3A4"/>
          </p15:clr>
        </p15:guide>
        <p15:guide id="73" pos="5307">
          <p15:clr>
            <a:srgbClr val="A4A3A4"/>
          </p15:clr>
        </p15:guide>
        <p15:guide id="74" pos="5534">
          <p15:clr>
            <a:srgbClr val="A4A3A4"/>
          </p15:clr>
        </p15:guide>
        <p15:guide id="75" pos="5702">
          <p15:clr>
            <a:srgbClr val="A4A3A4"/>
          </p15:clr>
        </p15:guide>
        <p15:guide id="76" pos="5929">
          <p15:clr>
            <a:srgbClr val="A4A3A4"/>
          </p15:clr>
        </p15:guide>
        <p15:guide id="77" pos="6097">
          <p15:clr>
            <a:srgbClr val="A4A3A4"/>
          </p15:clr>
        </p15:guide>
        <p15:guide id="78" pos="6324">
          <p15:clr>
            <a:srgbClr val="A4A3A4"/>
          </p15:clr>
        </p15:guide>
        <p15:guide id="79" pos="6492">
          <p15:clr>
            <a:srgbClr val="A4A3A4"/>
          </p15:clr>
        </p15:guide>
        <p15:guide id="80" pos="6719">
          <p15:clr>
            <a:srgbClr val="A4A3A4"/>
          </p15:clr>
        </p15:guide>
        <p15:guide id="81" pos="6887">
          <p15:clr>
            <a:srgbClr val="A4A3A4"/>
          </p15:clr>
        </p15:guide>
        <p15:guide id="82" pos="7114">
          <p15:clr>
            <a:srgbClr val="9FCC3B"/>
          </p15:clr>
        </p15:guide>
        <p15:guide id="83" pos="7283">
          <p15:clr>
            <a:srgbClr val="5ACBF0"/>
          </p15:clr>
        </p15:guide>
        <p15:guide id="84" orient="horz" pos="567">
          <p15:clr>
            <a:srgbClr val="9FCC3B"/>
          </p15:clr>
        </p15:guide>
        <p15:guide id="85" orient="horz" pos="4134">
          <p15:clr>
            <a:srgbClr val="F26B43"/>
          </p15:clr>
        </p15:guide>
        <p15:guide id="86" orient="horz" pos="283">
          <p15:clr>
            <a:srgbClr val="5ACBF0"/>
          </p15:clr>
        </p15:guide>
        <p15:guide id="87" orient="horz" pos="3754">
          <p15:clr>
            <a:srgbClr val="9FCC3B"/>
          </p15:clr>
        </p15:guide>
        <p15:guide id="88" orient="horz" pos="1178">
          <p15:clr>
            <a:srgbClr val="A4A3A4"/>
          </p15:clr>
        </p15:guide>
        <p15:guide id="89" orient="horz" pos="3491">
          <p15:clr>
            <a:srgbClr val="A4A3A4"/>
          </p15:clr>
        </p15:guide>
        <p15:guide id="90" orient="horz" pos="1076">
          <p15:clr>
            <a:srgbClr val="A4A3A4"/>
          </p15:clr>
        </p15:guide>
        <p15:guide id="91" orient="horz" pos="394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10002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Aptos"/>
              </a:rPr>
              <a:t>Re-energizing our GTM — </a:t>
            </a:r>
            <a:r>
              <a:rPr sz="2800" b="1">
                <a:solidFill>
                  <a:srgbClr val="5F1EBE"/>
                </a:solidFill>
                <a:latin typeface="Aptos"/>
              </a:rPr>
              <a:t>three plays, one motion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42415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291A0"/>
                </a:solidFill>
                <a:latin typeface="Aptos"/>
              </a:rPr>
              <a:t>Vertical sales embedded, DBS and DPO on one story, partners co-creating — early proof already 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26464"/>
            <a:ext cx="352044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1645920"/>
            <a:ext cx="530352" cy="365760"/>
          </a:xfrm>
          <a:prstGeom prst="roundRect">
            <a:avLst>
              <a:gd name="adj" fmla="val 18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591056"/>
            <a:ext cx="240487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411482"/>
                </a:solidFill>
                <a:latin typeface="Aptos"/>
              </a:rPr>
              <a:t>Embedded with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411482"/>
                </a:solidFill>
                <a:latin typeface="Aptos"/>
              </a:rPr>
              <a:t>Vertical Sales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157984"/>
            <a:ext cx="30449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8291A0"/>
                </a:solidFill>
                <a:latin typeface="Aptos"/>
              </a:rPr>
              <a:t>Deepen vertical alignment and activate BPO platform conversations at scale.</a:t>
            </a:r>
          </a:p>
        </p:txBody>
      </p:sp>
      <p:sp>
        <p:nvSpPr>
          <p:cNvPr id="8" name="Oval 7"/>
          <p:cNvSpPr/>
          <p:nvPr/>
        </p:nvSpPr>
        <p:spPr>
          <a:xfrm>
            <a:off x="1257300" y="2679191"/>
            <a:ext cx="2194560" cy="1060704"/>
          </a:xfrm>
          <a:prstGeom prst="ellipse">
            <a:avLst/>
          </a:prstGeom>
          <a:noFill/>
          <a:ln w="9525">
            <a:solidFill>
              <a:srgbClr val="C8D2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52244" y="2807208"/>
            <a:ext cx="804672" cy="804672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4112" y="3074212"/>
            <a:ext cx="109728" cy="10972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2255824" y="3187598"/>
            <a:ext cx="146304" cy="160934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72868" y="3074212"/>
            <a:ext cx="109728" cy="10972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2354580" y="3187598"/>
            <a:ext cx="146304" cy="160934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6716" y="2651760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48156" y="2743200"/>
            <a:ext cx="201168" cy="201168"/>
          </a:xfrm>
          <a:prstGeom prst="ellipse">
            <a:avLst/>
          </a:prstGeom>
          <a:noFill/>
          <a:ln w="12700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93418" y="2788462"/>
            <a:ext cx="110642" cy="110642"/>
          </a:xfrm>
          <a:prstGeom prst="ellipse">
            <a:avLst/>
          </a:prstGeom>
          <a:noFill/>
          <a:ln w="12700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30634" y="2825678"/>
            <a:ext cx="36210" cy="36210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168396" y="2651760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98057" y="2757281"/>
            <a:ext cx="124724" cy="173004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326221" y="2795503"/>
            <a:ext cx="68397" cy="0"/>
          </a:xfrm>
          <a:custGeom>
            <a:avLst/>
            <a:gdLst/>
            <a:ahLst/>
            <a:cxnLst/>
            <a:rect l="l" t="t" r="r" b="b"/>
            <a:pathLst>
              <a:path w="68397" h="0">
                <a:moveTo>
                  <a:pt x="0" y="0"/>
                </a:moveTo>
                <a:lnTo>
                  <a:pt x="68397" y="0"/>
                </a:lnTo>
              </a:path>
            </a:pathLst>
          </a:custGeom>
          <a:noFill/>
          <a:ln w="10795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326221" y="2837748"/>
            <a:ext cx="68397" cy="0"/>
          </a:xfrm>
          <a:custGeom>
            <a:avLst/>
            <a:gdLst/>
            <a:ahLst/>
            <a:cxnLst/>
            <a:rect l="l" t="t" r="r" b="b"/>
            <a:pathLst>
              <a:path w="68397" h="0">
                <a:moveTo>
                  <a:pt x="0" y="0"/>
                </a:moveTo>
                <a:lnTo>
                  <a:pt x="68397" y="0"/>
                </a:lnTo>
              </a:path>
            </a:pathLst>
          </a:custGeom>
          <a:noFill/>
          <a:ln w="10795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326221" y="2879994"/>
            <a:ext cx="68397" cy="0"/>
          </a:xfrm>
          <a:custGeom>
            <a:avLst/>
            <a:gdLst/>
            <a:ahLst/>
            <a:cxnLst/>
            <a:rect l="l" t="t" r="r" b="b"/>
            <a:pathLst>
              <a:path w="68397" h="0">
                <a:moveTo>
                  <a:pt x="0" y="0"/>
                </a:moveTo>
                <a:lnTo>
                  <a:pt x="68397" y="0"/>
                </a:lnTo>
              </a:path>
            </a:pathLst>
          </a:custGeom>
          <a:noFill/>
          <a:ln w="10795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56716" y="3383279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328623" y="3500871"/>
            <a:ext cx="40233" cy="40233"/>
          </a:xfrm>
          <a:prstGeom prst="roundRect">
            <a:avLst>
              <a:gd name="adj" fmla="val 25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84366" y="3603467"/>
            <a:ext cx="32186" cy="32186"/>
          </a:xfrm>
          <a:prstGeom prst="roundRect">
            <a:avLst>
              <a:gd name="adj" fmla="val 25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332646" y="3603467"/>
            <a:ext cx="32186" cy="32186"/>
          </a:xfrm>
          <a:prstGeom prst="roundRect">
            <a:avLst>
              <a:gd name="adj" fmla="val 25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380926" y="3603467"/>
            <a:ext cx="32186" cy="32186"/>
          </a:xfrm>
          <a:prstGeom prst="roundRect">
            <a:avLst>
              <a:gd name="adj" fmla="val 25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300459" y="3583350"/>
            <a:ext cx="96561" cy="0"/>
          </a:xfrm>
          <a:custGeom>
            <a:avLst/>
            <a:gdLst/>
            <a:ahLst/>
            <a:cxnLst/>
            <a:rect l="l" t="t" r="r" b="b"/>
            <a:pathLst>
              <a:path w="96561" h="0">
                <a:moveTo>
                  <a:pt x="0" y="0"/>
                </a:moveTo>
                <a:lnTo>
                  <a:pt x="96561" y="0"/>
                </a:lnTo>
              </a:path>
            </a:pathLst>
          </a:custGeom>
          <a:noFill/>
          <a:ln w="10795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168396" y="3383279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90011" y="3569268"/>
            <a:ext cx="36210" cy="68397"/>
          </a:xfrm>
          <a:prstGeom prst="roundRect">
            <a:avLst>
              <a:gd name="adj" fmla="val 3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44326" y="3520988"/>
            <a:ext cx="36210" cy="116677"/>
          </a:xfrm>
          <a:prstGeom prst="roundRect">
            <a:avLst>
              <a:gd name="adj" fmla="val 3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398641" y="3468684"/>
            <a:ext cx="36210" cy="168981"/>
          </a:xfrm>
          <a:prstGeom prst="roundRect">
            <a:avLst>
              <a:gd name="adj" fmla="val 3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832104" y="3950208"/>
            <a:ext cx="3044952" cy="0"/>
          </a:xfrm>
          <a:custGeom>
            <a:avLst/>
            <a:gdLst/>
            <a:ahLst/>
            <a:cxnLst/>
            <a:rect l="l" t="t" r="r" b="b"/>
            <a:pathLst>
              <a:path w="3044952" h="0">
                <a:moveTo>
                  <a:pt x="0" y="0"/>
                </a:moveTo>
                <a:lnTo>
                  <a:pt x="3044952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" y="4059935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411482"/>
                </a:solidFill>
                <a:latin typeface="Aptos"/>
              </a:rPr>
              <a:t>HIGHLIGHTS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" y="4425696"/>
            <a:ext cx="82296" cy="82296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33425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411482"/>
                </a:solidFill>
                <a:latin typeface="Aptos"/>
              </a:rPr>
              <a:t>1st</a:t>
            </a:r>
            <a:r>
              <a:rPr sz="950" b="0">
                <a:solidFill>
                  <a:srgbClr val="000000"/>
                </a:solidFill>
                <a:latin typeface="Aptos"/>
              </a:rPr>
              <a:t> Advisor Day completed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" y="4791456"/>
            <a:ext cx="82296" cy="82296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470001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411482"/>
                </a:solidFill>
                <a:latin typeface="Aptos"/>
              </a:rPr>
              <a:t>26+</a:t>
            </a:r>
            <a:r>
              <a:rPr sz="950" b="0">
                <a:solidFill>
                  <a:srgbClr val="000000"/>
                </a:solidFill>
                <a:latin typeface="Aptos"/>
              </a:rPr>
              <a:t> advisors engaged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" y="5157216"/>
            <a:ext cx="82296" cy="82296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06577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411482"/>
                </a:solidFill>
                <a:latin typeface="Aptos"/>
              </a:rPr>
              <a:t>89%</a:t>
            </a:r>
            <a:r>
              <a:rPr sz="950" b="0">
                <a:solidFill>
                  <a:srgbClr val="000000"/>
                </a:solidFill>
                <a:latin typeface="Aptos"/>
              </a:rPr>
              <a:t> willing to take AFP to market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" y="5522976"/>
            <a:ext cx="82296" cy="82296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43153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411482"/>
                </a:solidFill>
                <a:latin typeface="Aptos"/>
              </a:rPr>
              <a:t>14</a:t>
            </a:r>
            <a:r>
              <a:rPr sz="950" b="0">
                <a:solidFill>
                  <a:srgbClr val="000000"/>
                </a:solidFill>
                <a:latin typeface="Aptos"/>
              </a:rPr>
              <a:t> successful interactions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852159"/>
            <a:ext cx="28254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291A0"/>
                </a:solidFill>
                <a:latin typeface="Aptos"/>
              </a:rPr>
              <a:t>KPMG advisors, Growth Market (AUS)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34256" y="1426464"/>
            <a:ext cx="352044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572000" y="1645920"/>
            <a:ext cx="530352" cy="365760"/>
          </a:xfrm>
          <a:prstGeom prst="roundRect">
            <a:avLst>
              <a:gd name="adj" fmla="val 18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1591056"/>
            <a:ext cx="240487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5F1EBE"/>
                </a:solidFill>
                <a:latin typeface="Aptos"/>
              </a:rPr>
              <a:t>One story —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5F1EBE"/>
                </a:solidFill>
                <a:latin typeface="Aptos"/>
              </a:rPr>
              <a:t>DBS + DPO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2157984"/>
            <a:ext cx="30449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8291A0"/>
                </a:solidFill>
                <a:latin typeface="Aptos"/>
              </a:rPr>
              <a:t>One integrated narrative that delivers greater value together.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32604" y="2752344"/>
            <a:ext cx="914400" cy="914400"/>
          </a:xfrm>
          <a:prstGeom prst="roundRect">
            <a:avLst>
              <a:gd name="adj" fmla="val 12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187391" y="2943270"/>
            <a:ext cx="204825" cy="87782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187391" y="3036905"/>
            <a:ext cx="204825" cy="87782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187391" y="3130539"/>
            <a:ext cx="204825" cy="87782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32604" y="330098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DBS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41948" y="2752344"/>
            <a:ext cx="914400" cy="914400"/>
          </a:xfrm>
          <a:prstGeom prst="roundRect">
            <a:avLst>
              <a:gd name="adj" fmla="val 12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Gear 6 53"/>
          <p:cNvSpPr/>
          <p:nvPr/>
        </p:nvSpPr>
        <p:spPr>
          <a:xfrm>
            <a:off x="6773326" y="2937418"/>
            <a:ext cx="251642" cy="251642"/>
          </a:xfrm>
          <a:prstGeom prst="gear6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864035" y="3028127"/>
            <a:ext cx="70225" cy="70225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41948" y="330098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DPO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4708" y="2779776"/>
            <a:ext cx="859536" cy="85953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1">
                <a:solidFill>
                  <a:srgbClr val="5F1EBE"/>
                </a:solidFill>
                <a:latin typeface="Aptos"/>
              </a:rPr>
              <a:t>Stronger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1">
                <a:solidFill>
                  <a:srgbClr val="5F1EBE"/>
                </a:solidFill>
                <a:latin typeface="Aptos"/>
              </a:rPr>
              <a:t>Customer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1">
                <a:solidFill>
                  <a:srgbClr val="5F1EBE"/>
                </a:solidFill>
                <a:latin typeface="Aptos"/>
              </a:rPr>
              <a:t>Value</a:t>
            </a:r>
          </a:p>
        </p:txBody>
      </p:sp>
      <p:sp>
        <p:nvSpPr>
          <p:cNvPr id="58" name="Freeform 57"/>
          <p:cNvSpPr/>
          <p:nvPr/>
        </p:nvSpPr>
        <p:spPr>
          <a:xfrm>
            <a:off x="4572000" y="3950208"/>
            <a:ext cx="3044952" cy="0"/>
          </a:xfrm>
          <a:custGeom>
            <a:avLst/>
            <a:gdLst/>
            <a:ahLst/>
            <a:cxnLst/>
            <a:rect l="l" t="t" r="r" b="b"/>
            <a:pathLst>
              <a:path w="3044952" h="0">
                <a:moveTo>
                  <a:pt x="0" y="0"/>
                </a:moveTo>
                <a:lnTo>
                  <a:pt x="3044952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0" y="4059935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F1EBE"/>
                </a:solidFill>
                <a:latin typeface="Aptos"/>
              </a:rPr>
              <a:t>HIGHLIGHTS</a:t>
            </a:r>
          </a:p>
        </p:txBody>
      </p:sp>
      <p:sp>
        <p:nvSpPr>
          <p:cNvPr id="60" name="Oval 59"/>
          <p:cNvSpPr/>
          <p:nvPr/>
        </p:nvSpPr>
        <p:spPr>
          <a:xfrm>
            <a:off x="4590288" y="4425696"/>
            <a:ext cx="82296" cy="8229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91456" y="433425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5+</a:t>
            </a:r>
            <a:r>
              <a:rPr sz="950" b="0">
                <a:solidFill>
                  <a:srgbClr val="000000"/>
                </a:solidFill>
                <a:latin typeface="Aptos"/>
              </a:rPr>
              <a:t> CFO roundtables planned, FY27</a:t>
            </a:r>
          </a:p>
        </p:txBody>
      </p:sp>
      <p:sp>
        <p:nvSpPr>
          <p:cNvPr id="62" name="Oval 61"/>
          <p:cNvSpPr/>
          <p:nvPr/>
        </p:nvSpPr>
        <p:spPr>
          <a:xfrm>
            <a:off x="4590288" y="4791456"/>
            <a:ext cx="82296" cy="8229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91456" y="470001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15+</a:t>
            </a:r>
            <a:r>
              <a:rPr sz="950" b="0">
                <a:solidFill>
                  <a:srgbClr val="000000"/>
                </a:solidFill>
                <a:latin typeface="Aptos"/>
              </a:rPr>
              <a:t> analyst briefings planned, FY27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074152" y="1426464"/>
            <a:ext cx="352044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311896" y="1645920"/>
            <a:ext cx="530352" cy="365760"/>
          </a:xfrm>
          <a:prstGeom prst="roundRect">
            <a:avLst>
              <a:gd name="adj" fmla="val 18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51976" y="1591056"/>
            <a:ext cx="240487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0F5FDC"/>
                </a:solidFill>
                <a:latin typeface="Aptos"/>
              </a:rPr>
              <a:t>Co-created by the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0F5FDC"/>
                </a:solidFill>
                <a:latin typeface="Aptos"/>
              </a:rPr>
              <a:t>Partner ecosystem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11896" y="2157984"/>
            <a:ext cx="30449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8291A0"/>
                </a:solidFill>
                <a:latin typeface="Aptos"/>
              </a:rPr>
              <a:t>Leverage hyperscalers and partners to build, innovate and scale together.</a:t>
            </a:r>
          </a:p>
        </p:txBody>
      </p:sp>
      <p:sp>
        <p:nvSpPr>
          <p:cNvPr id="68" name="Oval 67"/>
          <p:cNvSpPr/>
          <p:nvPr/>
        </p:nvSpPr>
        <p:spPr>
          <a:xfrm>
            <a:off x="9468612" y="2843784"/>
            <a:ext cx="731520" cy="731520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801453" y="3087745"/>
            <a:ext cx="65836" cy="6583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729033" y="3255629"/>
            <a:ext cx="52669" cy="5266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808037" y="3255629"/>
            <a:ext cx="52669" cy="5266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887041" y="3255629"/>
            <a:ext cx="52669" cy="5266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9755367" y="3222711"/>
            <a:ext cx="158009" cy="0"/>
          </a:xfrm>
          <a:custGeom>
            <a:avLst/>
            <a:gdLst/>
            <a:ahLst/>
            <a:cxnLst/>
            <a:rect l="l" t="t" r="r" b="b"/>
            <a:pathLst>
              <a:path w="158009" h="0">
                <a:moveTo>
                  <a:pt x="0" y="0"/>
                </a:moveTo>
                <a:lnTo>
                  <a:pt x="158009" y="0"/>
                </a:lnTo>
              </a:path>
            </a:pathLst>
          </a:custGeom>
          <a:noFill/>
          <a:ln w="1079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9340596" y="2843784"/>
            <a:ext cx="182880" cy="201167"/>
          </a:xfrm>
          <a:custGeom>
            <a:avLst/>
            <a:gdLst/>
            <a:ahLst/>
            <a:cxnLst/>
            <a:rect l="l" t="t" r="r" b="b"/>
            <a:pathLst>
              <a:path w="182880" h="201167">
                <a:moveTo>
                  <a:pt x="0" y="0"/>
                </a:moveTo>
                <a:lnTo>
                  <a:pt x="182880" y="201167"/>
                </a:lnTo>
              </a:path>
            </a:pathLst>
          </a:custGeom>
          <a:noFill/>
          <a:ln w="9525">
            <a:solidFill>
              <a:srgbClr val="C8D2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316468" y="2697479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0F5FDC"/>
                </a:solidFill>
                <a:latin typeface="Aptos"/>
              </a:rPr>
              <a:t>Hyperscalers</a:t>
            </a:r>
          </a:p>
        </p:txBody>
      </p:sp>
      <p:sp>
        <p:nvSpPr>
          <p:cNvPr id="76" name="Freeform 75"/>
          <p:cNvSpPr/>
          <p:nvPr/>
        </p:nvSpPr>
        <p:spPr>
          <a:xfrm>
            <a:off x="10145268" y="2843784"/>
            <a:ext cx="182880" cy="201167"/>
          </a:xfrm>
          <a:custGeom>
            <a:avLst/>
            <a:gdLst/>
            <a:ahLst/>
            <a:cxnLst/>
            <a:rect l="l" t="t" r="r" b="b"/>
            <a:pathLst>
              <a:path w="182880" h="201167">
                <a:moveTo>
                  <a:pt x="182880" y="0"/>
                </a:moveTo>
                <a:lnTo>
                  <a:pt x="0" y="201167"/>
                </a:lnTo>
              </a:path>
            </a:pathLst>
          </a:custGeom>
          <a:noFill/>
          <a:ln w="9525">
            <a:solidFill>
              <a:srgbClr val="C8D2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0328148" y="2697479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0F5FDC"/>
                </a:solidFill>
                <a:latin typeface="Aptos"/>
              </a:rPr>
              <a:t>MS &amp; AWS</a:t>
            </a:r>
          </a:p>
        </p:txBody>
      </p:sp>
      <p:sp>
        <p:nvSpPr>
          <p:cNvPr id="78" name="Freeform 77"/>
          <p:cNvSpPr/>
          <p:nvPr/>
        </p:nvSpPr>
        <p:spPr>
          <a:xfrm>
            <a:off x="9340596" y="3374136"/>
            <a:ext cx="182880" cy="201167"/>
          </a:xfrm>
          <a:custGeom>
            <a:avLst/>
            <a:gdLst/>
            <a:ahLst/>
            <a:cxnLst/>
            <a:rect l="l" t="t" r="r" b="b"/>
            <a:pathLst>
              <a:path w="182880" h="201167">
                <a:moveTo>
                  <a:pt x="0" y="201167"/>
                </a:moveTo>
                <a:lnTo>
                  <a:pt x="182880" y="0"/>
                </a:lnTo>
              </a:path>
            </a:pathLst>
          </a:custGeom>
          <a:noFill/>
          <a:ln w="9525">
            <a:solidFill>
              <a:srgbClr val="C8D2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316468" y="3428999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0F5FDC"/>
                </a:solidFill>
                <a:latin typeface="Aptos"/>
              </a:rPr>
              <a:t>Startup Play</a:t>
            </a:r>
          </a:p>
        </p:txBody>
      </p:sp>
      <p:sp>
        <p:nvSpPr>
          <p:cNvPr id="80" name="Freeform 79"/>
          <p:cNvSpPr/>
          <p:nvPr/>
        </p:nvSpPr>
        <p:spPr>
          <a:xfrm>
            <a:off x="10145268" y="3374136"/>
            <a:ext cx="182880" cy="201167"/>
          </a:xfrm>
          <a:custGeom>
            <a:avLst/>
            <a:gdLst/>
            <a:ahLst/>
            <a:cxnLst/>
            <a:rect l="l" t="t" r="r" b="b"/>
            <a:pathLst>
              <a:path w="182880" h="201167">
                <a:moveTo>
                  <a:pt x="182880" y="201167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C8D2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328148" y="3428999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0F5FDC"/>
                </a:solidFill>
                <a:latin typeface="Aptos"/>
              </a:rPr>
              <a:t>GTM Momentum</a:t>
            </a:r>
          </a:p>
        </p:txBody>
      </p:sp>
      <p:sp>
        <p:nvSpPr>
          <p:cNvPr id="82" name="Freeform 81"/>
          <p:cNvSpPr/>
          <p:nvPr/>
        </p:nvSpPr>
        <p:spPr>
          <a:xfrm>
            <a:off x="8311896" y="3950208"/>
            <a:ext cx="3044952" cy="0"/>
          </a:xfrm>
          <a:custGeom>
            <a:avLst/>
            <a:gdLst/>
            <a:ahLst/>
            <a:cxnLst/>
            <a:rect l="l" t="t" r="r" b="b"/>
            <a:pathLst>
              <a:path w="3044952" h="0">
                <a:moveTo>
                  <a:pt x="0" y="0"/>
                </a:moveTo>
                <a:lnTo>
                  <a:pt x="3044952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11896" y="4059935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F5FDC"/>
                </a:solidFill>
                <a:latin typeface="Aptos"/>
              </a:rPr>
              <a:t>HIGHLIGHTS</a:t>
            </a:r>
          </a:p>
        </p:txBody>
      </p:sp>
      <p:sp>
        <p:nvSpPr>
          <p:cNvPr id="84" name="Oval 83"/>
          <p:cNvSpPr/>
          <p:nvPr/>
        </p:nvSpPr>
        <p:spPr>
          <a:xfrm>
            <a:off x="8330183" y="4425696"/>
            <a:ext cx="82296" cy="82296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31352" y="433425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F5FDC"/>
                </a:solidFill>
                <a:latin typeface="Aptos"/>
              </a:rPr>
              <a:t>96</a:t>
            </a:r>
            <a:r>
              <a:rPr sz="950" b="0">
                <a:solidFill>
                  <a:srgbClr val="000000"/>
                </a:solidFill>
                <a:latin typeface="Aptos"/>
              </a:rPr>
              <a:t> media reactions — Autonomous Finance Platform with Google</a:t>
            </a:r>
          </a:p>
        </p:txBody>
      </p:sp>
      <p:sp>
        <p:nvSpPr>
          <p:cNvPr id="86" name="Oval 85"/>
          <p:cNvSpPr/>
          <p:nvPr/>
        </p:nvSpPr>
        <p:spPr>
          <a:xfrm>
            <a:off x="8330183" y="4791456"/>
            <a:ext cx="82296" cy="82296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31352" y="470001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F5FDC"/>
                </a:solidFill>
                <a:latin typeface="Aptos"/>
              </a:rPr>
              <a:t>Krisp.ai</a:t>
            </a:r>
            <a:r>
              <a:rPr sz="950" b="0">
                <a:solidFill>
                  <a:srgbClr val="000000"/>
                </a:solidFill>
                <a:latin typeface="Aptos"/>
              </a:rPr>
              <a:t> — real-time voice translation</a:t>
            </a:r>
          </a:p>
        </p:txBody>
      </p:sp>
      <p:sp>
        <p:nvSpPr>
          <p:cNvPr id="88" name="Oval 87"/>
          <p:cNvSpPr/>
          <p:nvPr/>
        </p:nvSpPr>
        <p:spPr>
          <a:xfrm>
            <a:off x="8330183" y="5157216"/>
            <a:ext cx="82296" cy="82296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531352" y="506577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F5FDC"/>
                </a:solidFill>
                <a:latin typeface="Aptos"/>
              </a:rPr>
              <a:t>Stutt.ai</a:t>
            </a:r>
            <a:r>
              <a:rPr sz="950" b="0">
                <a:solidFill>
                  <a:srgbClr val="000000"/>
                </a:solidFill>
                <a:latin typeface="Aptos"/>
              </a:rPr>
              <a:t> — automated collections</a:t>
            </a:r>
          </a:p>
        </p:txBody>
      </p:sp>
      <p:sp>
        <p:nvSpPr>
          <p:cNvPr id="90" name="Freeform 89"/>
          <p:cNvSpPr/>
          <p:nvPr/>
        </p:nvSpPr>
        <p:spPr>
          <a:xfrm>
            <a:off x="1463040" y="6391656"/>
            <a:ext cx="2788920" cy="0"/>
          </a:xfrm>
          <a:custGeom>
            <a:avLst/>
            <a:gdLst/>
            <a:ahLst/>
            <a:cxnLst/>
            <a:rect l="l" t="t" r="r" b="b"/>
            <a:pathLst>
              <a:path w="2788920" h="0">
                <a:moveTo>
                  <a:pt x="0" y="0"/>
                </a:moveTo>
                <a:lnTo>
                  <a:pt x="2788920" y="0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7955279" y="6391656"/>
            <a:ext cx="2788921" cy="0"/>
          </a:xfrm>
          <a:custGeom>
            <a:avLst/>
            <a:gdLst/>
            <a:ahLst/>
            <a:cxnLst/>
            <a:rect l="l" t="t" r="r" b="b"/>
            <a:pathLst>
              <a:path w="2788921" h="0">
                <a:moveTo>
                  <a:pt x="0" y="0"/>
                </a:moveTo>
                <a:lnTo>
                  <a:pt x="2788921" y="0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94360" y="6272784"/>
            <a:ext cx="11000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411482"/>
                </a:solidFill>
                <a:latin typeface="Aptos"/>
              </a:rPr>
              <a:t>Aligned. Integrated. Innovative. Impactful.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CLTech Theme 4.1">
  <a:themeElements>
    <a:clrScheme name="HCLTech">
      <a:dk1>
        <a:srgbClr val="000000"/>
      </a:dk1>
      <a:lt1>
        <a:srgbClr val="FFFFFF"/>
      </a:lt1>
      <a:dk2>
        <a:srgbClr val="5F1EBE"/>
      </a:dk2>
      <a:lt2>
        <a:srgbClr val="411482"/>
      </a:lt2>
      <a:accent1>
        <a:srgbClr val="8C69F0"/>
      </a:accent1>
      <a:accent2>
        <a:srgbClr val="B9C8FF"/>
      </a:accent2>
      <a:accent3>
        <a:srgbClr val="0F5FDC"/>
      </a:accent3>
      <a:accent4>
        <a:srgbClr val="3C91FF"/>
      </a:accent4>
      <a:accent5>
        <a:srgbClr val="8CC8FA"/>
      </a:accent5>
      <a:accent6>
        <a:srgbClr val="DCE6F0"/>
      </a:accent6>
      <a:hlink>
        <a:srgbClr val="0F5FDC"/>
      </a:hlink>
      <a:folHlink>
        <a:srgbClr val="292929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6EBF5"/>
        </a:solidFill>
        <a:ln>
          <a:noFill/>
        </a:ln>
      </a:spPr>
      <a:bodyPr lIns="288000" tIns="252000" rIns="288000" bIns="288000" rtlCol="0" anchor="t" anchorCtr="0"/>
      <a:lstStyle>
        <a:defPPr algn="l">
          <a:defRPr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C8D2DD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Dark Teal">
      <a:srgbClr val="007873"/>
    </a:custClr>
    <a:custClr name="Teal">
      <a:srgbClr val="4BC3AF"/>
    </a:custClr>
    <a:custClr name="Teal 80% Tint">
      <a:srgbClr val="6FCFBF"/>
    </a:custClr>
    <a:custClr name="Light Teal">
      <a:srgbClr val="A5E6DC"/>
    </a:custClr>
    <a:custClr name="Dark green">
      <a:srgbClr val="0FA069"/>
    </a:custClr>
    <a:custClr name="Green">
      <a:srgbClr val="82DC73"/>
    </a:custClr>
    <a:custClr name="Green 80% Tint">
      <a:srgbClr val="9BE38F"/>
    </a:custClr>
    <a:custClr name="Light Green">
      <a:srgbClr val="BEEBB4"/>
    </a:custClr>
    <a:custClr name="Dark Yellow">
      <a:srgbClr val="C8870A"/>
    </a:custClr>
    <a:custClr name="Yellow">
      <a:srgbClr val="FFCD41"/>
    </a:custClr>
    <a:custClr name="Yellow 80% Tint">
      <a:srgbClr val="FFD767"/>
    </a:custClr>
    <a:custClr name="Light Yellow">
      <a:srgbClr val="FFECC7"/>
    </a:custClr>
    <a:custClr name="Dark Coral">
      <a:srgbClr val="C3325F"/>
    </a:custClr>
    <a:custClr name="Coral">
      <a:srgbClr val="FF789B"/>
    </a:custClr>
    <a:custClr name="Coral 80% Tint">
      <a:srgbClr val="FF93AF"/>
    </a:custClr>
    <a:custClr name="Light Coral">
      <a:srgbClr val="FFBED7"/>
    </a:custClr>
    <a:custClr name="Bronze">
      <a:srgbClr val="D7BEB4"/>
    </a:custClr>
    <a:custClr name="Cream">
      <a:srgbClr val="FAF0E6"/>
    </a:custClr>
    <a:custClr name="Grey 1">
      <a:srgbClr val="8291A0"/>
    </a:custClr>
    <a:custClr name="Grey 2">
      <a:srgbClr val="A5AFBE"/>
    </a:custClr>
    <a:custClr name="Grey 3">
      <a:srgbClr val="C8D2DD"/>
    </a:custClr>
    <a:custClr name="Grey 4">
      <a:srgbClr val="E6EBF5"/>
    </a:custClr>
  </a:custClrLst>
  <a:extLst>
    <a:ext uri="{05A4C25C-085E-4340-85A3-A5531E510DB2}">
      <thm15:themeFamily xmlns:thm15="http://schemas.microsoft.com/office/thememl/2012/main" name="Essential Version 4.1.potx" id="{348EEFF9-F705-4BDC-9AF7-D3FA7C421DF6}" vid="{8CF5B234-82B5-43E0-82FB-4C124FBCA6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490</Words>
  <Application>Microsoft Office PowerPoint</Application>
  <PresentationFormat>Widescreen</PresentationFormat>
  <Paragraphs>56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Aptos</vt:lpstr>
      <vt:lpstr>Aptos Display</vt:lpstr>
      <vt:lpstr>Aptos Light</vt:lpstr>
      <vt:lpstr>1_HCLTech Theme 4.1</vt:lpstr>
      <vt:lpstr>CFO Operations Landscape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Rathish s</dc:creator>
  <cp:lastModifiedBy>Rathish s</cp:lastModifiedBy>
  <cp:revision>1</cp:revision>
  <dcterms:created xsi:type="dcterms:W3CDTF">2026-04-24T04:45:14Z</dcterms:created>
  <dcterms:modified xsi:type="dcterms:W3CDTF">2026-04-24T04:52:42Z</dcterms:modified>
</cp:coreProperties>
</file>