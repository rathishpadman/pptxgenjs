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0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EA7A6-9703-439D-9860-421146C0496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3207D-A882-40A9-8398-32F59628D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5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/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316-74B3-87DE-BF27-ED922767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A56C553-23D3-33A3-0208-D72AA3860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431" y="817201"/>
            <a:ext cx="10951200" cy="598461"/>
          </a:xfrm>
        </p:spPr>
        <p:txBody>
          <a:bodyPr tIns="288000">
            <a:spAutoFit/>
          </a:bodyPr>
          <a:lstStyle>
            <a:lvl1pPr>
              <a:defRPr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subtitle here at 20 pt and align with the title baseline</a:t>
            </a:r>
          </a:p>
        </p:txBody>
      </p:sp>
    </p:spTree>
    <p:extLst>
      <p:ext uri="{BB962C8B-B14F-4D97-AF65-F5344CB8AC3E}">
        <p14:creationId xmlns:p14="http://schemas.microsoft.com/office/powerpoint/2010/main" val="33049818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8" Type="http://schemas.openxmlformats.org/officeDocument/2006/relationships/slideLayout" Target="../slideLayouts/slideLayout18.xml"/><Relationship Id="rId1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7" y="1812555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1" y="-482750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B62F0297-57AD-07EC-451E-0DBDD282712E}"/>
              </a:ext>
            </a:extLst>
          </p:cNvPr>
          <p:cNvSpPr txBox="1">
            <a:spLocks/>
          </p:cNvSpPr>
          <p:nvPr userDrawn="1"/>
        </p:nvSpPr>
        <p:spPr>
          <a:xfrm>
            <a:off x="410261" y="6465601"/>
            <a:ext cx="183187" cy="123111"/>
          </a:xfrm>
          <a:prstGeom prst="rect">
            <a:avLst/>
          </a:prstGeom>
        </p:spPr>
        <p:txBody>
          <a:bodyPr lIns="0" tIns="46788" rIns="0" anchor="ctr"/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2000" dirty="0"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Aptos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pPr algn="ctr"/>
            <a:fld id="{570547DA-62F2-46FF-A67E-24DBD4865419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 algn="ctr"/>
              <a:t>‹#›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57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8"/>
  </p:sldLayoutIdLst>
  <p:hf hdr="0" dt="0"/>
  <p:txStyles>
    <p:titleStyle>
      <a:lvl1pPr algn="l" defTabSz="914128" rtl="0" eaLnBrk="1" latinLnBrk="0" hangingPunct="1">
        <a:lnSpc>
          <a:spcPct val="85000"/>
        </a:lnSpc>
        <a:spcBef>
          <a:spcPct val="0"/>
        </a:spcBef>
        <a:buNone/>
        <a:defRPr sz="39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8" rtl="0" eaLnBrk="1" latinLnBrk="0" hangingPunct="1">
        <a:lnSpc>
          <a:spcPct val="100000"/>
        </a:lnSpc>
        <a:spcBef>
          <a:spcPts val="1799"/>
        </a:spcBef>
        <a:spcAft>
          <a:spcPts val="900"/>
        </a:spcAft>
        <a:buFont typeface="Aptos" panose="020B0504030202060203" pitchFamily="34" charset="0"/>
        <a:buNone/>
        <a:defRPr sz="1999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128" rtl="0" eaLnBrk="1" latinLnBrk="0" hangingPunct="1">
        <a:lnSpc>
          <a:spcPct val="100000"/>
        </a:lnSpc>
        <a:spcBef>
          <a:spcPts val="0"/>
        </a:spcBef>
        <a:spcAft>
          <a:spcPts val="1399"/>
        </a:spcAft>
        <a:buFont typeface="Aptos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946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Aptos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59893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tos" panose="020B0504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539839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ptos" panose="020B0504030202060203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539839" indent="0" algn="l" defTabSz="91412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ptos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17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80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45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8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2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6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8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9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13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13232"/>
            <a:ext cx="11000232" cy="987552"/>
          </a:xfrm>
        </p:spPr>
        <p:txBody>
          <a:bodyPr wrap="square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Shifting from People to Platforms: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>
                <a:solidFill>
                  <a:srgbClr val="0F5FDC"/>
                </a:solidFill>
                <a:latin typeface="Aptos"/>
              </a:rPr>
              <a:t>The AI Native Twin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84048"/>
            <a:ext cx="2267712" cy="256032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F5FDC"/>
                </a:solidFill>
                <a:latin typeface="Aptos"/>
              </a:rPr>
              <a:t>STRATEGIC PLATFORM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773936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Bypassing organizational resistance by incubating standalone, AI-driven operations on the edge to smoothly transition legacy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95728"/>
            <a:ext cx="3456432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368296"/>
            <a:ext cx="2907791" cy="54864"/>
          </a:xfrm>
          <a:prstGeom prst="roundRect">
            <a:avLst>
              <a:gd name="adj" fmla="val 50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63347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2708" y="27432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2985516"/>
            <a:ext cx="91440" cy="91440"/>
          </a:xfrm>
          <a:prstGeom prst="roundRect">
            <a:avLst>
              <a:gd name="adj" fmla="val 25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06424" y="2985516"/>
            <a:ext cx="91440" cy="91440"/>
          </a:xfrm>
          <a:prstGeom prst="roundRect">
            <a:avLst>
              <a:gd name="adj" fmla="val 25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43584" y="2985516"/>
            <a:ext cx="91440" cy="91440"/>
          </a:xfrm>
          <a:prstGeom prst="roundRect">
            <a:avLst>
              <a:gd name="adj" fmla="val 25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014984" y="2939796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 h="0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5875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43784" y="27614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F5FDC"/>
                </a:solidFill>
                <a:latin typeface="Aptos"/>
              </a:rPr>
              <a:t>PHASE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64992"/>
            <a:ext cx="29077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ptos"/>
              </a:rPr>
              <a:t>1. Edge Incubation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290779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291A0"/>
                </a:solidFill>
                <a:latin typeface="Aptos"/>
              </a:rPr>
              <a:t>Built in isolation — past mainstream resistance and organizational antibodies.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590288"/>
            <a:ext cx="2907791" cy="402336"/>
          </a:xfrm>
          <a:prstGeom prst="roundRect">
            <a:avLst>
              <a:gd name="adj" fmla="val 12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590288"/>
            <a:ext cx="54864" cy="402336"/>
          </a:xfrm>
          <a:prstGeom prst="roundRect">
            <a:avLst>
              <a:gd name="adj" fmla="val 50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590288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ptos"/>
              </a:rPr>
              <a:t>Isolated Edge Blueprint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6260" y="2395728"/>
            <a:ext cx="3456432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40580" y="2368296"/>
            <a:ext cx="2907791" cy="54864"/>
          </a:xfrm>
          <a:prstGeom prst="roundRect">
            <a:avLst>
              <a:gd name="adj" fmla="val 50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40580" y="263347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64024" y="2756916"/>
            <a:ext cx="320040" cy="320040"/>
          </a:xfrm>
          <a:prstGeom prst="ellipse">
            <a:avLst/>
          </a:prstGeom>
          <a:noFill/>
          <a:ln w="1905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32604" y="2825496"/>
            <a:ext cx="182880" cy="182880"/>
          </a:xfrm>
          <a:prstGeom prst="ellipse">
            <a:avLst/>
          </a:prstGeom>
          <a:noFill/>
          <a:ln w="1905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85639" y="2878531"/>
            <a:ext cx="77724" cy="77724"/>
          </a:xfrm>
          <a:prstGeom prst="ellipse">
            <a:avLst/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15683" y="27614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F5FDC"/>
                </a:solidFill>
                <a:latin typeface="Aptos"/>
              </a:rPr>
              <a:t>PHASE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0580" y="3364992"/>
            <a:ext cx="29077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ptos"/>
              </a:rPr>
              <a:t>2. Targeted Maturity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0580" y="3749039"/>
            <a:ext cx="290779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291A0"/>
                </a:solidFill>
                <a:latin typeface="Aptos"/>
              </a:rPr>
              <a:t>Deep agents trained fast, on a minimal footprint.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0580" y="4590288"/>
            <a:ext cx="2907791" cy="402336"/>
          </a:xfrm>
          <a:prstGeom prst="roundRect">
            <a:avLst>
              <a:gd name="adj" fmla="val 12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40580" y="4590288"/>
            <a:ext cx="54864" cy="402336"/>
          </a:xfrm>
          <a:prstGeom prst="roundRect">
            <a:avLst>
              <a:gd name="adj" fmla="val 50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1748" y="4590288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ptos"/>
              </a:rPr>
              <a:t>2 Domain Experts + 2 AI Engineers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2395728"/>
            <a:ext cx="3456432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0" y="2368296"/>
            <a:ext cx="2907791" cy="54864"/>
          </a:xfrm>
          <a:prstGeom prst="roundRect">
            <a:avLst>
              <a:gd name="adj" fmla="val 50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0" y="263347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67344" y="285750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05672" y="2857500"/>
            <a:ext cx="118872" cy="118872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8641080" y="2883103"/>
            <a:ext cx="109728" cy="6858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87584" y="27614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F5FDC"/>
                </a:solidFill>
                <a:latin typeface="Aptos"/>
              </a:rPr>
              <a:t>PHASE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364992"/>
            <a:ext cx="29077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ptos"/>
              </a:rPr>
              <a:t>3. Phased Cutover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749039"/>
            <a:ext cx="290779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291A0"/>
                </a:solidFill>
                <a:latin typeface="Aptos"/>
              </a:rPr>
              <a:t>By department, by geography — never a single flip of the button.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4590288"/>
            <a:ext cx="2907791" cy="402336"/>
          </a:xfrm>
          <a:prstGeom prst="roundRect">
            <a:avLst>
              <a:gd name="adj" fmla="val 12000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12480" y="4590288"/>
            <a:ext cx="54864" cy="402336"/>
          </a:xfrm>
          <a:prstGeom prst="roundRect">
            <a:avLst>
              <a:gd name="adj" fmla="val 50000"/>
            </a:avLst>
          </a:prstGeom>
          <a:solidFill>
            <a:srgbClr val="0F5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13648" y="4590288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00000"/>
                </a:solidFill>
                <a:latin typeface="Aptos"/>
              </a:rPr>
              <a:t>Low-Risk Incremental Rollout</a:t>
            </a:r>
          </a:p>
        </p:txBody>
      </p:sp>
      <p:sp>
        <p:nvSpPr>
          <p:cNvPr id="43" name="Oval 42"/>
          <p:cNvSpPr/>
          <p:nvPr/>
        </p:nvSpPr>
        <p:spPr>
          <a:xfrm>
            <a:off x="4050791" y="3566160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165091" y="3653028"/>
            <a:ext cx="85040" cy="137160"/>
          </a:xfrm>
          <a:custGeom>
            <a:avLst/>
            <a:gdLst/>
            <a:ahLst/>
            <a:cxnLst/>
            <a:rect l="l" t="t" r="r" b="b"/>
            <a:pathLst>
              <a:path w="85040" h="137160">
                <a:moveTo>
                  <a:pt x="0" y="0"/>
                </a:moveTo>
                <a:lnTo>
                  <a:pt x="85040" y="68580"/>
                </a:lnTo>
                <a:lnTo>
                  <a:pt x="0" y="137160"/>
                </a:lnTo>
              </a:path>
            </a:pathLst>
          </a:custGeom>
          <a:noFill/>
          <a:ln w="1905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822692" y="3566160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936992" y="3653028"/>
            <a:ext cx="85039" cy="137160"/>
          </a:xfrm>
          <a:custGeom>
            <a:avLst/>
            <a:gdLst/>
            <a:ahLst/>
            <a:cxnLst/>
            <a:rect l="l" t="t" r="r" b="b"/>
            <a:pathLst>
              <a:path w="85039" h="137160">
                <a:moveTo>
                  <a:pt x="0" y="0"/>
                </a:moveTo>
                <a:lnTo>
                  <a:pt x="85039" y="68580"/>
                </a:lnTo>
                <a:lnTo>
                  <a:pt x="0" y="137160"/>
                </a:lnTo>
              </a:path>
            </a:pathLst>
          </a:custGeom>
          <a:noFill/>
          <a:ln w="19050">
            <a:solidFill>
              <a:srgbClr val="0F5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5532120"/>
            <a:ext cx="11000232" cy="74980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F5FDC"/>
              </a:gs>
              <a:gs pos="100000">
                <a:srgbClr val="3C91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68680" y="5669280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3C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Up Arrow 48"/>
          <p:cNvSpPr/>
          <p:nvPr/>
        </p:nvSpPr>
        <p:spPr>
          <a:xfrm rot="2700000">
            <a:off x="987552" y="5788152"/>
            <a:ext cx="237744" cy="237744"/>
          </a:xfrm>
          <a:prstGeom prst="upArrow">
            <a:avLst>
              <a:gd name="adj1" fmla="val 42000"/>
              <a:gd name="adj2" fmla="val 4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36192" y="5532120"/>
            <a:ext cx="97383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8CC8FA"/>
                </a:solidFill>
                <a:latin typeface="Aptos"/>
              </a:rPr>
              <a:t>MEASURABLE BUSINESS IMPACT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ptos"/>
              </a:rPr>
              <a:t>Radical Efficiency: </a:t>
            </a:r>
            <a:r>
              <a:rPr sz="1250" b="0">
                <a:solidFill>
                  <a:srgbClr val="FFFFFF"/>
                </a:solidFill>
                <a:latin typeface="Aptos"/>
              </a:rPr>
              <a:t>300-person workflows into hyper-productive native twins — 6 months from architectural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Aptos</vt:lpstr>
      <vt:lpstr>Aptos Display</vt:lpstr>
      <vt:lpstr>Aptos Light</vt:lpstr>
      <vt:lpstr>1_HCLTech Theme 4.1</vt:lpstr>
      <vt:lpstr>CFO Operations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Rathish s</dc:creator>
  <cp:lastModifiedBy>Rathish s</cp:lastModifiedBy>
  <cp:revision>1</cp:revision>
  <dcterms:created xsi:type="dcterms:W3CDTF">2026-04-24T04:45:14Z</dcterms:created>
  <dcterms:modified xsi:type="dcterms:W3CDTF">2026-04-24T04:52:42Z</dcterms:modified>
</cp:coreProperties>
</file>