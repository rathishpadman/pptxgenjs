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0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EA7A6-9703-439D-9860-421146C0496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3207D-A882-40A9-8398-32F59628D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5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384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7" Type="http://schemas.openxmlformats.org/officeDocument/2006/relationships/slideLayout" Target="../slideLayouts/slideLayout17.xml"/><Relationship Id="rId1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7" y="1812555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1" y="-482750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B62F0297-57AD-07EC-451E-0DBDD282712E}"/>
              </a:ext>
            </a:extLst>
          </p:cNvPr>
          <p:cNvSpPr txBox="1">
            <a:spLocks/>
          </p:cNvSpPr>
          <p:nvPr userDrawn="1"/>
        </p:nvSpPr>
        <p:spPr>
          <a:xfrm>
            <a:off x="410261" y="6465601"/>
            <a:ext cx="183187" cy="123111"/>
          </a:xfrm>
          <a:prstGeom prst="rect">
            <a:avLst/>
          </a:prstGeom>
        </p:spPr>
        <p:txBody>
          <a:bodyPr lIns="0" tIns="46788" rIns="0" anchor="ctr"/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2000" dirty="0"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Aptos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pPr algn="ctr"/>
            <a:fld id="{570547DA-62F2-46FF-A67E-24DBD4865419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 algn="ctr"/>
              <a:t>‹#›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57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7"/>
  </p:sldLayoutIdLst>
  <p:hf hdr="0" dt="0"/>
  <p:txStyles>
    <p:titleStyle>
      <a:lvl1pPr algn="l" defTabSz="914128" rtl="0" eaLnBrk="1" latinLnBrk="0" hangingPunct="1">
        <a:lnSpc>
          <a:spcPct val="85000"/>
        </a:lnSpc>
        <a:spcBef>
          <a:spcPct val="0"/>
        </a:spcBef>
        <a:buNone/>
        <a:defRPr sz="39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8" rtl="0" eaLnBrk="1" latinLnBrk="0" hangingPunct="1">
        <a:lnSpc>
          <a:spcPct val="100000"/>
        </a:lnSpc>
        <a:spcBef>
          <a:spcPts val="1799"/>
        </a:spcBef>
        <a:spcAft>
          <a:spcPts val="900"/>
        </a:spcAft>
        <a:buFont typeface="Aptos" panose="020B0504030202060203" pitchFamily="34" charset="0"/>
        <a:buNone/>
        <a:defRPr sz="1999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128" rtl="0" eaLnBrk="1" latinLnBrk="0" hangingPunct="1">
        <a:lnSpc>
          <a:spcPct val="100000"/>
        </a:lnSpc>
        <a:spcBef>
          <a:spcPts val="0"/>
        </a:spcBef>
        <a:spcAft>
          <a:spcPts val="1399"/>
        </a:spcAft>
        <a:buFont typeface="Aptos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946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Aptos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59893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tos" panose="020B0504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539839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ptos" panose="020B0504030202060203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539839" indent="0" algn="l" defTabSz="91412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ptos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17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80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45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8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2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6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8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9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13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Engineering workforce: </a:t>
            </a:r>
            <a:r>
              <a:rPr sz="2800" b="1">
                <a:solidFill>
                  <a:srgbClr val="5F1EBE"/>
                </a:solidFill>
                <a:latin typeface="Aptos"/>
              </a:rPr>
              <a:t>1,000+ and compounding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An AI-native engineering engine — capability compounds because the IP compounds.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21327" y="1481328"/>
            <a:ext cx="3749039" cy="76809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411482"/>
              </a:gs>
              <a:gs pos="100000">
                <a:srgbClr val="5F1EB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50511" y="162763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27905" y="1763877"/>
            <a:ext cx="82296" cy="82296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714189" y="1848916"/>
            <a:ext cx="109728" cy="120700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01971" y="1763877"/>
            <a:ext cx="82296" cy="82296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4788255" y="1848916"/>
            <a:ext cx="109728" cy="120700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0591" y="1481328"/>
            <a:ext cx="25603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1,000+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DCE6F0"/>
                </a:solidFill>
                <a:latin typeface="Aptos"/>
              </a:rPr>
              <a:t>Engineering base</a:t>
            </a:r>
          </a:p>
        </p:txBody>
      </p:sp>
      <p:sp>
        <p:nvSpPr>
          <p:cNvPr id="11" name="Freeform 10"/>
          <p:cNvSpPr/>
          <p:nvPr/>
        </p:nvSpPr>
        <p:spPr>
          <a:xfrm>
            <a:off x="6095847" y="2249424"/>
            <a:ext cx="0" cy="329184"/>
          </a:xfrm>
          <a:custGeom>
            <a:avLst/>
            <a:gdLst/>
            <a:ahLst/>
            <a:cxnLst/>
            <a:rect l="l" t="t" r="r" b="b"/>
            <a:pathLst>
              <a:path w="0" h="329184">
                <a:moveTo>
                  <a:pt x="0" y="0"/>
                </a:moveTo>
                <a:lnTo>
                  <a:pt x="0" y="329184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883664" y="2578608"/>
            <a:ext cx="8421624" cy="0"/>
          </a:xfrm>
          <a:custGeom>
            <a:avLst/>
            <a:gdLst/>
            <a:ahLst/>
            <a:cxnLst/>
            <a:rect l="l" t="t" r="r" b="b"/>
            <a:pathLst>
              <a:path w="8421624" h="0">
                <a:moveTo>
                  <a:pt x="0" y="0"/>
                </a:moveTo>
                <a:lnTo>
                  <a:pt x="8421624" y="0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883664" y="2578608"/>
            <a:ext cx="0" cy="292608"/>
          </a:xfrm>
          <a:custGeom>
            <a:avLst/>
            <a:gdLst/>
            <a:ahLst/>
            <a:cxnLst/>
            <a:rect l="l" t="t" r="r" b="b"/>
            <a:pathLst>
              <a:path w="0" h="292608">
                <a:moveTo>
                  <a:pt x="0" y="0"/>
                </a:moveTo>
                <a:lnTo>
                  <a:pt x="0" y="292608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37944" y="2532888"/>
            <a:ext cx="91440" cy="91440"/>
          </a:xfrm>
          <a:prstGeom prst="ellipse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4690872" y="2578608"/>
            <a:ext cx="0" cy="292608"/>
          </a:xfrm>
          <a:custGeom>
            <a:avLst/>
            <a:gdLst/>
            <a:ahLst/>
            <a:cxnLst/>
            <a:rect l="l" t="t" r="r" b="b"/>
            <a:pathLst>
              <a:path w="0" h="292608">
                <a:moveTo>
                  <a:pt x="0" y="0"/>
                </a:moveTo>
                <a:lnTo>
                  <a:pt x="0" y="292608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5152" y="2532888"/>
            <a:ext cx="91440" cy="91440"/>
          </a:xfrm>
          <a:prstGeom prst="ellipse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498079" y="2578608"/>
            <a:ext cx="0" cy="292608"/>
          </a:xfrm>
          <a:custGeom>
            <a:avLst/>
            <a:gdLst/>
            <a:ahLst/>
            <a:cxnLst/>
            <a:rect l="l" t="t" r="r" b="b"/>
            <a:pathLst>
              <a:path w="0" h="292608">
                <a:moveTo>
                  <a:pt x="0" y="0"/>
                </a:moveTo>
                <a:lnTo>
                  <a:pt x="0" y="292608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52359" y="2532888"/>
            <a:ext cx="91440" cy="91440"/>
          </a:xfrm>
          <a:prstGeom prst="ellipse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305288" y="2578608"/>
            <a:ext cx="0" cy="292608"/>
          </a:xfrm>
          <a:custGeom>
            <a:avLst/>
            <a:gdLst/>
            <a:ahLst/>
            <a:cxnLst/>
            <a:rect l="l" t="t" r="r" b="b"/>
            <a:pathLst>
              <a:path w="0" h="292608">
                <a:moveTo>
                  <a:pt x="0" y="0"/>
                </a:moveTo>
                <a:lnTo>
                  <a:pt x="0" y="292608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59567" y="2532888"/>
            <a:ext cx="91440" cy="91440"/>
          </a:xfrm>
          <a:prstGeom prst="ellipse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2871216"/>
            <a:ext cx="2578608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18488" y="3035808"/>
            <a:ext cx="530352" cy="530352"/>
          </a:xfrm>
          <a:prstGeom prst="ellipse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Gear 6 22"/>
          <p:cNvSpPr/>
          <p:nvPr/>
        </p:nvSpPr>
        <p:spPr>
          <a:xfrm>
            <a:off x="1765706" y="3183026"/>
            <a:ext cx="235915" cy="235915"/>
          </a:xfrm>
          <a:prstGeom prst="gear6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50745" y="3268065"/>
            <a:ext cx="65836" cy="6583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675888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411482"/>
                </a:solidFill>
                <a:latin typeface="Aptos"/>
              </a:rPr>
              <a:t>Agentic &amp;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411482"/>
                </a:solidFill>
                <a:latin typeface="Aptos"/>
              </a:rPr>
              <a:t>Automation</a:t>
            </a:r>
          </a:p>
        </p:txBody>
      </p:sp>
      <p:sp>
        <p:nvSpPr>
          <p:cNvPr id="26" name="Freeform 25"/>
          <p:cNvSpPr/>
          <p:nvPr/>
        </p:nvSpPr>
        <p:spPr>
          <a:xfrm>
            <a:off x="1097280" y="4169664"/>
            <a:ext cx="1572768" cy="0"/>
          </a:xfrm>
          <a:custGeom>
            <a:avLst/>
            <a:gdLst/>
            <a:ahLst/>
            <a:cxnLst/>
            <a:rect l="l" t="t" r="r" b="b"/>
            <a:pathLst>
              <a:path w="1572768" h="0">
                <a:moveTo>
                  <a:pt x="0" y="0"/>
                </a:moveTo>
                <a:lnTo>
                  <a:pt x="1572768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42816"/>
            <a:ext cx="25786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411482"/>
                </a:solidFill>
                <a:latin typeface="Aptos"/>
              </a:rPr>
              <a:t>400+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700016"/>
            <a:ext cx="2578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People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1568" y="2871216"/>
            <a:ext cx="2578608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25696" y="3035808"/>
            <a:ext cx="530352" cy="530352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63440" y="3199485"/>
            <a:ext cx="54864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03089" y="3339388"/>
            <a:ext cx="43891" cy="4389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8926" y="3339388"/>
            <a:ext cx="43891" cy="4389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34763" y="3339388"/>
            <a:ext cx="43891" cy="4389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625035" y="3311956"/>
            <a:ext cx="131673" cy="0"/>
          </a:xfrm>
          <a:custGeom>
            <a:avLst/>
            <a:gdLst/>
            <a:ahLst/>
            <a:cxnLst/>
            <a:rect l="l" t="t" r="r" b="b"/>
            <a:pathLst>
              <a:path w="131673" h="0">
                <a:moveTo>
                  <a:pt x="0" y="0"/>
                </a:moveTo>
                <a:lnTo>
                  <a:pt x="131673" y="0"/>
                </a:lnTo>
              </a:path>
            </a:pathLst>
          </a:custGeom>
          <a:noFill/>
          <a:ln w="1079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3675888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411482"/>
                </a:solidFill>
                <a:latin typeface="Aptos"/>
              </a:rPr>
              <a:t>AI &amp;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411482"/>
                </a:solidFill>
                <a:latin typeface="Aptos"/>
              </a:rPr>
              <a:t>Gen AI</a:t>
            </a:r>
          </a:p>
        </p:txBody>
      </p:sp>
      <p:sp>
        <p:nvSpPr>
          <p:cNvPr id="37" name="Freeform 36"/>
          <p:cNvSpPr/>
          <p:nvPr/>
        </p:nvSpPr>
        <p:spPr>
          <a:xfrm>
            <a:off x="3904487" y="4169664"/>
            <a:ext cx="1572768" cy="0"/>
          </a:xfrm>
          <a:custGeom>
            <a:avLst/>
            <a:gdLst/>
            <a:ahLst/>
            <a:cxnLst/>
            <a:rect l="l" t="t" r="r" b="b"/>
            <a:pathLst>
              <a:path w="1572768" h="0">
                <a:moveTo>
                  <a:pt x="0" y="0"/>
                </a:moveTo>
                <a:lnTo>
                  <a:pt x="1572768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1568" y="4242816"/>
            <a:ext cx="25786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5F1EBE"/>
                </a:solidFill>
                <a:latin typeface="Aptos"/>
              </a:rPr>
              <a:t>200+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4700016"/>
            <a:ext cx="2578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People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08776" y="2871216"/>
            <a:ext cx="2578608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32903" y="3035808"/>
            <a:ext cx="530352" cy="530352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56931" y="3188512"/>
            <a:ext cx="82296" cy="8229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93838" y="3306470"/>
            <a:ext cx="82296" cy="8229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520025" y="3306470"/>
            <a:ext cx="82296" cy="8229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3675888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411482"/>
                </a:solidFill>
                <a:latin typeface="Aptos"/>
              </a:rPr>
              <a:t>Product &amp;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411482"/>
                </a:solidFill>
                <a:latin typeface="Aptos"/>
              </a:rPr>
              <a:t>Platform</a:t>
            </a:r>
          </a:p>
        </p:txBody>
      </p:sp>
      <p:sp>
        <p:nvSpPr>
          <p:cNvPr id="46" name="Freeform 45"/>
          <p:cNvSpPr/>
          <p:nvPr/>
        </p:nvSpPr>
        <p:spPr>
          <a:xfrm>
            <a:off x="6711696" y="4169664"/>
            <a:ext cx="1572767" cy="0"/>
          </a:xfrm>
          <a:custGeom>
            <a:avLst/>
            <a:gdLst/>
            <a:ahLst/>
            <a:cxnLst/>
            <a:rect l="l" t="t" r="r" b="b"/>
            <a:pathLst>
              <a:path w="1572767" h="0">
                <a:moveTo>
                  <a:pt x="0" y="0"/>
                </a:moveTo>
                <a:lnTo>
                  <a:pt x="1572767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08776" y="4242816"/>
            <a:ext cx="25786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F5FDC"/>
                </a:solidFill>
                <a:latin typeface="Aptos"/>
              </a:rPr>
              <a:t>200+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08776" y="4700016"/>
            <a:ext cx="2578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People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15984" y="2871216"/>
            <a:ext cx="2578608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040112" y="3035808"/>
            <a:ext cx="530352" cy="530352"/>
          </a:xfrm>
          <a:prstGeom prst="ellipse">
            <a:avLst/>
          </a:prstGeom>
          <a:solidFill>
            <a:srgbClr val="3C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209276" y="3188512"/>
            <a:ext cx="192024" cy="822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209276" y="3276295"/>
            <a:ext cx="192024" cy="822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209276" y="3364077"/>
            <a:ext cx="192024" cy="822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0576" y="3675888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411482"/>
                </a:solidFill>
                <a:latin typeface="Aptos"/>
              </a:rPr>
              <a:t>Data &amp;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411482"/>
                </a:solidFill>
                <a:latin typeface="Aptos"/>
              </a:rPr>
              <a:t>Process Mining</a:t>
            </a:r>
          </a:p>
        </p:txBody>
      </p:sp>
      <p:sp>
        <p:nvSpPr>
          <p:cNvPr id="55" name="Freeform 54"/>
          <p:cNvSpPr/>
          <p:nvPr/>
        </p:nvSpPr>
        <p:spPr>
          <a:xfrm>
            <a:off x="9518904" y="4169664"/>
            <a:ext cx="1572768" cy="0"/>
          </a:xfrm>
          <a:custGeom>
            <a:avLst/>
            <a:gdLst/>
            <a:ahLst/>
            <a:cxnLst/>
            <a:rect l="l" t="t" r="r" b="b"/>
            <a:pathLst>
              <a:path w="1572768" h="0">
                <a:moveTo>
                  <a:pt x="0" y="0"/>
                </a:moveTo>
                <a:lnTo>
                  <a:pt x="1572768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15984" y="4242816"/>
            <a:ext cx="25786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C91FF"/>
                </a:solidFill>
                <a:latin typeface="Aptos"/>
              </a:rPr>
              <a:t>200+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15984" y="4700016"/>
            <a:ext cx="2578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People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5047488"/>
            <a:ext cx="11000232" cy="1316736"/>
          </a:xfrm>
          <a:prstGeom prst="roundRect">
            <a:avLst>
              <a:gd name="adj" fmla="val 9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5138927"/>
            <a:ext cx="11000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F1EBE"/>
                </a:solidFill>
                <a:latin typeface="Aptos"/>
              </a:rPr>
              <a:t>THE COMPOUNDING FLYWHEEL</a:t>
            </a:r>
          </a:p>
        </p:txBody>
      </p:sp>
      <p:sp>
        <p:nvSpPr>
          <p:cNvPr id="60" name="Oval 59"/>
          <p:cNvSpPr/>
          <p:nvPr/>
        </p:nvSpPr>
        <p:spPr>
          <a:xfrm>
            <a:off x="1730959" y="5394959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898111" y="5526450"/>
            <a:ext cx="71323" cy="71323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 Same Side Corner Rectangle 61"/>
          <p:cNvSpPr/>
          <p:nvPr/>
        </p:nvSpPr>
        <p:spPr>
          <a:xfrm>
            <a:off x="1886224" y="5600151"/>
            <a:ext cx="95097" cy="104607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962302" y="5526450"/>
            <a:ext cx="71323" cy="71323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 Same Side Corner Rectangle 63"/>
          <p:cNvSpPr/>
          <p:nvPr/>
        </p:nvSpPr>
        <p:spPr>
          <a:xfrm>
            <a:off x="1950415" y="5600151"/>
            <a:ext cx="95097" cy="104607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5907024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1. Elite Talent</a:t>
            </a:r>
          </a:p>
        </p:txBody>
      </p:sp>
      <p:sp>
        <p:nvSpPr>
          <p:cNvPr id="66" name="Freeform 65"/>
          <p:cNvSpPr/>
          <p:nvPr/>
        </p:nvSpPr>
        <p:spPr>
          <a:xfrm>
            <a:off x="2904134" y="5614416"/>
            <a:ext cx="164592" cy="0"/>
          </a:xfrm>
          <a:custGeom>
            <a:avLst/>
            <a:gdLst/>
            <a:ahLst/>
            <a:cxnLst/>
            <a:rect l="l" t="t" r="r" b="b"/>
            <a:pathLst>
              <a:path w="164592" h="0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/>
          <a:ln w="1397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023463" y="5565038"/>
            <a:ext cx="45263" cy="98755"/>
          </a:xfrm>
          <a:custGeom>
            <a:avLst/>
            <a:gdLst/>
            <a:ahLst/>
            <a:cxnLst/>
            <a:rect l="l" t="t" r="r" b="b"/>
            <a:pathLst>
              <a:path w="45263" h="98755">
                <a:moveTo>
                  <a:pt x="0" y="0"/>
                </a:moveTo>
                <a:lnTo>
                  <a:pt x="45263" y="49378"/>
                </a:lnTo>
                <a:lnTo>
                  <a:pt x="0" y="98755"/>
                </a:lnTo>
              </a:path>
            </a:pathLst>
          </a:custGeom>
          <a:noFill/>
          <a:ln w="1397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802989" y="5394959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Up Arrow 68"/>
          <p:cNvSpPr/>
          <p:nvPr/>
        </p:nvSpPr>
        <p:spPr>
          <a:xfrm>
            <a:off x="3927348" y="5519318"/>
            <a:ext cx="190195" cy="190195"/>
          </a:xfrm>
          <a:prstGeom prst="upArrow">
            <a:avLst>
              <a:gd name="adj1" fmla="val 42000"/>
              <a:gd name="adj2" fmla="val 4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86430" y="5907024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2. Client Deployments</a:t>
            </a:r>
          </a:p>
        </p:txBody>
      </p:sp>
      <p:sp>
        <p:nvSpPr>
          <p:cNvPr id="71" name="Freeform 70"/>
          <p:cNvSpPr/>
          <p:nvPr/>
        </p:nvSpPr>
        <p:spPr>
          <a:xfrm>
            <a:off x="4976164" y="5614416"/>
            <a:ext cx="164592" cy="0"/>
          </a:xfrm>
          <a:custGeom>
            <a:avLst/>
            <a:gdLst/>
            <a:ahLst/>
            <a:cxnLst/>
            <a:rect l="l" t="t" r="r" b="b"/>
            <a:pathLst>
              <a:path w="164592" h="0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/>
          <a:ln w="1397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095494" y="5565038"/>
            <a:ext cx="45262" cy="98755"/>
          </a:xfrm>
          <a:custGeom>
            <a:avLst/>
            <a:gdLst/>
            <a:ahLst/>
            <a:cxnLst/>
            <a:rect l="l" t="t" r="r" b="b"/>
            <a:pathLst>
              <a:path w="45262" h="98755">
                <a:moveTo>
                  <a:pt x="0" y="0"/>
                </a:moveTo>
                <a:lnTo>
                  <a:pt x="45262" y="49378"/>
                </a:lnTo>
                <a:lnTo>
                  <a:pt x="0" y="98755"/>
                </a:lnTo>
              </a:path>
            </a:pathLst>
          </a:custGeom>
          <a:noFill/>
          <a:ln w="1397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875020" y="5394959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058814" y="5516940"/>
            <a:ext cx="71323" cy="71323"/>
          </a:xfrm>
          <a:prstGeom prst="roundRect">
            <a:avLst>
              <a:gd name="adj" fmla="val 2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004133" y="5619170"/>
            <a:ext cx="71323" cy="71323"/>
          </a:xfrm>
          <a:prstGeom prst="roundRect">
            <a:avLst>
              <a:gd name="adj" fmla="val 2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13495" y="5619170"/>
            <a:ext cx="71323" cy="71323"/>
          </a:xfrm>
          <a:prstGeom prst="roundRect">
            <a:avLst>
              <a:gd name="adj" fmla="val 2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58460" y="5907024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3. Reusable Agent IP</a:t>
            </a:r>
          </a:p>
        </p:txBody>
      </p:sp>
      <p:sp>
        <p:nvSpPr>
          <p:cNvPr id="78" name="Freeform 77"/>
          <p:cNvSpPr/>
          <p:nvPr/>
        </p:nvSpPr>
        <p:spPr>
          <a:xfrm>
            <a:off x="7048195" y="5614416"/>
            <a:ext cx="164592" cy="0"/>
          </a:xfrm>
          <a:custGeom>
            <a:avLst/>
            <a:gdLst/>
            <a:ahLst/>
            <a:cxnLst/>
            <a:rect l="l" t="t" r="r" b="b"/>
            <a:pathLst>
              <a:path w="164592" h="0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/>
          <a:ln w="1397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7167524" y="5565038"/>
            <a:ext cx="45263" cy="98755"/>
          </a:xfrm>
          <a:custGeom>
            <a:avLst/>
            <a:gdLst/>
            <a:ahLst/>
            <a:cxnLst/>
            <a:rect l="l" t="t" r="r" b="b"/>
            <a:pathLst>
              <a:path w="45263" h="98755">
                <a:moveTo>
                  <a:pt x="0" y="0"/>
                </a:moveTo>
                <a:lnTo>
                  <a:pt x="45263" y="49378"/>
                </a:lnTo>
                <a:lnTo>
                  <a:pt x="0" y="98755"/>
                </a:lnTo>
              </a:path>
            </a:pathLst>
          </a:custGeom>
          <a:noFill/>
          <a:ln w="1397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947050" y="5394959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078541" y="5526450"/>
            <a:ext cx="175930" cy="175930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Isosceles Triangle 81"/>
          <p:cNvSpPr/>
          <p:nvPr/>
        </p:nvSpPr>
        <p:spPr>
          <a:xfrm>
            <a:off x="8187903" y="5543092"/>
            <a:ext cx="71323" cy="61813"/>
          </a:xfrm>
          <a:prstGeom prst="triangl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0491" y="5907024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4. Faster Delivery</a:t>
            </a:r>
          </a:p>
        </p:txBody>
      </p:sp>
      <p:sp>
        <p:nvSpPr>
          <p:cNvPr id="84" name="Freeform 83"/>
          <p:cNvSpPr/>
          <p:nvPr/>
        </p:nvSpPr>
        <p:spPr>
          <a:xfrm>
            <a:off x="9120225" y="5614416"/>
            <a:ext cx="164592" cy="0"/>
          </a:xfrm>
          <a:custGeom>
            <a:avLst/>
            <a:gdLst/>
            <a:ahLst/>
            <a:cxnLst/>
            <a:rect l="l" t="t" r="r" b="b"/>
            <a:pathLst>
              <a:path w="164592" h="0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/>
          <a:ln w="1397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9239554" y="5565038"/>
            <a:ext cx="45263" cy="98755"/>
          </a:xfrm>
          <a:custGeom>
            <a:avLst/>
            <a:gdLst/>
            <a:ahLst/>
            <a:cxnLst/>
            <a:rect l="l" t="t" r="r" b="b"/>
            <a:pathLst>
              <a:path w="45263" h="98755">
                <a:moveTo>
                  <a:pt x="0" y="0"/>
                </a:moveTo>
                <a:lnTo>
                  <a:pt x="45263" y="49378"/>
                </a:lnTo>
                <a:lnTo>
                  <a:pt x="0" y="98755"/>
                </a:lnTo>
              </a:path>
            </a:pathLst>
          </a:custGeom>
          <a:noFill/>
          <a:ln w="1397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019080" y="5394959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0155326" y="5607283"/>
            <a:ext cx="42793" cy="80832"/>
          </a:xfrm>
          <a:prstGeom prst="roundRect">
            <a:avLst>
              <a:gd name="adj" fmla="val 3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219517" y="5550225"/>
            <a:ext cx="42793" cy="137891"/>
          </a:xfrm>
          <a:prstGeom prst="roundRect">
            <a:avLst>
              <a:gd name="adj" fmla="val 3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283708" y="5488411"/>
            <a:ext cx="42793" cy="199704"/>
          </a:xfrm>
          <a:prstGeom prst="roundRect">
            <a:avLst>
              <a:gd name="adj" fmla="val 3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02521" y="5907024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5. More Client Wins</a:t>
            </a:r>
          </a:p>
        </p:txBody>
      </p:sp>
      <p:sp>
        <p:nvSpPr>
          <p:cNvPr id="91" name="Freeform 90"/>
          <p:cNvSpPr/>
          <p:nvPr/>
        </p:nvSpPr>
        <p:spPr>
          <a:xfrm>
            <a:off x="1950415" y="6163055"/>
            <a:ext cx="8288121" cy="54864"/>
          </a:xfrm>
          <a:custGeom>
            <a:avLst/>
            <a:gdLst/>
            <a:ahLst/>
            <a:cxnLst/>
            <a:rect l="l" t="t" r="r" b="b"/>
            <a:pathLst>
              <a:path w="8288121" h="54864">
                <a:moveTo>
                  <a:pt x="8288121" y="0"/>
                </a:moveTo>
                <a:lnTo>
                  <a:pt x="8288121" y="54864"/>
                </a:lnTo>
                <a:lnTo>
                  <a:pt x="0" y="54864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5F1E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900123" y="6163055"/>
            <a:ext cx="100584" cy="54865"/>
          </a:xfrm>
          <a:custGeom>
            <a:avLst/>
            <a:gdLst/>
            <a:ahLst/>
            <a:cxnLst/>
            <a:rect l="l" t="t" r="r" b="b"/>
            <a:pathLst>
              <a:path w="100584" h="54865">
                <a:moveTo>
                  <a:pt x="0" y="54865"/>
                </a:moveTo>
                <a:lnTo>
                  <a:pt x="50292" y="0"/>
                </a:lnTo>
                <a:lnTo>
                  <a:pt x="100584" y="54865"/>
                </a:lnTo>
              </a:path>
            </a:pathLst>
          </a:custGeom>
          <a:noFill/>
          <a:ln w="1397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Aptos</vt:lpstr>
      <vt:lpstr>Aptos Display</vt:lpstr>
      <vt:lpstr>Aptos Light</vt:lpstr>
      <vt:lpstr>1_HCLTech Theme 4.1</vt:lpstr>
      <vt:lpstr>CFO Operations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Rathish s</dc:creator>
  <cp:lastModifiedBy>Rathish s</cp:lastModifiedBy>
  <cp:revision>1</cp:revision>
  <dcterms:created xsi:type="dcterms:W3CDTF">2026-04-24T04:45:14Z</dcterms:created>
  <dcterms:modified xsi:type="dcterms:W3CDTF">2026-04-24T04:52:42Z</dcterms:modified>
</cp:coreProperties>
</file>