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00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5EA7A6-9703-439D-9860-421146C0496A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63207D-A882-40A9-8398-32F59628DE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0450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78AF907-FBDC-E9F2-B1FF-D09E00F1B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5671" y="6465601"/>
            <a:ext cx="150682" cy="123111"/>
          </a:xfrm>
          <a:prstGeom prst="rect">
            <a:avLst/>
          </a:prstGeom>
        </p:spPr>
        <p:txBody>
          <a:bodyPr/>
          <a:lstStyle/>
          <a:p>
            <a:fld id="{570547DA-62F2-46FF-A67E-24DBD486541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9384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7" Type="http://schemas.openxmlformats.org/officeDocument/2006/relationships/slideLayout" Target="../slideLayouts/slideLayout17.xml"/><Relationship Id="rId1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7C2F9B-1B75-1D6F-DECD-AA527616B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166" y="421200"/>
            <a:ext cx="10968598" cy="52322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9EB0A9-F700-84AF-0327-18A849481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5017" y="1812555"/>
            <a:ext cx="10946748" cy="414692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level: Subhead</a:t>
            </a:r>
          </a:p>
          <a:p>
            <a:pPr lvl="1"/>
            <a:r>
              <a:rPr lang="en-US"/>
              <a:t>Second level: Body text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grpSp>
        <p:nvGrpSpPr>
          <p:cNvPr id="68" name="Columns Guides" hidden="1">
            <a:extLst>
              <a:ext uri="{FF2B5EF4-FFF2-40B4-BE49-F238E27FC236}">
                <a16:creationId xmlns:a16="http://schemas.microsoft.com/office/drawing/2014/main" id="{EFAC4366-2CF4-C5A9-31A8-6F9DECFE4E25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628651" y="-482750"/>
            <a:ext cx="10934825" cy="270781"/>
            <a:chOff x="628650" y="-708661"/>
            <a:chExt cx="10934825" cy="270781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C7F93F2-F654-4332-F215-0A3B672F9D7F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628650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F056A12-0E3D-624F-504F-6DE97A67C97C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1255993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2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50B3FC0-A1BF-DD01-AC83-56CAA0EAB3D3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1883336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3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2DC71EE-0C0B-F54C-6A2D-EDCE55842B9B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2510679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4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4910EEB-33EE-2A8B-7882-314F27D7F2DE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3138022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5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4A08A2A-900E-CD04-5544-124CB7F0B3AA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3765365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6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9FFA843-DF76-CE08-0766-D60499CC3323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4392708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7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93CBA17-0C95-42F3-A32C-8AFA9996B9D3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5020051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8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5F1624C-8BDC-798E-28B2-AA590ADC47E8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5647394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9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E6ACB19-6D3E-4F02-F268-97E802E82F44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6274737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10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DE60CBC-8DDE-BC59-3E28-7D81EB0362DE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6902080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11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4382D73-6C2A-3D3F-14DA-9EC80E156047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7529423" y="-708661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12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A4B3B06D-B96D-49CC-81E4-D15E316CB618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8156766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13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E64E8E0-1325-6F0E-8900-F6E6306C6D4C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8784109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14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380BEEB7-FB77-E0B7-234E-F1C3D62D9348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9411452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15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4E8BFEF6-B6D0-D3B6-938B-FEBFD244E001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10038795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16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A7113FA8-AE40-F16B-F5B6-020A3E94EC87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10666138" y="-707880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17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58A9647F-C0C5-B3CF-7646-72E25BE02F6C}"/>
                </a:ext>
              </a:extLst>
            </p:cNvPr>
            <p:cNvSpPr txBox="1"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11293475" y="-708661"/>
              <a:ext cx="270000" cy="270000"/>
            </a:xfrm>
            <a:prstGeom prst="rect">
              <a:avLst/>
            </a:prstGeom>
            <a:solidFill>
              <a:srgbClr val="A5AFBE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099">
                  <a:solidFill>
                    <a:schemeClr val="bg1"/>
                  </a:solidFill>
                  <a:latin typeface="+mj-lt"/>
                </a:rPr>
                <a:t>18</a:t>
              </a:r>
            </a:p>
          </p:txBody>
        </p:sp>
      </p:grpSp>
      <p:sp>
        <p:nvSpPr>
          <p:cNvPr id="32" name="Slide Number Placeholder 1">
            <a:extLst>
              <a:ext uri="{FF2B5EF4-FFF2-40B4-BE49-F238E27FC236}">
                <a16:creationId xmlns:a16="http://schemas.microsoft.com/office/drawing/2014/main" id="{B62F0297-57AD-07EC-451E-0DBDD282712E}"/>
              </a:ext>
            </a:extLst>
          </p:cNvPr>
          <p:cNvSpPr txBox="1">
            <a:spLocks/>
          </p:cNvSpPr>
          <p:nvPr userDrawn="1"/>
        </p:nvSpPr>
        <p:spPr>
          <a:xfrm>
            <a:off x="410261" y="6465601"/>
            <a:ext cx="183187" cy="123111"/>
          </a:xfrm>
          <a:prstGeom prst="rect">
            <a:avLst/>
          </a:prstGeom>
        </p:spPr>
        <p:txBody>
          <a:bodyPr lIns="0" tIns="46788" rIns="0" anchor="ctr"/>
          <a:lstStyle>
            <a:defPPr>
              <a:defRPr lang="en-US"/>
            </a:defPPr>
            <a:lvl1pPr marL="0" algn="l" defTabSz="914400" rtl="0" eaLnBrk="1" latinLnBrk="0" hangingPunct="1">
              <a:spcBef>
                <a:spcPts val="1800"/>
              </a:spcBef>
              <a:spcAft>
                <a:spcPts val="900"/>
              </a:spcAft>
              <a:defRPr sz="2000" dirty="0">
                <a:latin typeface="+mj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1200"/>
              </a:spcAft>
              <a:defRPr sz="1600" dirty="0">
                <a:latin typeface="+mn-lt"/>
                <a:ea typeface="+mn-ea"/>
                <a:cs typeface="+mn-cs"/>
              </a:defRPr>
            </a:lvl2pPr>
            <a:lvl3pPr marL="180000" indent="-180000" algn="l" rtl="0" eaLnBrk="1" latinLnBrk="0" hangingPunct="1">
              <a:spcAft>
                <a:spcPts val="900"/>
              </a:spcAft>
              <a:buFont typeface="Aptos" panose="020B0504030202060203" pitchFamily="34" charset="0"/>
              <a:buChar char="•"/>
              <a:defRPr sz="1600" dirty="0">
                <a:latin typeface="+mn-lt"/>
                <a:ea typeface="+mn-ea"/>
                <a:cs typeface="+mn-cs"/>
              </a:defRPr>
            </a:lvl3pPr>
            <a:lvl4pPr marL="360000" indent="-180000" algn="l" defTabSz="914400" rtl="0" eaLnBrk="1" latinLnBrk="0" hangingPunct="1">
              <a:spcAft>
                <a:spcPts val="600"/>
              </a:spcAft>
              <a:buFont typeface="Aptos" panose="020B0504030202060203" pitchFamily="34" charset="0"/>
              <a:buChar char="–"/>
              <a:defRPr sz="1400" dirty="0">
                <a:latin typeface="+mn-lt"/>
                <a:ea typeface="+mn-ea"/>
                <a:cs typeface="+mn-cs"/>
              </a:defRPr>
            </a:lvl4pPr>
            <a:lvl5pPr marL="540000" indent="-180000" rtl="0" eaLnBrk="1" latinLnBrk="0" hangingPunct="1">
              <a:spcAft>
                <a:spcPts val="600"/>
              </a:spcAft>
              <a:buFont typeface="Aptos" panose="020B0504030202060203" pitchFamily="34" charset="0"/>
              <a:buChar char="•"/>
              <a:defRPr sz="1400" dirty="0">
                <a:latin typeface="+mn-lt"/>
                <a:ea typeface="+mn-ea"/>
                <a:cs typeface="+mn-cs"/>
              </a:defRPr>
            </a:lvl5pPr>
            <a:lvl6pPr marL="540000" algn="l" defTabSz="914400" rtl="0" eaLnBrk="1" latinLnBrk="0" hangingPunct="1">
              <a:spcBef>
                <a:spcPts val="600"/>
              </a:spcBef>
              <a:spcAft>
                <a:spcPts val="600"/>
              </a:spcAft>
              <a:defRPr sz="1200" dirty="0">
                <a:latin typeface="+mn-lt"/>
                <a:ea typeface="+mn-ea"/>
                <a:cs typeface="+mn-cs"/>
              </a:defRPr>
            </a:lvl6pPr>
          </a:lstStyle>
          <a:p>
            <a:pPr algn="ctr"/>
            <a:fld id="{570547DA-62F2-46FF-A67E-24DBD4865419}" type="slidenum"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pPr algn="ctr"/>
              <a:t>‹#›</a:t>
            </a:fld>
            <a:endParaRPr lang="en-US" sz="800">
              <a:solidFill>
                <a:schemeClr val="tx1">
                  <a:lumMod val="50000"/>
                  <a:lumOff val="5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11579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7"/>
  </p:sldLayoutIdLst>
  <p:hf hdr="0" dt="0"/>
  <p:txStyles>
    <p:titleStyle>
      <a:lvl1pPr algn="l" defTabSz="914128" rtl="0" eaLnBrk="1" latinLnBrk="0" hangingPunct="1">
        <a:lnSpc>
          <a:spcPct val="85000"/>
        </a:lnSpc>
        <a:spcBef>
          <a:spcPct val="0"/>
        </a:spcBef>
        <a:buNone/>
        <a:defRPr sz="3999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128" rtl="0" eaLnBrk="1" latinLnBrk="0" hangingPunct="1">
        <a:lnSpc>
          <a:spcPct val="100000"/>
        </a:lnSpc>
        <a:spcBef>
          <a:spcPts val="1799"/>
        </a:spcBef>
        <a:spcAft>
          <a:spcPts val="900"/>
        </a:spcAft>
        <a:buFont typeface="Aptos" panose="020B0504030202060203" pitchFamily="34" charset="0"/>
        <a:buNone/>
        <a:defRPr sz="1999" b="1" kern="1200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914128" rtl="0" eaLnBrk="1" latinLnBrk="0" hangingPunct="1">
        <a:lnSpc>
          <a:spcPct val="100000"/>
        </a:lnSpc>
        <a:spcBef>
          <a:spcPts val="0"/>
        </a:spcBef>
        <a:spcAft>
          <a:spcPts val="1399"/>
        </a:spcAft>
        <a:buFont typeface="Aptos" panose="020B0504030202060203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79946" indent="-179946" algn="l" defTabSz="914128" rtl="0" eaLnBrk="1" latinLnBrk="0" hangingPunct="1">
        <a:lnSpc>
          <a:spcPct val="100000"/>
        </a:lnSpc>
        <a:spcBef>
          <a:spcPts val="0"/>
        </a:spcBef>
        <a:spcAft>
          <a:spcPts val="900"/>
        </a:spcAft>
        <a:buClrTx/>
        <a:buFont typeface="Aptos" panose="020B0504030202060203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359893" indent="-179946" algn="l" defTabSz="914128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ptos" panose="020B0504030202060203" pitchFamily="34" charset="0"/>
        <a:buChar char="–"/>
        <a:defRPr sz="1399" kern="1200">
          <a:solidFill>
            <a:schemeClr val="tx1"/>
          </a:solidFill>
          <a:latin typeface="+mn-lt"/>
          <a:ea typeface="+mn-ea"/>
          <a:cs typeface="+mn-cs"/>
        </a:defRPr>
      </a:lvl4pPr>
      <a:lvl5pPr marL="539839" indent="-179946" algn="l" defTabSz="914128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ptos" panose="020B0504030202060203" pitchFamily="34" charset="0"/>
        <a:buChar char="•"/>
        <a:defRPr sz="1399" kern="1200">
          <a:solidFill>
            <a:schemeClr val="tx1"/>
          </a:solidFill>
          <a:latin typeface="+mn-lt"/>
          <a:ea typeface="+mn-ea"/>
          <a:cs typeface="+mn-cs"/>
        </a:defRPr>
      </a:lvl5pPr>
      <a:lvl6pPr marL="539839" indent="0" algn="l" defTabSz="914128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ptos" panose="020B0504030202060203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917" indent="-228532" algn="l" defTabSz="914128" rtl="0" eaLnBrk="1" latinLnBrk="0" hangingPunct="1">
        <a:lnSpc>
          <a:spcPct val="90000"/>
        </a:lnSpc>
        <a:spcBef>
          <a:spcPts val="500"/>
        </a:spcBef>
        <a:buFont typeface="Aptos" panose="020B0504030202060203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80" indent="-228532" algn="l" defTabSz="914128" rtl="0" eaLnBrk="1" latinLnBrk="0" hangingPunct="1">
        <a:lnSpc>
          <a:spcPct val="90000"/>
        </a:lnSpc>
        <a:spcBef>
          <a:spcPts val="500"/>
        </a:spcBef>
        <a:buFont typeface="Aptos" panose="020B0504030202060203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45" indent="-228532" algn="l" defTabSz="914128" rtl="0" eaLnBrk="1" latinLnBrk="0" hangingPunct="1">
        <a:lnSpc>
          <a:spcPct val="90000"/>
        </a:lnSpc>
        <a:spcBef>
          <a:spcPts val="500"/>
        </a:spcBef>
        <a:buFont typeface="Aptos" panose="020B0504030202060203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4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8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92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6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20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84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9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13" algn="l" defTabSz="914128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8" pos="396">
          <p15:clr>
            <a:srgbClr val="5ACBF0"/>
          </p15:clr>
        </p15:guide>
        <p15:guide id="49" pos="565">
          <p15:clr>
            <a:srgbClr val="9FCC3B"/>
          </p15:clr>
        </p15:guide>
        <p15:guide id="50" pos="792">
          <p15:clr>
            <a:srgbClr val="A4A3A4"/>
          </p15:clr>
        </p15:guide>
        <p15:guide id="51" pos="960">
          <p15:clr>
            <a:srgbClr val="A4A3A4"/>
          </p15:clr>
        </p15:guide>
        <p15:guide id="52" pos="1187">
          <p15:clr>
            <a:srgbClr val="A4A3A4"/>
          </p15:clr>
        </p15:guide>
        <p15:guide id="53" pos="1355">
          <p15:clr>
            <a:srgbClr val="A4A3A4"/>
          </p15:clr>
        </p15:guide>
        <p15:guide id="54" pos="1582">
          <p15:clr>
            <a:srgbClr val="A4A3A4"/>
          </p15:clr>
        </p15:guide>
        <p15:guide id="55" pos="1750">
          <p15:clr>
            <a:srgbClr val="A4A3A4"/>
          </p15:clr>
        </p15:guide>
        <p15:guide id="56" pos="1977">
          <p15:clr>
            <a:srgbClr val="A4A3A4"/>
          </p15:clr>
        </p15:guide>
        <p15:guide id="57" pos="2145">
          <p15:clr>
            <a:srgbClr val="A4A3A4"/>
          </p15:clr>
        </p15:guide>
        <p15:guide id="58" pos="2372">
          <p15:clr>
            <a:srgbClr val="A4A3A4"/>
          </p15:clr>
        </p15:guide>
        <p15:guide id="59" pos="2541">
          <p15:clr>
            <a:srgbClr val="A4A3A4"/>
          </p15:clr>
        </p15:guide>
        <p15:guide id="60" pos="2767">
          <p15:clr>
            <a:srgbClr val="A4A3A4"/>
          </p15:clr>
        </p15:guide>
        <p15:guide id="61" pos="2936">
          <p15:clr>
            <a:srgbClr val="A4A3A4"/>
          </p15:clr>
        </p15:guide>
        <p15:guide id="62" pos="3163">
          <p15:clr>
            <a:srgbClr val="A4A3A4"/>
          </p15:clr>
        </p15:guide>
        <p15:guide id="63" pos="3331">
          <p15:clr>
            <a:srgbClr val="A4A3A4"/>
          </p15:clr>
        </p15:guide>
        <p15:guide id="64" pos="3558">
          <p15:clr>
            <a:srgbClr val="A4A3A4"/>
          </p15:clr>
        </p15:guide>
        <p15:guide id="65" pos="3726">
          <p15:clr>
            <a:srgbClr val="A4A3A4"/>
          </p15:clr>
        </p15:guide>
        <p15:guide id="66" pos="3953">
          <p15:clr>
            <a:srgbClr val="A4A3A4"/>
          </p15:clr>
        </p15:guide>
        <p15:guide id="67" pos="4121">
          <p15:clr>
            <a:srgbClr val="A4A3A4"/>
          </p15:clr>
        </p15:guide>
        <p15:guide id="68" pos="4348">
          <p15:clr>
            <a:srgbClr val="A4A3A4"/>
          </p15:clr>
        </p15:guide>
        <p15:guide id="69" pos="4516">
          <p15:clr>
            <a:srgbClr val="A4A3A4"/>
          </p15:clr>
        </p15:guide>
        <p15:guide id="70" pos="4743">
          <p15:clr>
            <a:srgbClr val="A4A3A4"/>
          </p15:clr>
        </p15:guide>
        <p15:guide id="71" pos="4912">
          <p15:clr>
            <a:srgbClr val="A4A3A4"/>
          </p15:clr>
        </p15:guide>
        <p15:guide id="72" pos="5138">
          <p15:clr>
            <a:srgbClr val="A4A3A4"/>
          </p15:clr>
        </p15:guide>
        <p15:guide id="73" pos="5307">
          <p15:clr>
            <a:srgbClr val="A4A3A4"/>
          </p15:clr>
        </p15:guide>
        <p15:guide id="74" pos="5534">
          <p15:clr>
            <a:srgbClr val="A4A3A4"/>
          </p15:clr>
        </p15:guide>
        <p15:guide id="75" pos="5702">
          <p15:clr>
            <a:srgbClr val="A4A3A4"/>
          </p15:clr>
        </p15:guide>
        <p15:guide id="76" pos="5929">
          <p15:clr>
            <a:srgbClr val="A4A3A4"/>
          </p15:clr>
        </p15:guide>
        <p15:guide id="77" pos="6097">
          <p15:clr>
            <a:srgbClr val="A4A3A4"/>
          </p15:clr>
        </p15:guide>
        <p15:guide id="78" pos="6324">
          <p15:clr>
            <a:srgbClr val="A4A3A4"/>
          </p15:clr>
        </p15:guide>
        <p15:guide id="79" pos="6492">
          <p15:clr>
            <a:srgbClr val="A4A3A4"/>
          </p15:clr>
        </p15:guide>
        <p15:guide id="80" pos="6719">
          <p15:clr>
            <a:srgbClr val="A4A3A4"/>
          </p15:clr>
        </p15:guide>
        <p15:guide id="81" pos="6887">
          <p15:clr>
            <a:srgbClr val="A4A3A4"/>
          </p15:clr>
        </p15:guide>
        <p15:guide id="82" pos="7114">
          <p15:clr>
            <a:srgbClr val="9FCC3B"/>
          </p15:clr>
        </p15:guide>
        <p15:guide id="83" pos="7283">
          <p15:clr>
            <a:srgbClr val="5ACBF0"/>
          </p15:clr>
        </p15:guide>
        <p15:guide id="84" orient="horz" pos="567">
          <p15:clr>
            <a:srgbClr val="9FCC3B"/>
          </p15:clr>
        </p15:guide>
        <p15:guide id="85" orient="horz" pos="4134">
          <p15:clr>
            <a:srgbClr val="F26B43"/>
          </p15:clr>
        </p15:guide>
        <p15:guide id="86" orient="horz" pos="283">
          <p15:clr>
            <a:srgbClr val="5ACBF0"/>
          </p15:clr>
        </p15:guide>
        <p15:guide id="87" orient="horz" pos="3754">
          <p15:clr>
            <a:srgbClr val="9FCC3B"/>
          </p15:clr>
        </p15:guide>
        <p15:guide id="88" orient="horz" pos="1178">
          <p15:clr>
            <a:srgbClr val="A4A3A4"/>
          </p15:clr>
        </p15:guide>
        <p15:guide id="89" orient="horz" pos="3491">
          <p15:clr>
            <a:srgbClr val="A4A3A4"/>
          </p15:clr>
        </p15:guide>
        <p15:guide id="90" orient="horz" pos="1076">
          <p15:clr>
            <a:srgbClr val="A4A3A4"/>
          </p15:clr>
        </p15:guide>
        <p15:guide id="91" orient="horz" pos="3944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10002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Aptos"/>
              </a:rPr>
              <a:t>ARR grows 22–25% by FY30, </a:t>
            </a:r>
            <a:r>
              <a:rPr sz="2800" b="1">
                <a:solidFill>
                  <a:srgbClr val="5F1EBE"/>
                </a:solidFill>
                <a:latin typeface="Aptos"/>
              </a:rPr>
              <a:t>driven by IP monetization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24128"/>
            <a:ext cx="1100023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8291A0"/>
                </a:solidFill>
                <a:latin typeface="Aptos"/>
              </a:rPr>
              <a:t>Resource ARR holds as a stable base while the Platform IP layer compounds from FY27.</a:t>
            </a:r>
          </a:p>
        </p:txBody>
      </p:sp>
      <p:sp>
        <p:nvSpPr>
          <p:cNvPr id="4" name="Freeform 3"/>
          <p:cNvSpPr/>
          <p:nvPr/>
        </p:nvSpPr>
        <p:spPr>
          <a:xfrm>
            <a:off x="1051560" y="5760720"/>
            <a:ext cx="8366760" cy="0"/>
          </a:xfrm>
          <a:custGeom>
            <a:avLst/>
            <a:gdLst/>
            <a:ahLst/>
            <a:cxnLst/>
            <a:rect l="l" t="t" r="r" b="b"/>
            <a:pathLst>
              <a:path w="8366760" h="0">
                <a:moveTo>
                  <a:pt x="0" y="0"/>
                </a:moveTo>
                <a:lnTo>
                  <a:pt x="8366760" y="0"/>
                </a:lnTo>
              </a:path>
            </a:pathLst>
          </a:custGeom>
          <a:noFill/>
          <a:ln w="12700">
            <a:solidFill>
              <a:srgbClr val="C8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66443" y="4206240"/>
            <a:ext cx="960120" cy="1554480"/>
          </a:xfrm>
          <a:prstGeom prst="rect">
            <a:avLst/>
          </a:prstGeom>
          <a:solidFill>
            <a:srgbClr val="411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660903" y="3989421"/>
            <a:ext cx="960120" cy="216818"/>
          </a:xfrm>
          <a:prstGeom prst="rect">
            <a:avLst/>
          </a:prstGeom>
          <a:solidFill>
            <a:srgbClr val="8C6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60903" y="371510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5F1EBE"/>
                </a:solidFill>
                <a:latin typeface="Aptos"/>
              </a:rPr>
              <a:t>+2.5%</a:t>
            </a:r>
          </a:p>
        </p:txBody>
      </p:sp>
      <p:sp>
        <p:nvSpPr>
          <p:cNvPr id="8" name="Freeform 7"/>
          <p:cNvSpPr/>
          <p:nvPr/>
        </p:nvSpPr>
        <p:spPr>
          <a:xfrm>
            <a:off x="2226564" y="4206240"/>
            <a:ext cx="434340" cy="0"/>
          </a:xfrm>
          <a:custGeom>
            <a:avLst/>
            <a:gdLst/>
            <a:ahLst/>
            <a:cxnLst/>
            <a:rect l="l" t="t" r="r" b="b"/>
            <a:pathLst>
              <a:path w="434340" h="0">
                <a:moveTo>
                  <a:pt x="0" y="0"/>
                </a:moveTo>
                <a:lnTo>
                  <a:pt x="434340" y="0"/>
                </a:lnTo>
              </a:path>
            </a:pathLst>
          </a:custGeom>
          <a:noFill/>
          <a:ln w="9525">
            <a:solidFill>
              <a:srgbClr val="A5AFB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055363" y="3633839"/>
            <a:ext cx="960120" cy="355582"/>
          </a:xfrm>
          <a:prstGeom prst="rect">
            <a:avLst/>
          </a:prstGeom>
          <a:solidFill>
            <a:srgbClr val="8C6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55363" y="3359519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5F1EBE"/>
                </a:solidFill>
                <a:latin typeface="Aptos"/>
              </a:rPr>
              <a:t>+4.0%</a:t>
            </a:r>
          </a:p>
        </p:txBody>
      </p:sp>
      <p:sp>
        <p:nvSpPr>
          <p:cNvPr id="11" name="Freeform 10"/>
          <p:cNvSpPr/>
          <p:nvPr/>
        </p:nvSpPr>
        <p:spPr>
          <a:xfrm>
            <a:off x="3621023" y="3989421"/>
            <a:ext cx="434340" cy="0"/>
          </a:xfrm>
          <a:custGeom>
            <a:avLst/>
            <a:gdLst/>
            <a:ahLst/>
            <a:cxnLst/>
            <a:rect l="l" t="t" r="r" b="b"/>
            <a:pathLst>
              <a:path w="434340" h="0">
                <a:moveTo>
                  <a:pt x="0" y="0"/>
                </a:moveTo>
                <a:lnTo>
                  <a:pt x="434340" y="0"/>
                </a:lnTo>
              </a:path>
            </a:pathLst>
          </a:custGeom>
          <a:noFill/>
          <a:ln w="9525">
            <a:solidFill>
              <a:srgbClr val="A5AFB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49823" y="3079131"/>
            <a:ext cx="960120" cy="554708"/>
          </a:xfrm>
          <a:prstGeom prst="rect">
            <a:avLst/>
          </a:prstGeom>
          <a:solidFill>
            <a:srgbClr val="8C6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9823" y="280481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5F1EBE"/>
                </a:solidFill>
                <a:latin typeface="Aptos"/>
              </a:rPr>
              <a:t>+6.0%</a:t>
            </a:r>
          </a:p>
        </p:txBody>
      </p:sp>
      <p:sp>
        <p:nvSpPr>
          <p:cNvPr id="14" name="Freeform 13"/>
          <p:cNvSpPr/>
          <p:nvPr/>
        </p:nvSpPr>
        <p:spPr>
          <a:xfrm>
            <a:off x="5015484" y="3633839"/>
            <a:ext cx="434340" cy="0"/>
          </a:xfrm>
          <a:custGeom>
            <a:avLst/>
            <a:gdLst/>
            <a:ahLst/>
            <a:cxnLst/>
            <a:rect l="l" t="t" r="r" b="b"/>
            <a:pathLst>
              <a:path w="434340" h="0">
                <a:moveTo>
                  <a:pt x="0" y="0"/>
                </a:moveTo>
                <a:lnTo>
                  <a:pt x="434340" y="0"/>
                </a:lnTo>
              </a:path>
            </a:pathLst>
          </a:custGeom>
          <a:noFill/>
          <a:ln w="9525">
            <a:solidFill>
              <a:srgbClr val="A5AFB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44283" y="2295144"/>
            <a:ext cx="960120" cy="783987"/>
          </a:xfrm>
          <a:prstGeom prst="rect">
            <a:avLst/>
          </a:prstGeom>
          <a:solidFill>
            <a:srgbClr val="8C6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44283" y="2020824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5F1EBE"/>
                </a:solidFill>
                <a:latin typeface="Aptos"/>
              </a:rPr>
              <a:t>+8.0%</a:t>
            </a:r>
          </a:p>
        </p:txBody>
      </p:sp>
      <p:sp>
        <p:nvSpPr>
          <p:cNvPr id="17" name="Freeform 16"/>
          <p:cNvSpPr/>
          <p:nvPr/>
        </p:nvSpPr>
        <p:spPr>
          <a:xfrm>
            <a:off x="6409944" y="3079131"/>
            <a:ext cx="434339" cy="0"/>
          </a:xfrm>
          <a:custGeom>
            <a:avLst/>
            <a:gdLst/>
            <a:ahLst/>
            <a:cxnLst/>
            <a:rect l="l" t="t" r="r" b="b"/>
            <a:pathLst>
              <a:path w="434339" h="0">
                <a:moveTo>
                  <a:pt x="0" y="0"/>
                </a:moveTo>
                <a:lnTo>
                  <a:pt x="434339" y="0"/>
                </a:lnTo>
              </a:path>
            </a:pathLst>
          </a:custGeom>
          <a:noFill/>
          <a:ln w="9525">
            <a:solidFill>
              <a:srgbClr val="A5AFB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38744" y="4206240"/>
            <a:ext cx="960120" cy="1554480"/>
          </a:xfrm>
          <a:prstGeom prst="rect">
            <a:avLst/>
          </a:prstGeom>
          <a:solidFill>
            <a:srgbClr val="411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38744" y="2295144"/>
            <a:ext cx="960120" cy="1911095"/>
          </a:xfrm>
          <a:prstGeom prst="rect">
            <a:avLst/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7804404" y="2295144"/>
            <a:ext cx="434340" cy="0"/>
          </a:xfrm>
          <a:custGeom>
            <a:avLst/>
            <a:gdLst/>
            <a:ahLst/>
            <a:cxnLst/>
            <a:rect l="l" t="t" r="r" b="b"/>
            <a:pathLst>
              <a:path w="434340" h="0">
                <a:moveTo>
                  <a:pt x="0" y="0"/>
                </a:moveTo>
                <a:lnTo>
                  <a:pt x="434340" y="0"/>
                </a:lnTo>
              </a:path>
            </a:pathLst>
          </a:custGeom>
          <a:noFill/>
          <a:ln w="9525">
            <a:solidFill>
              <a:srgbClr val="A5AFB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66443" y="5888736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Aptos"/>
              </a:rPr>
              <a:t>FY26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60903" y="5888736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Aptos"/>
              </a:rPr>
              <a:t>FY27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55363" y="5888736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Aptos"/>
              </a:rPr>
              <a:t>FY28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9823" y="5888736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Aptos"/>
              </a:rPr>
              <a:t>FY29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44283" y="5888736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Aptos"/>
              </a:rPr>
              <a:t>FY30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38744" y="5888736"/>
            <a:ext cx="9601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Aptos"/>
              </a:rPr>
              <a:t>FY30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Aptos"/>
              </a:rPr>
              <a:t>TOTAL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7863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A5AFBE"/>
                </a:solidFill>
                <a:latin typeface="Aptos"/>
              </a:rPr>
              <a:t>Indexed to FY26 = 100. Year-on-year growth compounds to +22%; the growth layer is scaled for legibility.</a:t>
            </a:r>
          </a:p>
        </p:txBody>
      </p:sp>
      <p:sp>
        <p:nvSpPr>
          <p:cNvPr id="28" name="Freeform 27"/>
          <p:cNvSpPr/>
          <p:nvPr/>
        </p:nvSpPr>
        <p:spPr>
          <a:xfrm>
            <a:off x="1389888" y="1719072"/>
            <a:ext cx="7571232" cy="2322576"/>
          </a:xfrm>
          <a:custGeom>
            <a:avLst/>
            <a:gdLst/>
            <a:ahLst/>
            <a:cxnLst/>
            <a:rect l="l" t="t" r="r" b="b"/>
            <a:pathLst>
              <a:path w="7571232" h="2322576">
                <a:moveTo>
                  <a:pt x="0" y="2322576"/>
                </a:moveTo>
                <a:lnTo>
                  <a:pt x="0" y="0"/>
                </a:lnTo>
                <a:lnTo>
                  <a:pt x="7571232" y="0"/>
                </a:lnTo>
                <a:lnTo>
                  <a:pt x="7571232" y="475488"/>
                </a:lnTo>
              </a:path>
            </a:pathLst>
          </a:custGeom>
          <a:noFill/>
          <a:ln w="15875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8892540" y="2187702"/>
            <a:ext cx="137160" cy="61722"/>
          </a:xfrm>
          <a:custGeom>
            <a:avLst/>
            <a:gdLst/>
            <a:ahLst/>
            <a:cxnLst/>
            <a:rect l="l" t="t" r="r" b="b"/>
            <a:pathLst>
              <a:path w="137160" h="61722">
                <a:moveTo>
                  <a:pt x="0" y="0"/>
                </a:moveTo>
                <a:lnTo>
                  <a:pt x="68580" y="61722"/>
                </a:lnTo>
                <a:lnTo>
                  <a:pt x="137160" y="0"/>
                </a:lnTo>
                <a:close/>
              </a:path>
            </a:pathLst>
          </a:custGeom>
          <a:solidFill>
            <a:srgbClr val="5F1EBE"/>
          </a:solidFill>
          <a:ln w="15240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590288" y="1426464"/>
            <a:ext cx="3017520" cy="5852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1700" b="1">
                <a:solidFill>
                  <a:srgbClr val="5F1EBE"/>
                </a:solidFill>
                <a:latin typeface="Aptos"/>
              </a:rPr>
              <a:t>+22% – 25%</a:t>
            </a:r>
          </a:p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900" b="1">
                <a:solidFill>
                  <a:srgbClr val="8291A0"/>
                </a:solidFill>
                <a:latin typeface="Aptos"/>
              </a:rPr>
              <a:t>INCREASE (FY26 TO FY30)</a:t>
            </a:r>
          </a:p>
        </p:txBody>
      </p:sp>
      <p:sp>
        <p:nvSpPr>
          <p:cNvPr id="31" name="Freeform 30"/>
          <p:cNvSpPr/>
          <p:nvPr/>
        </p:nvSpPr>
        <p:spPr>
          <a:xfrm>
            <a:off x="9454896" y="2295144"/>
            <a:ext cx="0" cy="1911096"/>
          </a:xfrm>
          <a:custGeom>
            <a:avLst/>
            <a:gdLst/>
            <a:ahLst/>
            <a:cxnLst/>
            <a:rect l="l" t="t" r="r" b="b"/>
            <a:pathLst>
              <a:path w="0" h="1911096">
                <a:moveTo>
                  <a:pt x="0" y="0"/>
                </a:moveTo>
                <a:lnTo>
                  <a:pt x="0" y="1911096"/>
                </a:lnTo>
              </a:path>
            </a:pathLst>
          </a:custGeom>
          <a:noFill/>
          <a:ln w="12700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9454896" y="2295144"/>
            <a:ext cx="91440" cy="0"/>
          </a:xfrm>
          <a:custGeom>
            <a:avLst/>
            <a:gdLst/>
            <a:ahLst/>
            <a:cxnLst/>
            <a:rect l="l" t="t" r="r" b="b"/>
            <a:pathLst>
              <a:path w="91440" h="0">
                <a:moveTo>
                  <a:pt x="0" y="0"/>
                </a:moveTo>
                <a:lnTo>
                  <a:pt x="91440" y="0"/>
                </a:lnTo>
              </a:path>
            </a:pathLst>
          </a:custGeom>
          <a:noFill/>
          <a:ln w="12700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9454896" y="4206240"/>
            <a:ext cx="91440" cy="0"/>
          </a:xfrm>
          <a:custGeom>
            <a:avLst/>
            <a:gdLst/>
            <a:ahLst/>
            <a:cxnLst/>
            <a:rect l="l" t="t" r="r" b="b"/>
            <a:pathLst>
              <a:path w="91440" h="0">
                <a:moveTo>
                  <a:pt x="0" y="0"/>
                </a:moveTo>
                <a:lnTo>
                  <a:pt x="91440" y="0"/>
                </a:lnTo>
              </a:path>
            </a:pathLst>
          </a:custGeom>
          <a:noFill/>
          <a:ln w="12700">
            <a:solidFill>
              <a:srgbClr val="5F1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637776" y="3031235"/>
            <a:ext cx="438912" cy="438912"/>
          </a:xfrm>
          <a:prstGeom prst="ellipse">
            <a:avLst/>
          </a:prstGeom>
          <a:solidFill>
            <a:srgbClr val="5F1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Cube 34"/>
          <p:cNvSpPr/>
          <p:nvPr/>
        </p:nvSpPr>
        <p:spPr>
          <a:xfrm>
            <a:off x="9757379" y="3150839"/>
            <a:ext cx="199704" cy="199704"/>
          </a:xfrm>
          <a:prstGeom prst="cube">
            <a:avLst/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186416" y="2866644"/>
            <a:ext cx="16824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5F1EBE"/>
                </a:solidFill>
                <a:latin typeface="Aptos"/>
              </a:rPr>
              <a:t>Platform IP Revenue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86416" y="3122675"/>
            <a:ext cx="168249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8291A0"/>
                </a:solidFill>
                <a:latin typeface="Aptos"/>
              </a:rPr>
              <a:t>New revenue layer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8291A0"/>
                </a:solidFill>
                <a:latin typeface="Aptos"/>
              </a:rPr>
              <a:t>from IP monetization</a:t>
            </a:r>
          </a:p>
        </p:txBody>
      </p:sp>
      <p:sp>
        <p:nvSpPr>
          <p:cNvPr id="38" name="Freeform 37"/>
          <p:cNvSpPr/>
          <p:nvPr/>
        </p:nvSpPr>
        <p:spPr>
          <a:xfrm>
            <a:off x="9454896" y="4206240"/>
            <a:ext cx="0" cy="1554480"/>
          </a:xfrm>
          <a:custGeom>
            <a:avLst/>
            <a:gdLst/>
            <a:ahLst/>
            <a:cxnLst/>
            <a:rect l="l" t="t" r="r" b="b"/>
            <a:pathLst>
              <a:path w="0" h="1554480">
                <a:moveTo>
                  <a:pt x="0" y="0"/>
                </a:moveTo>
                <a:lnTo>
                  <a:pt x="0" y="1554480"/>
                </a:lnTo>
              </a:path>
            </a:pathLst>
          </a:custGeom>
          <a:noFill/>
          <a:ln w="12700">
            <a:solidFill>
              <a:srgbClr val="411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9454896" y="4206240"/>
            <a:ext cx="91440" cy="0"/>
          </a:xfrm>
          <a:custGeom>
            <a:avLst/>
            <a:gdLst/>
            <a:ahLst/>
            <a:cxnLst/>
            <a:rect l="l" t="t" r="r" b="b"/>
            <a:pathLst>
              <a:path w="91440" h="0">
                <a:moveTo>
                  <a:pt x="0" y="0"/>
                </a:moveTo>
                <a:lnTo>
                  <a:pt x="91440" y="0"/>
                </a:lnTo>
              </a:path>
            </a:pathLst>
          </a:custGeom>
          <a:noFill/>
          <a:ln w="12700">
            <a:solidFill>
              <a:srgbClr val="411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9454896" y="5760720"/>
            <a:ext cx="91440" cy="0"/>
          </a:xfrm>
          <a:custGeom>
            <a:avLst/>
            <a:gdLst/>
            <a:ahLst/>
            <a:cxnLst/>
            <a:rect l="l" t="t" r="r" b="b"/>
            <a:pathLst>
              <a:path w="91440" h="0">
                <a:moveTo>
                  <a:pt x="0" y="0"/>
                </a:moveTo>
                <a:lnTo>
                  <a:pt x="91440" y="0"/>
                </a:lnTo>
              </a:path>
            </a:pathLst>
          </a:custGeom>
          <a:noFill/>
          <a:ln w="12700">
            <a:solidFill>
              <a:srgbClr val="411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637776" y="4764023"/>
            <a:ext cx="438912" cy="438912"/>
          </a:xfrm>
          <a:prstGeom prst="ellipse">
            <a:avLst/>
          </a:prstGeom>
          <a:solidFill>
            <a:srgbClr val="411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766889" y="4878872"/>
            <a:ext cx="180685" cy="66568"/>
          </a:xfrm>
          <a:prstGeom prst="ellipse">
            <a:avLst/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766889" y="4954950"/>
            <a:ext cx="180685" cy="66568"/>
          </a:xfrm>
          <a:prstGeom prst="ellipse">
            <a:avLst/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766889" y="5031028"/>
            <a:ext cx="180685" cy="66568"/>
          </a:xfrm>
          <a:prstGeom prst="ellipse">
            <a:avLst/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186416" y="4599431"/>
            <a:ext cx="16824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411482"/>
                </a:solidFill>
                <a:latin typeface="Aptos"/>
              </a:rPr>
              <a:t>Resource ARR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86416" y="4855464"/>
            <a:ext cx="168249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8291A0"/>
                </a:solidFill>
                <a:latin typeface="Aptos"/>
              </a:rPr>
              <a:t>Stable base from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8291A0"/>
                </a:solidFill>
                <a:latin typeface="Aptos"/>
              </a:rPr>
              <a:t>existing operations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HCLTech Theme 4.1">
  <a:themeElements>
    <a:clrScheme name="HCLTech">
      <a:dk1>
        <a:srgbClr val="000000"/>
      </a:dk1>
      <a:lt1>
        <a:srgbClr val="FFFFFF"/>
      </a:lt1>
      <a:dk2>
        <a:srgbClr val="5F1EBE"/>
      </a:dk2>
      <a:lt2>
        <a:srgbClr val="411482"/>
      </a:lt2>
      <a:accent1>
        <a:srgbClr val="8C69F0"/>
      </a:accent1>
      <a:accent2>
        <a:srgbClr val="B9C8FF"/>
      </a:accent2>
      <a:accent3>
        <a:srgbClr val="0F5FDC"/>
      </a:accent3>
      <a:accent4>
        <a:srgbClr val="3C91FF"/>
      </a:accent4>
      <a:accent5>
        <a:srgbClr val="8CC8FA"/>
      </a:accent5>
      <a:accent6>
        <a:srgbClr val="DCE6F0"/>
      </a:accent6>
      <a:hlink>
        <a:srgbClr val="0F5FDC"/>
      </a:hlink>
      <a:folHlink>
        <a:srgbClr val="292929"/>
      </a:folHlink>
    </a:clrScheme>
    <a:fontScheme name="Aptos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6EBF5"/>
        </a:solidFill>
        <a:ln>
          <a:noFill/>
        </a:ln>
      </a:spPr>
      <a:bodyPr lIns="288000" tIns="252000" rIns="288000" bIns="288000" rtlCol="0" anchor="t" anchorCtr="0"/>
      <a:lstStyle>
        <a:defPPr algn="l">
          <a:defRPr dirty="0" err="1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rgbClr val="C8D2DD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dirty="0" err="1" smtClean="0">
            <a:solidFill>
              <a:schemeClr val="tx1"/>
            </a:solidFill>
          </a:defRPr>
        </a:defPPr>
      </a:lstStyle>
    </a:txDef>
  </a:objectDefaults>
  <a:extraClrSchemeLst/>
  <a:custClrLst>
    <a:custClr name="Dark Teal">
      <a:srgbClr val="007873"/>
    </a:custClr>
    <a:custClr name="Teal">
      <a:srgbClr val="4BC3AF"/>
    </a:custClr>
    <a:custClr name="Teal 80% Tint">
      <a:srgbClr val="6FCFBF"/>
    </a:custClr>
    <a:custClr name="Light Teal">
      <a:srgbClr val="A5E6DC"/>
    </a:custClr>
    <a:custClr name="Dark green">
      <a:srgbClr val="0FA069"/>
    </a:custClr>
    <a:custClr name="Green">
      <a:srgbClr val="82DC73"/>
    </a:custClr>
    <a:custClr name="Green 80% Tint">
      <a:srgbClr val="9BE38F"/>
    </a:custClr>
    <a:custClr name="Light Green">
      <a:srgbClr val="BEEBB4"/>
    </a:custClr>
    <a:custClr name="Dark Yellow">
      <a:srgbClr val="C8870A"/>
    </a:custClr>
    <a:custClr name="Yellow">
      <a:srgbClr val="FFCD41"/>
    </a:custClr>
    <a:custClr name="Yellow 80% Tint">
      <a:srgbClr val="FFD767"/>
    </a:custClr>
    <a:custClr name="Light Yellow">
      <a:srgbClr val="FFECC7"/>
    </a:custClr>
    <a:custClr name="Dark Coral">
      <a:srgbClr val="C3325F"/>
    </a:custClr>
    <a:custClr name="Coral">
      <a:srgbClr val="FF789B"/>
    </a:custClr>
    <a:custClr name="Coral 80% Tint">
      <a:srgbClr val="FF93AF"/>
    </a:custClr>
    <a:custClr name="Light Coral">
      <a:srgbClr val="FFBED7"/>
    </a:custClr>
    <a:custClr name="Bronze">
      <a:srgbClr val="D7BEB4"/>
    </a:custClr>
    <a:custClr name="Cream">
      <a:srgbClr val="FAF0E6"/>
    </a:custClr>
    <a:custClr name="Grey 1">
      <a:srgbClr val="8291A0"/>
    </a:custClr>
    <a:custClr name="Grey 2">
      <a:srgbClr val="A5AFBE"/>
    </a:custClr>
    <a:custClr name="Grey 3">
      <a:srgbClr val="C8D2DD"/>
    </a:custClr>
    <a:custClr name="Grey 4">
      <a:srgbClr val="E6EBF5"/>
    </a:custClr>
  </a:custClrLst>
  <a:extLst>
    <a:ext uri="{05A4C25C-085E-4340-85A3-A5531E510DB2}">
      <thm15:themeFamily xmlns:thm15="http://schemas.microsoft.com/office/thememl/2012/main" name="Essential Version 4.1.potx" id="{348EEFF9-F705-4BDC-9AF7-D3FA7C421DF6}" vid="{8CF5B234-82B5-43E0-82FB-4C124FBCA6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490</Words>
  <Application>Microsoft Office PowerPoint</Application>
  <PresentationFormat>Widescreen</PresentationFormat>
  <Paragraphs>56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Aptos</vt:lpstr>
      <vt:lpstr>Aptos Light</vt:lpstr>
      <vt:lpstr>Arial</vt:lpstr>
      <vt:lpstr>Calibri</vt:lpstr>
      <vt:lpstr>Aptos</vt:lpstr>
      <vt:lpstr>Aptos Display</vt:lpstr>
      <vt:lpstr>Aptos Light</vt:lpstr>
      <vt:lpstr>1_HCLTech Theme 4.1</vt:lpstr>
      <vt:lpstr>CFO Operations Landscape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Rathish s</dc:creator>
  <cp:lastModifiedBy>Rathish s</cp:lastModifiedBy>
  <cp:revision>1</cp:revision>
  <dcterms:created xsi:type="dcterms:W3CDTF">2026-04-24T04:45:14Z</dcterms:created>
  <dcterms:modified xsi:type="dcterms:W3CDTF">2026-04-24T04:52:42Z</dcterms:modified>
</cp:coreProperties>
</file>