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"/>
  </p:notesMasterIdLst>
  <p:sldIdLst>
    <p:sldId id="256" r:id="rId2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4660"/>
  </p:normalViewPr>
  <p:slideViewPr>
    <p:cSldViewPr snapToGrid="0">
      <p:cViewPr varScale="1">
        <p:scale>
          <a:sx n="109" d="100"/>
          <a:sy n="109" d="100"/>
        </p:scale>
        <p:origin x="600" y="6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75EA7A6-9703-439D-9860-421146C0496A}" type="datetimeFigureOut">
              <a:rPr lang="en-IN" smtClean="0"/>
              <a:t>24-04-2026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E63207D-A882-40A9-8398-32F59628DE6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404509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">
            <a:extLst>
              <a:ext uri="{FF2B5EF4-FFF2-40B4-BE49-F238E27FC236}">
                <a16:creationId xmlns:a16="http://schemas.microsoft.com/office/drawing/2014/main" id="{278AF907-FBDC-E9F2-B1FF-D09E00F1B9B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093843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7" Type="http://schemas.openxmlformats.org/officeDocument/2006/relationships/slideLayout" Target="../slideLayouts/slideLayout17.xml"/><Relationship Id="rId1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B7C2F9B-1B75-1D6F-DECD-AA527616B1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3166" y="421200"/>
            <a:ext cx="10968598" cy="523220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9EB0A9-F700-84AF-0327-18A8494812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5017" y="1812555"/>
            <a:ext cx="10946748" cy="414692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First level: Subhead</a:t>
            </a:r>
          </a:p>
          <a:p>
            <a:pPr lvl="1"/>
            <a:r>
              <a:rPr lang="en-US"/>
              <a:t>Second level: Body text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  <p:grpSp>
        <p:nvGrpSpPr>
          <p:cNvPr id="68" name="Columns Guides" hidden="1">
            <a:extLst>
              <a:ext uri="{FF2B5EF4-FFF2-40B4-BE49-F238E27FC236}">
                <a16:creationId xmlns:a16="http://schemas.microsoft.com/office/drawing/2014/main" id="{EFAC4366-2CF4-C5A9-31A8-6F9DECFE4E25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628651" y="-482750"/>
            <a:ext cx="10934825" cy="270781"/>
            <a:chOff x="628650" y="-708661"/>
            <a:chExt cx="10934825" cy="270781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8C7F93F2-F654-4332-F215-0A3B672F9D7F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628650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1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0F056A12-0E3D-624F-504F-6DE97A67C97C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1255993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2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250B3FC0-A1BF-DD01-AC83-56CAA0EAB3D3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1883336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3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02DC71EE-0C0B-F54C-6A2D-EDCE55842B9B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2510679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4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4910EEB-33EE-2A8B-7882-314F27D7F2DE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3138022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5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24A08A2A-900E-CD04-5544-124CB7F0B3AA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3765365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6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09FFA843-DF76-CE08-0766-D60499CC3323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4392708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7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093CBA17-0C95-42F3-A32C-8AFA9996B9D3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5020051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8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45F1624C-8BDC-798E-28B2-AA590ADC47E8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5647394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9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EE6ACB19-6D3E-4F02-F268-97E802E82F44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6274737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10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4DE60CBC-8DDE-BC59-3E28-7D81EB0362DE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6902080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11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64382D73-6C2A-3D3F-14DA-9EC80E156047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7529423" y="-708661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12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A4B3B06D-B96D-49CC-81E4-D15E316CB618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8156766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13</a:t>
              </a: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EE64E8E0-1325-6F0E-8900-F6E6306C6D4C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8784109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14</a:t>
              </a:r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380BEEB7-FB77-E0B7-234E-F1C3D62D9348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9411452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15</a:t>
              </a:r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4E8BFEF6-B6D0-D3B6-938B-FEBFD244E001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10038795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16</a:t>
              </a:r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A7113FA8-AE40-F16B-F5B6-020A3E94EC87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10666138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17</a:t>
              </a:r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58A9647F-C0C5-B3CF-7646-72E25BE02F6C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11293475" y="-708661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18</a:t>
              </a:r>
            </a:p>
          </p:txBody>
        </p:sp>
      </p:grpSp>
      <p:sp>
        <p:nvSpPr>
          <p:cNvPr id="32" name="Slide Number Placeholder 1">
            <a:extLst>
              <a:ext uri="{FF2B5EF4-FFF2-40B4-BE49-F238E27FC236}">
                <a16:creationId xmlns:a16="http://schemas.microsoft.com/office/drawing/2014/main" id="{B62F0297-57AD-07EC-451E-0DBDD282712E}"/>
              </a:ext>
            </a:extLst>
          </p:cNvPr>
          <p:cNvSpPr txBox="1">
            <a:spLocks/>
          </p:cNvSpPr>
          <p:nvPr userDrawn="1"/>
        </p:nvSpPr>
        <p:spPr>
          <a:xfrm>
            <a:off x="410261" y="6465601"/>
            <a:ext cx="183187" cy="123111"/>
          </a:xfrm>
          <a:prstGeom prst="rect">
            <a:avLst/>
          </a:prstGeom>
        </p:spPr>
        <p:txBody>
          <a:bodyPr lIns="0" tIns="46788" rIns="0" anchor="ctr"/>
          <a:lstStyle>
            <a:defPPr>
              <a:defRPr lang="en-US"/>
            </a:defPPr>
            <a:lvl1pPr marL="0" algn="l" defTabSz="914400" rtl="0" eaLnBrk="1" latinLnBrk="0" hangingPunct="1">
              <a:spcBef>
                <a:spcPts val="1800"/>
              </a:spcBef>
              <a:spcAft>
                <a:spcPts val="900"/>
              </a:spcAft>
              <a:defRPr sz="2000" dirty="0">
                <a:latin typeface="+mj-lt"/>
                <a:ea typeface="+mn-ea"/>
                <a:cs typeface="+mn-cs"/>
              </a:defRPr>
            </a:lvl1pPr>
            <a:lvl2pPr marL="0" algn="l" defTabSz="914400" rtl="0" eaLnBrk="1" latinLnBrk="0" hangingPunct="1">
              <a:spcAft>
                <a:spcPts val="1200"/>
              </a:spcAft>
              <a:defRPr sz="1600" dirty="0">
                <a:latin typeface="+mn-lt"/>
                <a:ea typeface="+mn-ea"/>
                <a:cs typeface="+mn-cs"/>
              </a:defRPr>
            </a:lvl2pPr>
            <a:lvl3pPr marL="180000" indent="-180000" algn="l" rtl="0" eaLnBrk="1" latinLnBrk="0" hangingPunct="1">
              <a:spcAft>
                <a:spcPts val="900"/>
              </a:spcAft>
              <a:buFont typeface="Aptos" panose="020B0504030202060203" pitchFamily="34" charset="0"/>
              <a:buChar char="•"/>
              <a:defRPr sz="1600" dirty="0">
                <a:latin typeface="+mn-lt"/>
                <a:ea typeface="+mn-ea"/>
                <a:cs typeface="+mn-cs"/>
              </a:defRPr>
            </a:lvl3pPr>
            <a:lvl4pPr marL="360000" indent="-180000" algn="l" defTabSz="914400" rtl="0" eaLnBrk="1" latinLnBrk="0" hangingPunct="1">
              <a:spcAft>
                <a:spcPts val="600"/>
              </a:spcAft>
              <a:buFont typeface="Aptos" panose="020B0504030202060203" pitchFamily="34" charset="0"/>
              <a:buChar char="–"/>
              <a:defRPr sz="1400" dirty="0">
                <a:latin typeface="+mn-lt"/>
                <a:ea typeface="+mn-ea"/>
                <a:cs typeface="+mn-cs"/>
              </a:defRPr>
            </a:lvl4pPr>
            <a:lvl5pPr marL="540000" indent="-180000" rtl="0" eaLnBrk="1" latinLnBrk="0" hangingPunct="1">
              <a:spcAft>
                <a:spcPts val="600"/>
              </a:spcAft>
              <a:buFont typeface="Aptos" panose="020B0504030202060203" pitchFamily="34" charset="0"/>
              <a:buChar char="•"/>
              <a:defRPr sz="1400" dirty="0">
                <a:latin typeface="+mn-lt"/>
                <a:ea typeface="+mn-ea"/>
                <a:cs typeface="+mn-cs"/>
              </a:defRPr>
            </a:lvl5pPr>
            <a:lvl6pPr marL="540000" algn="l" defTabSz="914400" rtl="0" eaLnBrk="1" latinLnBrk="0" hangingPunct="1">
              <a:spcBef>
                <a:spcPts val="600"/>
              </a:spcBef>
              <a:spcAft>
                <a:spcPts val="600"/>
              </a:spcAft>
              <a:defRPr sz="1200" dirty="0">
                <a:latin typeface="+mn-lt"/>
                <a:ea typeface="+mn-ea"/>
                <a:cs typeface="+mn-cs"/>
              </a:defRPr>
            </a:lvl6pPr>
          </a:lstStyle>
          <a:p>
            <a:pPr algn="ctr"/>
            <a:fld id="{570547DA-62F2-46FF-A67E-24DBD4865419}" type="slidenum"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</a:rPr>
              <a:pPr algn="ctr"/>
              <a:t>‹#›</a:t>
            </a:fld>
            <a:endParaRPr lang="en-US" sz="800">
              <a:solidFill>
                <a:schemeClr val="tx1">
                  <a:lumMod val="50000"/>
                  <a:lumOff val="50000"/>
                </a:schemeClr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0115796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7" r:id="rId17"/>
  </p:sldLayoutIdLst>
  <p:hf hdr="0" dt="0"/>
  <p:txStyles>
    <p:titleStyle>
      <a:lvl1pPr algn="l" defTabSz="914128" rtl="0" eaLnBrk="1" latinLnBrk="0" hangingPunct="1">
        <a:lnSpc>
          <a:spcPct val="85000"/>
        </a:lnSpc>
        <a:spcBef>
          <a:spcPct val="0"/>
        </a:spcBef>
        <a:buNone/>
        <a:defRPr sz="3999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128" rtl="0" eaLnBrk="1" latinLnBrk="0" hangingPunct="1">
        <a:lnSpc>
          <a:spcPct val="100000"/>
        </a:lnSpc>
        <a:spcBef>
          <a:spcPts val="1799"/>
        </a:spcBef>
        <a:spcAft>
          <a:spcPts val="900"/>
        </a:spcAft>
        <a:buFont typeface="Aptos" panose="020B0504030202060203" pitchFamily="34" charset="0"/>
        <a:buNone/>
        <a:defRPr sz="1999" b="1" kern="1200">
          <a:solidFill>
            <a:schemeClr val="tx1"/>
          </a:solidFill>
          <a:latin typeface="+mj-lt"/>
          <a:ea typeface="+mn-ea"/>
          <a:cs typeface="+mn-cs"/>
        </a:defRPr>
      </a:lvl1pPr>
      <a:lvl2pPr marL="0" indent="0" algn="l" defTabSz="914128" rtl="0" eaLnBrk="1" latinLnBrk="0" hangingPunct="1">
        <a:lnSpc>
          <a:spcPct val="100000"/>
        </a:lnSpc>
        <a:spcBef>
          <a:spcPts val="0"/>
        </a:spcBef>
        <a:spcAft>
          <a:spcPts val="1399"/>
        </a:spcAft>
        <a:buFont typeface="Aptos" panose="020B0504030202060203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79946" indent="-179946" algn="l" defTabSz="914128" rtl="0" eaLnBrk="1" latinLnBrk="0" hangingPunct="1">
        <a:lnSpc>
          <a:spcPct val="100000"/>
        </a:lnSpc>
        <a:spcBef>
          <a:spcPts val="0"/>
        </a:spcBef>
        <a:spcAft>
          <a:spcPts val="900"/>
        </a:spcAft>
        <a:buClrTx/>
        <a:buFont typeface="Aptos" panose="020B0504030202060203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359893" indent="-179946" algn="l" defTabSz="914128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ClrTx/>
        <a:buFont typeface="Aptos" panose="020B0504030202060203" pitchFamily="34" charset="0"/>
        <a:buChar char="–"/>
        <a:defRPr sz="1399" kern="1200">
          <a:solidFill>
            <a:schemeClr val="tx1"/>
          </a:solidFill>
          <a:latin typeface="+mn-lt"/>
          <a:ea typeface="+mn-ea"/>
          <a:cs typeface="+mn-cs"/>
        </a:defRPr>
      </a:lvl4pPr>
      <a:lvl5pPr marL="539839" indent="-179946" algn="l" defTabSz="914128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ptos" panose="020B0504030202060203" pitchFamily="34" charset="0"/>
        <a:buChar char="•"/>
        <a:defRPr sz="1399" kern="1200">
          <a:solidFill>
            <a:schemeClr val="tx1"/>
          </a:solidFill>
          <a:latin typeface="+mn-lt"/>
          <a:ea typeface="+mn-ea"/>
          <a:cs typeface="+mn-cs"/>
        </a:defRPr>
      </a:lvl5pPr>
      <a:lvl6pPr marL="539839" indent="0" algn="l" defTabSz="914128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Aptos" panose="020B0504030202060203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2970917" indent="-228532" algn="l" defTabSz="914128" rtl="0" eaLnBrk="1" latinLnBrk="0" hangingPunct="1">
        <a:lnSpc>
          <a:spcPct val="90000"/>
        </a:lnSpc>
        <a:spcBef>
          <a:spcPts val="500"/>
        </a:spcBef>
        <a:buFont typeface="Aptos" panose="020B0504030202060203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7pPr>
      <a:lvl8pPr marL="3427980" indent="-228532" algn="l" defTabSz="914128" rtl="0" eaLnBrk="1" latinLnBrk="0" hangingPunct="1">
        <a:lnSpc>
          <a:spcPct val="90000"/>
        </a:lnSpc>
        <a:spcBef>
          <a:spcPts val="500"/>
        </a:spcBef>
        <a:buFont typeface="Aptos" panose="020B0504030202060203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8pPr>
      <a:lvl9pPr marL="3885045" indent="-228532" algn="l" defTabSz="914128" rtl="0" eaLnBrk="1" latinLnBrk="0" hangingPunct="1">
        <a:lnSpc>
          <a:spcPct val="90000"/>
        </a:lnSpc>
        <a:spcBef>
          <a:spcPts val="500"/>
        </a:spcBef>
        <a:buFont typeface="Aptos" panose="020B0504030202060203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128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1pPr>
      <a:lvl2pPr marL="457064" algn="l" defTabSz="914128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2pPr>
      <a:lvl3pPr marL="914128" algn="l" defTabSz="914128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3pPr>
      <a:lvl4pPr marL="1371192" algn="l" defTabSz="914128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4pPr>
      <a:lvl5pPr marL="1828256" algn="l" defTabSz="914128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5pPr>
      <a:lvl6pPr marL="2285320" algn="l" defTabSz="914128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6pPr>
      <a:lvl7pPr marL="2742384" algn="l" defTabSz="914128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7pPr>
      <a:lvl8pPr marL="3199449" algn="l" defTabSz="914128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8pPr>
      <a:lvl9pPr marL="3656513" algn="l" defTabSz="914128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48" pos="396">
          <p15:clr>
            <a:srgbClr val="5ACBF0"/>
          </p15:clr>
        </p15:guide>
        <p15:guide id="49" pos="565">
          <p15:clr>
            <a:srgbClr val="9FCC3B"/>
          </p15:clr>
        </p15:guide>
        <p15:guide id="50" pos="792">
          <p15:clr>
            <a:srgbClr val="A4A3A4"/>
          </p15:clr>
        </p15:guide>
        <p15:guide id="51" pos="960">
          <p15:clr>
            <a:srgbClr val="A4A3A4"/>
          </p15:clr>
        </p15:guide>
        <p15:guide id="52" pos="1187">
          <p15:clr>
            <a:srgbClr val="A4A3A4"/>
          </p15:clr>
        </p15:guide>
        <p15:guide id="53" pos="1355">
          <p15:clr>
            <a:srgbClr val="A4A3A4"/>
          </p15:clr>
        </p15:guide>
        <p15:guide id="54" pos="1582">
          <p15:clr>
            <a:srgbClr val="A4A3A4"/>
          </p15:clr>
        </p15:guide>
        <p15:guide id="55" pos="1750">
          <p15:clr>
            <a:srgbClr val="A4A3A4"/>
          </p15:clr>
        </p15:guide>
        <p15:guide id="56" pos="1977">
          <p15:clr>
            <a:srgbClr val="A4A3A4"/>
          </p15:clr>
        </p15:guide>
        <p15:guide id="57" pos="2145">
          <p15:clr>
            <a:srgbClr val="A4A3A4"/>
          </p15:clr>
        </p15:guide>
        <p15:guide id="58" pos="2372">
          <p15:clr>
            <a:srgbClr val="A4A3A4"/>
          </p15:clr>
        </p15:guide>
        <p15:guide id="59" pos="2541">
          <p15:clr>
            <a:srgbClr val="A4A3A4"/>
          </p15:clr>
        </p15:guide>
        <p15:guide id="60" pos="2767">
          <p15:clr>
            <a:srgbClr val="A4A3A4"/>
          </p15:clr>
        </p15:guide>
        <p15:guide id="61" pos="2936">
          <p15:clr>
            <a:srgbClr val="A4A3A4"/>
          </p15:clr>
        </p15:guide>
        <p15:guide id="62" pos="3163">
          <p15:clr>
            <a:srgbClr val="A4A3A4"/>
          </p15:clr>
        </p15:guide>
        <p15:guide id="63" pos="3331">
          <p15:clr>
            <a:srgbClr val="A4A3A4"/>
          </p15:clr>
        </p15:guide>
        <p15:guide id="64" pos="3558">
          <p15:clr>
            <a:srgbClr val="A4A3A4"/>
          </p15:clr>
        </p15:guide>
        <p15:guide id="65" pos="3726">
          <p15:clr>
            <a:srgbClr val="A4A3A4"/>
          </p15:clr>
        </p15:guide>
        <p15:guide id="66" pos="3953">
          <p15:clr>
            <a:srgbClr val="A4A3A4"/>
          </p15:clr>
        </p15:guide>
        <p15:guide id="67" pos="4121">
          <p15:clr>
            <a:srgbClr val="A4A3A4"/>
          </p15:clr>
        </p15:guide>
        <p15:guide id="68" pos="4348">
          <p15:clr>
            <a:srgbClr val="A4A3A4"/>
          </p15:clr>
        </p15:guide>
        <p15:guide id="69" pos="4516">
          <p15:clr>
            <a:srgbClr val="A4A3A4"/>
          </p15:clr>
        </p15:guide>
        <p15:guide id="70" pos="4743">
          <p15:clr>
            <a:srgbClr val="A4A3A4"/>
          </p15:clr>
        </p15:guide>
        <p15:guide id="71" pos="4912">
          <p15:clr>
            <a:srgbClr val="A4A3A4"/>
          </p15:clr>
        </p15:guide>
        <p15:guide id="72" pos="5138">
          <p15:clr>
            <a:srgbClr val="A4A3A4"/>
          </p15:clr>
        </p15:guide>
        <p15:guide id="73" pos="5307">
          <p15:clr>
            <a:srgbClr val="A4A3A4"/>
          </p15:clr>
        </p15:guide>
        <p15:guide id="74" pos="5534">
          <p15:clr>
            <a:srgbClr val="A4A3A4"/>
          </p15:clr>
        </p15:guide>
        <p15:guide id="75" pos="5702">
          <p15:clr>
            <a:srgbClr val="A4A3A4"/>
          </p15:clr>
        </p15:guide>
        <p15:guide id="76" pos="5929">
          <p15:clr>
            <a:srgbClr val="A4A3A4"/>
          </p15:clr>
        </p15:guide>
        <p15:guide id="77" pos="6097">
          <p15:clr>
            <a:srgbClr val="A4A3A4"/>
          </p15:clr>
        </p15:guide>
        <p15:guide id="78" pos="6324">
          <p15:clr>
            <a:srgbClr val="A4A3A4"/>
          </p15:clr>
        </p15:guide>
        <p15:guide id="79" pos="6492">
          <p15:clr>
            <a:srgbClr val="A4A3A4"/>
          </p15:clr>
        </p15:guide>
        <p15:guide id="80" pos="6719">
          <p15:clr>
            <a:srgbClr val="A4A3A4"/>
          </p15:clr>
        </p15:guide>
        <p15:guide id="81" pos="6887">
          <p15:clr>
            <a:srgbClr val="A4A3A4"/>
          </p15:clr>
        </p15:guide>
        <p15:guide id="82" pos="7114">
          <p15:clr>
            <a:srgbClr val="9FCC3B"/>
          </p15:clr>
        </p15:guide>
        <p15:guide id="83" pos="7283">
          <p15:clr>
            <a:srgbClr val="5ACBF0"/>
          </p15:clr>
        </p15:guide>
        <p15:guide id="84" orient="horz" pos="567">
          <p15:clr>
            <a:srgbClr val="9FCC3B"/>
          </p15:clr>
        </p15:guide>
        <p15:guide id="85" orient="horz" pos="4134">
          <p15:clr>
            <a:srgbClr val="F26B43"/>
          </p15:clr>
        </p15:guide>
        <p15:guide id="86" orient="horz" pos="283">
          <p15:clr>
            <a:srgbClr val="5ACBF0"/>
          </p15:clr>
        </p15:guide>
        <p15:guide id="87" orient="horz" pos="3754">
          <p15:clr>
            <a:srgbClr val="9FCC3B"/>
          </p15:clr>
        </p15:guide>
        <p15:guide id="88" orient="horz" pos="1178">
          <p15:clr>
            <a:srgbClr val="A4A3A4"/>
          </p15:clr>
        </p15:guide>
        <p15:guide id="89" orient="horz" pos="3491">
          <p15:clr>
            <a:srgbClr val="A4A3A4"/>
          </p15:clr>
        </p15:guide>
        <p15:guide id="90" orient="horz" pos="1076">
          <p15:clr>
            <a:srgbClr val="A4A3A4"/>
          </p15:clr>
        </p15:guide>
        <p15:guide id="91" orient="horz" pos="3944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411482"/>
              </a:gs>
              <a:gs pos="100000">
                <a:srgbClr val="5F1EBE"/>
              </a:gs>
            </a:gsLst>
            <a:lin scaled="0" ang="195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554480"/>
            <a:ext cx="3931920" cy="3931920"/>
          </a:xfrm>
          <a:prstGeom prst="ellipse">
            <a:avLst/>
          </a:prstGeom>
          <a:solidFill>
            <a:srgbClr val="8C6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280160" y="4572000"/>
            <a:ext cx="3108960" cy="3108960"/>
          </a:xfrm>
          <a:prstGeom prst="ellipse">
            <a:avLst/>
          </a:prstGeom>
          <a:noFill/>
          <a:ln w="15875">
            <a:solidFill>
              <a:srgbClr val="B9C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417320"/>
            <a:ext cx="3246120" cy="365760"/>
          </a:xfrm>
          <a:prstGeom prst="roundRect">
            <a:avLst>
              <a:gd name="adj" fmla="val 50000"/>
            </a:avLst>
          </a:prstGeom>
          <a:solidFill>
            <a:srgbClr val="8C6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8000"/>
              </a:lnSpc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ptos"/>
              </a:rPr>
              <a:t>INTERNAL TRAINING PLAYBOOK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965960"/>
            <a:ext cx="1033272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200" b="1">
                <a:solidFill>
                  <a:srgbClr val="FFFFFF"/>
                </a:solidFill>
                <a:latin typeface="Aptos"/>
              </a:rPr>
              <a:t>Transformation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200" b="1">
                <a:solidFill>
                  <a:srgbClr val="B9C8FF"/>
                </a:solidFill>
                <a:latin typeface="Aptos"/>
              </a:rPr>
              <a:t>Due Diligence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42900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C7D6F5"/>
                </a:solidFill>
                <a:latin typeface="Aptos"/>
              </a:rPr>
              <a:t>A field playbook for running the DD workshop, scoring what you hear, and building a case that survives review.</a:t>
            </a:r>
          </a:p>
        </p:txBody>
      </p:sp>
      <p:sp>
        <p:nvSpPr>
          <p:cNvPr id="8" name="Freeform 7"/>
          <p:cNvSpPr/>
          <p:nvPr/>
        </p:nvSpPr>
        <p:spPr>
          <a:xfrm>
            <a:off x="822960" y="4160520"/>
            <a:ext cx="2011680" cy="0"/>
          </a:xfrm>
          <a:custGeom>
            <a:avLst/>
            <a:gdLst/>
            <a:ahLst/>
            <a:cxnLst/>
            <a:rect l="l" t="t" r="r" b="b"/>
            <a:pathLst>
              <a:path w="2011680" h="0">
                <a:moveTo>
                  <a:pt x="0" y="0"/>
                </a:moveTo>
                <a:lnTo>
                  <a:pt x="2011680" y="0"/>
                </a:lnTo>
              </a:path>
            </a:pathLst>
          </a:custGeom>
          <a:noFill/>
          <a:ln w="19050">
            <a:solidFill>
              <a:srgbClr val="B9C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43434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9CB3E8"/>
                </a:solidFill>
                <a:latin typeface="Aptos"/>
              </a:rPr>
              <a:t>Prepared for internal upskilling  ·  adapt before client use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9184"/>
            <a:ext cx="10058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F5FDC"/>
                </a:solidFill>
                <a:latin typeface="Aptos"/>
              </a:rPr>
              <a:t>TRAINING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48640"/>
            <a:ext cx="1100023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000000"/>
                </a:solidFill>
                <a:latin typeface="Aptos"/>
              </a:rPr>
              <a:t>What we’ll cover </a:t>
            </a:r>
            <a:r>
              <a:rPr sz="2600" b="1">
                <a:solidFill>
                  <a:srgbClr val="0F5FDC"/>
                </a:solidFill>
                <a:latin typeface="Aptos"/>
              </a:rPr>
              <a:t>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078992"/>
            <a:ext cx="11000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8291A0"/>
                </a:solidFill>
                <a:latin typeface="Aptos"/>
              </a:rPr>
              <a:t>Eight sections, one worked example, one cheat sheet to keep.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81328"/>
            <a:ext cx="11000232" cy="566928"/>
          </a:xfrm>
          <a:prstGeom prst="rect">
            <a:avLst/>
          </a:prstGeom>
          <a:solidFill>
            <a:srgbClr val="E6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581912"/>
            <a:ext cx="365760" cy="365760"/>
          </a:xfrm>
          <a:prstGeom prst="ellipse">
            <a:avLst/>
          </a:prstGeom>
          <a:solidFill>
            <a:srgbClr val="5F1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8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1481328"/>
            <a:ext cx="35204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000000"/>
                </a:solidFill>
                <a:latin typeface="Aptos"/>
              </a:rPr>
              <a:t>The DD lifecycle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148132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8291A0"/>
                </a:solidFill>
                <a:latin typeface="Aptos"/>
              </a:rPr>
              <a:t>Five stages, start to sign-off</a:t>
            </a:r>
          </a:p>
        </p:txBody>
      </p:sp>
      <p:sp>
        <p:nvSpPr>
          <p:cNvPr id="9" name="Oval 8"/>
          <p:cNvSpPr/>
          <p:nvPr/>
        </p:nvSpPr>
        <p:spPr>
          <a:xfrm>
            <a:off x="868680" y="2148840"/>
            <a:ext cx="365760" cy="365760"/>
          </a:xfrm>
          <a:prstGeom prst="ellipse">
            <a:avLst/>
          </a:prstGeom>
          <a:solidFill>
            <a:srgbClr val="5F1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8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2048256"/>
            <a:ext cx="35204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000000"/>
                </a:solidFill>
                <a:latin typeface="Aptos"/>
              </a:rPr>
              <a:t>Who’s in the room, and the timeline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74920" y="2048256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8291A0"/>
                </a:solidFill>
                <a:latin typeface="Aptos"/>
              </a:rPr>
              <a:t>The POD, and a typical schedule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" y="2615184"/>
            <a:ext cx="11000232" cy="566928"/>
          </a:xfrm>
          <a:prstGeom prst="rect">
            <a:avLst/>
          </a:prstGeom>
          <a:solidFill>
            <a:srgbClr val="E6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680" y="2715768"/>
            <a:ext cx="365760" cy="365760"/>
          </a:xfrm>
          <a:prstGeom prst="ellipse">
            <a:avLst/>
          </a:prstGeom>
          <a:solidFill>
            <a:srgbClr val="5F1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8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2615184"/>
            <a:ext cx="35204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000000"/>
                </a:solidFill>
                <a:latin typeface="Aptos"/>
              </a:rPr>
              <a:t>Preparing &amp; running the workshop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74920" y="2615184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8291A0"/>
                </a:solidFill>
                <a:latin typeface="Aptos"/>
              </a:rPr>
              <a:t>What to gather, what to ask, what to listen for</a:t>
            </a:r>
          </a:p>
        </p:txBody>
      </p:sp>
      <p:sp>
        <p:nvSpPr>
          <p:cNvPr id="16" name="Oval 15"/>
          <p:cNvSpPr/>
          <p:nvPr/>
        </p:nvSpPr>
        <p:spPr>
          <a:xfrm>
            <a:off x="868680" y="3282696"/>
            <a:ext cx="365760" cy="365760"/>
          </a:xfrm>
          <a:prstGeom prst="ellipse">
            <a:avLst/>
          </a:prstGeom>
          <a:solidFill>
            <a:srgbClr val="5F1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8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3182112"/>
            <a:ext cx="35204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000000"/>
                </a:solidFill>
                <a:latin typeface="Aptos"/>
              </a:rPr>
              <a:t>Scoring what you heard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20" y="3182112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8291A0"/>
                </a:solidFill>
                <a:latin typeface="Aptos"/>
              </a:rPr>
              <a:t>Complexity and impact, simplified for the field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4360" y="3749039"/>
            <a:ext cx="11000232" cy="566928"/>
          </a:xfrm>
          <a:prstGeom prst="rect">
            <a:avLst/>
          </a:prstGeom>
          <a:solidFill>
            <a:srgbClr val="E6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68680" y="3849624"/>
            <a:ext cx="365760" cy="365760"/>
          </a:xfrm>
          <a:prstGeom prst="ellipse">
            <a:avLst/>
          </a:prstGeom>
          <a:solidFill>
            <a:srgbClr val="5F1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8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3749039"/>
            <a:ext cx="35204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000000"/>
                </a:solidFill>
                <a:latin typeface="Aptos"/>
              </a:rPr>
              <a:t>Choosing the technology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3749039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8291A0"/>
                </a:solidFill>
                <a:latin typeface="Aptos"/>
              </a:rPr>
              <a:t>Five archetypes and when each one fits</a:t>
            </a:r>
          </a:p>
        </p:txBody>
      </p:sp>
      <p:sp>
        <p:nvSpPr>
          <p:cNvPr id="23" name="Oval 22"/>
          <p:cNvSpPr/>
          <p:nvPr/>
        </p:nvSpPr>
        <p:spPr>
          <a:xfrm>
            <a:off x="868680" y="4416552"/>
            <a:ext cx="365760" cy="365760"/>
          </a:xfrm>
          <a:prstGeom prst="ellipse">
            <a:avLst/>
          </a:prstGeom>
          <a:solidFill>
            <a:srgbClr val="0F5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8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ptos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17320" y="4315968"/>
            <a:ext cx="35204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000000"/>
                </a:solidFill>
                <a:latin typeface="Aptos"/>
              </a:rPr>
              <a:t>Building the business case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74920" y="431596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8291A0"/>
                </a:solidFill>
                <a:latin typeface="Aptos"/>
              </a:rPr>
              <a:t>ROI mechanics in plain terms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4360" y="4882896"/>
            <a:ext cx="11000232" cy="566928"/>
          </a:xfrm>
          <a:prstGeom prst="rect">
            <a:avLst/>
          </a:prstGeom>
          <a:solidFill>
            <a:srgbClr val="E6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68680" y="4983480"/>
            <a:ext cx="365760" cy="365760"/>
          </a:xfrm>
          <a:prstGeom prst="ellipse">
            <a:avLst/>
          </a:prstGeom>
          <a:solidFill>
            <a:srgbClr val="0F5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8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ptos"/>
              </a:rPr>
              <a:t>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17320" y="4882896"/>
            <a:ext cx="35204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000000"/>
                </a:solidFill>
                <a:latin typeface="Aptos"/>
              </a:rPr>
              <a:t>Worked example: Order-to-Cash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74920" y="4882896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8291A0"/>
                </a:solidFill>
                <a:latin typeface="Aptos"/>
              </a:rPr>
              <a:t>One process, scored, archetyped, priced</a:t>
            </a:r>
          </a:p>
        </p:txBody>
      </p:sp>
      <p:sp>
        <p:nvSpPr>
          <p:cNvPr id="30" name="Oval 29"/>
          <p:cNvSpPr/>
          <p:nvPr/>
        </p:nvSpPr>
        <p:spPr>
          <a:xfrm>
            <a:off x="868680" y="5550408"/>
            <a:ext cx="365760" cy="365760"/>
          </a:xfrm>
          <a:prstGeom prst="ellipse">
            <a:avLst/>
          </a:prstGeom>
          <a:solidFill>
            <a:srgbClr val="0F5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8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ptos"/>
              </a:rPr>
              <a:t>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17320" y="5449824"/>
            <a:ext cx="35204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000000"/>
                </a:solidFill>
                <a:latin typeface="Aptos"/>
              </a:rPr>
              <a:t>Getting to sign-off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74920" y="5449824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8291A0"/>
                </a:solidFill>
                <a:latin typeface="Aptos"/>
              </a:rPr>
              <a:t>The gates before an executive ever sees this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6547104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A5AFBE"/>
                </a:solidFill>
                <a:latin typeface="Aptos"/>
              </a:rPr>
              <a:t>Agenda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81360" y="6547104"/>
            <a:ext cx="7132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A5AFBE"/>
                </a:solidFill>
                <a:latin typeface="Aptos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9184"/>
            <a:ext cx="10058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F5FDC"/>
                </a:solidFill>
                <a:latin typeface="Aptos"/>
              </a:rPr>
              <a:t>SECTION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48640"/>
            <a:ext cx="1100023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000000"/>
                </a:solidFill>
                <a:latin typeface="Aptos"/>
              </a:rPr>
              <a:t>The DD lifecycle — </a:t>
            </a:r>
            <a:r>
              <a:rPr sz="2600" b="1">
                <a:solidFill>
                  <a:srgbClr val="0F5FDC"/>
                </a:solidFill>
                <a:latin typeface="Aptos"/>
              </a:rPr>
              <a:t>five stages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078992"/>
            <a:ext cx="11000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8291A0"/>
                </a:solidFill>
                <a:latin typeface="Aptos"/>
              </a:rPr>
              <a:t>Every workshop you run moves a candidate process through this same pipeline.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0031" y="2377440"/>
            <a:ext cx="1920240" cy="21488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C8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10031" y="2377440"/>
            <a:ext cx="1920240" cy="54864"/>
          </a:xfrm>
          <a:prstGeom prst="roundRect">
            <a:avLst>
              <a:gd name="adj" fmla="val 50000"/>
            </a:avLst>
          </a:prstGeom>
          <a:solidFill>
            <a:srgbClr val="411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359255" y="2633472"/>
            <a:ext cx="621792" cy="621792"/>
          </a:xfrm>
          <a:prstGeom prst="ellipse">
            <a:avLst/>
          </a:prstGeom>
          <a:solidFill>
            <a:srgbClr val="411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564446" y="2801355"/>
            <a:ext cx="211409" cy="286024"/>
          </a:xfrm>
          <a:prstGeom prst="roundRect">
            <a:avLst>
              <a:gd name="adj" fmla="val 12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614190" y="2888406"/>
            <a:ext cx="111922" cy="0"/>
          </a:xfrm>
          <a:custGeom>
            <a:avLst/>
            <a:gdLst/>
            <a:ahLst/>
            <a:cxnLst/>
            <a:rect l="l" t="t" r="r" b="b"/>
            <a:pathLst>
              <a:path w="111922" h="0">
                <a:moveTo>
                  <a:pt x="0" y="0"/>
                </a:moveTo>
                <a:lnTo>
                  <a:pt x="111922" y="0"/>
                </a:lnTo>
              </a:path>
            </a:pathLst>
          </a:custGeom>
          <a:noFill/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614190" y="2950585"/>
            <a:ext cx="111922" cy="0"/>
          </a:xfrm>
          <a:custGeom>
            <a:avLst/>
            <a:gdLst/>
            <a:ahLst/>
            <a:cxnLst/>
            <a:rect l="l" t="t" r="r" b="b"/>
            <a:pathLst>
              <a:path w="111922" h="0">
                <a:moveTo>
                  <a:pt x="0" y="0"/>
                </a:moveTo>
                <a:lnTo>
                  <a:pt x="111922" y="0"/>
                </a:lnTo>
              </a:path>
            </a:pathLst>
          </a:custGeom>
          <a:noFill/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614190" y="3012765"/>
            <a:ext cx="111922" cy="0"/>
          </a:xfrm>
          <a:custGeom>
            <a:avLst/>
            <a:gdLst/>
            <a:ahLst/>
            <a:cxnLst/>
            <a:rect l="l" t="t" r="r" b="b"/>
            <a:pathLst>
              <a:path w="111922" h="0">
                <a:moveTo>
                  <a:pt x="0" y="0"/>
                </a:moveTo>
                <a:lnTo>
                  <a:pt x="111922" y="0"/>
                </a:lnTo>
              </a:path>
            </a:pathLst>
          </a:custGeom>
          <a:noFill/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01471" y="2505456"/>
            <a:ext cx="292608" cy="292608"/>
          </a:xfrm>
          <a:prstGeom prst="ellipse">
            <a:avLst/>
          </a:prstGeom>
          <a:solidFill>
            <a:srgbClr val="411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8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047" y="3383280"/>
            <a:ext cx="1664208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000000"/>
                </a:solidFill>
                <a:latin typeface="Aptos"/>
              </a:rPr>
              <a:t>Pre-DD Prep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047" y="3895344"/>
            <a:ext cx="166420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8291A0"/>
                </a:solidFill>
                <a:latin typeface="Aptos"/>
              </a:rPr>
              <a:t>Collect SOPs, volumes, app inventory</a:t>
            </a:r>
          </a:p>
        </p:txBody>
      </p:sp>
      <p:sp>
        <p:nvSpPr>
          <p:cNvPr id="15" name="Freeform 14"/>
          <p:cNvSpPr/>
          <p:nvPr/>
        </p:nvSpPr>
        <p:spPr>
          <a:xfrm>
            <a:off x="2710738" y="3378708"/>
            <a:ext cx="65837" cy="146304"/>
          </a:xfrm>
          <a:custGeom>
            <a:avLst/>
            <a:gdLst/>
            <a:ahLst/>
            <a:cxnLst/>
            <a:rect l="l" t="t" r="r" b="b"/>
            <a:pathLst>
              <a:path w="65837" h="146304">
                <a:moveTo>
                  <a:pt x="0" y="0"/>
                </a:moveTo>
                <a:lnTo>
                  <a:pt x="65837" y="73152"/>
                </a:lnTo>
                <a:lnTo>
                  <a:pt x="0" y="146304"/>
                </a:lnTo>
                <a:close/>
              </a:path>
            </a:pathLst>
          </a:custGeom>
          <a:solidFill>
            <a:srgbClr val="A5AFBE"/>
          </a:solidFill>
          <a:ln w="15240">
            <a:solidFill>
              <a:srgbClr val="A5A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922879" y="2377440"/>
            <a:ext cx="1920240" cy="21488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C8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922879" y="2377440"/>
            <a:ext cx="1920240" cy="54864"/>
          </a:xfrm>
          <a:prstGeom prst="roundRect">
            <a:avLst>
              <a:gd name="adj" fmla="val 50000"/>
            </a:avLst>
          </a:prstGeom>
          <a:solidFill>
            <a:srgbClr val="3426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572103" y="2633472"/>
            <a:ext cx="621792" cy="621792"/>
          </a:xfrm>
          <a:prstGeom prst="ellipse">
            <a:avLst/>
          </a:prstGeom>
          <a:solidFill>
            <a:srgbClr val="3426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746205" y="2807573"/>
            <a:ext cx="198973" cy="198973"/>
          </a:xfrm>
          <a:prstGeom prst="ellipse">
            <a:avLst/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932742" y="2994111"/>
            <a:ext cx="93269" cy="93269"/>
          </a:xfrm>
          <a:custGeom>
            <a:avLst/>
            <a:gdLst/>
            <a:ahLst/>
            <a:cxnLst/>
            <a:rect l="l" t="t" r="r" b="b"/>
            <a:pathLst>
              <a:path w="93269" h="93269">
                <a:moveTo>
                  <a:pt x="0" y="0"/>
                </a:moveTo>
                <a:lnTo>
                  <a:pt x="93269" y="93269"/>
                </a:lnTo>
              </a:path>
            </a:pathLst>
          </a:custGeom>
          <a:noFill/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014319" y="2505456"/>
            <a:ext cx="292608" cy="292608"/>
          </a:xfrm>
          <a:prstGeom prst="ellipse">
            <a:avLst/>
          </a:prstGeom>
          <a:solidFill>
            <a:srgbClr val="3426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8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50895" y="3383280"/>
            <a:ext cx="1664208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000000"/>
                </a:solidFill>
                <a:latin typeface="Aptos"/>
              </a:rPr>
              <a:t>Workshop &amp; Shadowing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50895" y="3895344"/>
            <a:ext cx="166420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8291A0"/>
                </a:solidFill>
                <a:latin typeface="Aptos"/>
              </a:rPr>
              <a:t>Walk the process, watch it live</a:t>
            </a:r>
          </a:p>
        </p:txBody>
      </p:sp>
      <p:sp>
        <p:nvSpPr>
          <p:cNvPr id="24" name="Freeform 23"/>
          <p:cNvSpPr/>
          <p:nvPr/>
        </p:nvSpPr>
        <p:spPr>
          <a:xfrm>
            <a:off x="4923586" y="3378708"/>
            <a:ext cx="65837" cy="146304"/>
          </a:xfrm>
          <a:custGeom>
            <a:avLst/>
            <a:gdLst/>
            <a:ahLst/>
            <a:cxnLst/>
            <a:rect l="l" t="t" r="r" b="b"/>
            <a:pathLst>
              <a:path w="65837" h="146304">
                <a:moveTo>
                  <a:pt x="0" y="0"/>
                </a:moveTo>
                <a:lnTo>
                  <a:pt x="65837" y="73152"/>
                </a:lnTo>
                <a:lnTo>
                  <a:pt x="0" y="146304"/>
                </a:lnTo>
                <a:close/>
              </a:path>
            </a:pathLst>
          </a:custGeom>
          <a:solidFill>
            <a:srgbClr val="A5AFBE"/>
          </a:solidFill>
          <a:ln w="15240">
            <a:solidFill>
              <a:srgbClr val="A5A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135727" y="2377440"/>
            <a:ext cx="1920240" cy="21488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C8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135727" y="2377440"/>
            <a:ext cx="1920240" cy="54864"/>
          </a:xfrm>
          <a:prstGeom prst="roundRect">
            <a:avLst>
              <a:gd name="adj" fmla="val 50000"/>
            </a:avLst>
          </a:prstGeom>
          <a:solidFill>
            <a:srgbClr val="2839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784951" y="2633472"/>
            <a:ext cx="621792" cy="621792"/>
          </a:xfrm>
          <a:prstGeom prst="ellipse">
            <a:avLst/>
          </a:prstGeom>
          <a:solidFill>
            <a:srgbClr val="2839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940399" y="2788920"/>
            <a:ext cx="310896" cy="310896"/>
          </a:xfrm>
          <a:prstGeom prst="ellipse">
            <a:avLst/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018123" y="2866644"/>
            <a:ext cx="155448" cy="155448"/>
          </a:xfrm>
          <a:prstGeom prst="ellipse">
            <a:avLst/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070975" y="2919496"/>
            <a:ext cx="49743" cy="4974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5227167" y="2505456"/>
            <a:ext cx="292608" cy="292608"/>
          </a:xfrm>
          <a:prstGeom prst="ellipse">
            <a:avLst/>
          </a:prstGeom>
          <a:solidFill>
            <a:srgbClr val="2839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8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63743" y="3383280"/>
            <a:ext cx="1664208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000000"/>
                </a:solidFill>
                <a:latin typeface="Aptos"/>
              </a:rPr>
              <a:t>Feasibility &amp; Archetyping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63743" y="3895344"/>
            <a:ext cx="166420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8291A0"/>
                </a:solidFill>
                <a:latin typeface="Aptos"/>
              </a:rPr>
              <a:t>Score complexity, pick the technology</a:t>
            </a:r>
          </a:p>
        </p:txBody>
      </p:sp>
      <p:sp>
        <p:nvSpPr>
          <p:cNvPr id="34" name="Freeform 33"/>
          <p:cNvSpPr/>
          <p:nvPr/>
        </p:nvSpPr>
        <p:spPr>
          <a:xfrm>
            <a:off x="7136434" y="3378708"/>
            <a:ext cx="65837" cy="146304"/>
          </a:xfrm>
          <a:custGeom>
            <a:avLst/>
            <a:gdLst/>
            <a:ahLst/>
            <a:cxnLst/>
            <a:rect l="l" t="t" r="r" b="b"/>
            <a:pathLst>
              <a:path w="65837" h="146304">
                <a:moveTo>
                  <a:pt x="0" y="0"/>
                </a:moveTo>
                <a:lnTo>
                  <a:pt x="65837" y="73152"/>
                </a:lnTo>
                <a:lnTo>
                  <a:pt x="0" y="146304"/>
                </a:lnTo>
                <a:close/>
              </a:path>
            </a:pathLst>
          </a:custGeom>
          <a:solidFill>
            <a:srgbClr val="A5AFBE"/>
          </a:solidFill>
          <a:ln w="15240">
            <a:solidFill>
              <a:srgbClr val="A5A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348575" y="2377440"/>
            <a:ext cx="1920240" cy="21488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C8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7348575" y="2377440"/>
            <a:ext cx="1920240" cy="54864"/>
          </a:xfrm>
          <a:prstGeom prst="roundRect">
            <a:avLst>
              <a:gd name="adj" fmla="val 50000"/>
            </a:avLst>
          </a:prstGeom>
          <a:solidFill>
            <a:srgbClr val="1B4C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997799" y="2633472"/>
            <a:ext cx="621792" cy="621792"/>
          </a:xfrm>
          <a:prstGeom prst="ellipse">
            <a:avLst/>
          </a:prstGeom>
          <a:solidFill>
            <a:srgbClr val="1B4C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159465" y="2969239"/>
            <a:ext cx="62179" cy="99486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8258952" y="2907060"/>
            <a:ext cx="62179" cy="161665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8358438" y="2838663"/>
            <a:ext cx="62179" cy="230063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7440015" y="2505456"/>
            <a:ext cx="292608" cy="292608"/>
          </a:xfrm>
          <a:prstGeom prst="ellipse">
            <a:avLst/>
          </a:prstGeom>
          <a:solidFill>
            <a:srgbClr val="1B4C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8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76591" y="3383280"/>
            <a:ext cx="1664208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000000"/>
                </a:solidFill>
                <a:latin typeface="Aptos"/>
              </a:rPr>
              <a:t>Business Case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76591" y="3895344"/>
            <a:ext cx="166420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8291A0"/>
                </a:solidFill>
                <a:latin typeface="Aptos"/>
              </a:rPr>
              <a:t>Baseline cost, savings, ROI, payback</a:t>
            </a:r>
          </a:p>
        </p:txBody>
      </p:sp>
      <p:sp>
        <p:nvSpPr>
          <p:cNvPr id="44" name="Freeform 43"/>
          <p:cNvSpPr/>
          <p:nvPr/>
        </p:nvSpPr>
        <p:spPr>
          <a:xfrm>
            <a:off x="9349282" y="3378708"/>
            <a:ext cx="65837" cy="146304"/>
          </a:xfrm>
          <a:custGeom>
            <a:avLst/>
            <a:gdLst/>
            <a:ahLst/>
            <a:cxnLst/>
            <a:rect l="l" t="t" r="r" b="b"/>
            <a:pathLst>
              <a:path w="65837" h="146304">
                <a:moveTo>
                  <a:pt x="0" y="0"/>
                </a:moveTo>
                <a:lnTo>
                  <a:pt x="65837" y="73152"/>
                </a:lnTo>
                <a:lnTo>
                  <a:pt x="0" y="146304"/>
                </a:lnTo>
                <a:close/>
              </a:path>
            </a:pathLst>
          </a:custGeom>
          <a:solidFill>
            <a:srgbClr val="A5AFBE"/>
          </a:solidFill>
          <a:ln w="15240">
            <a:solidFill>
              <a:srgbClr val="A5A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9561423" y="2377440"/>
            <a:ext cx="1920240" cy="21488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C8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9561423" y="2377440"/>
            <a:ext cx="1920240" cy="54864"/>
          </a:xfrm>
          <a:prstGeom prst="roundRect">
            <a:avLst>
              <a:gd name="adj" fmla="val 50000"/>
            </a:avLst>
          </a:prstGeom>
          <a:solidFill>
            <a:srgbClr val="0F5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0210647" y="2633472"/>
            <a:ext cx="621792" cy="621792"/>
          </a:xfrm>
          <a:prstGeom prst="ellipse">
            <a:avLst/>
          </a:prstGeom>
          <a:solidFill>
            <a:srgbClr val="0F5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10397185" y="2795137"/>
            <a:ext cx="248717" cy="310896"/>
          </a:xfrm>
          <a:custGeom>
            <a:avLst/>
            <a:gdLst/>
            <a:ahLst/>
            <a:cxnLst/>
            <a:rect l="l" t="t" r="r" b="b"/>
            <a:pathLst>
              <a:path w="248717" h="310896">
                <a:moveTo>
                  <a:pt x="0" y="0"/>
                </a:moveTo>
                <a:lnTo>
                  <a:pt x="248717" y="0"/>
                </a:lnTo>
                <a:lnTo>
                  <a:pt x="248717" y="167884"/>
                </a:lnTo>
                <a:lnTo>
                  <a:pt x="124358" y="310896"/>
                </a:lnTo>
                <a:lnTo>
                  <a:pt x="0" y="167884"/>
                </a:lnTo>
                <a:close/>
              </a:path>
            </a:pathLst>
          </a:cu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652863" y="2505456"/>
            <a:ext cx="292608" cy="292608"/>
          </a:xfrm>
          <a:prstGeom prst="ellipse">
            <a:avLst/>
          </a:prstGeom>
          <a:solidFill>
            <a:srgbClr val="0F5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8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689439" y="3383280"/>
            <a:ext cx="1664208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000000"/>
                </a:solidFill>
                <a:latin typeface="Aptos"/>
              </a:rPr>
              <a:t>Playback &amp; Sign-off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89439" y="3895344"/>
            <a:ext cx="166420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8291A0"/>
                </a:solidFill>
                <a:latin typeface="Aptos"/>
              </a:rPr>
              <a:t>Validate, present, get the green light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0031" y="4846320"/>
            <a:ext cx="107716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8291A0"/>
                </a:solidFill>
                <a:latin typeface="Aptos"/>
              </a:rPr>
              <a:t>You are training on Stages 2–4 today — where most DD leads either earn or lose credibility.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94360" y="6547104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A5AFBE"/>
                </a:solidFill>
                <a:latin typeface="Aptos"/>
              </a:rPr>
              <a:t>The DD lifecycle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881360" y="6547104"/>
            <a:ext cx="7132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A5AFBE"/>
                </a:solidFill>
                <a:latin typeface="Apto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9184"/>
            <a:ext cx="10058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F5FDC"/>
                </a:solidFill>
                <a:latin typeface="Aptos"/>
              </a:rPr>
              <a:t>SECTION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48640"/>
            <a:ext cx="1100023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000000"/>
                </a:solidFill>
                <a:latin typeface="Aptos"/>
              </a:rPr>
              <a:t>Who’s in the room, </a:t>
            </a:r>
            <a:r>
              <a:rPr sz="2600" b="1">
                <a:solidFill>
                  <a:srgbClr val="0F5FDC"/>
                </a:solidFill>
                <a:latin typeface="Aptos"/>
              </a:rPr>
              <a:t>and how long it takes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078992"/>
            <a:ext cx="11000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8291A0"/>
                </a:solidFill>
                <a:latin typeface="Aptos"/>
              </a:rPr>
              <a:t>The standing POD for a DD workshop, and a typical timeline for one L4 process.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664208"/>
            <a:ext cx="5257800" cy="416052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C8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1847088"/>
            <a:ext cx="2194560" cy="329184"/>
          </a:xfrm>
          <a:prstGeom prst="roundRect">
            <a:avLst>
              <a:gd name="adj" fmla="val 50000"/>
            </a:avLst>
          </a:prstGeom>
          <a:solidFill>
            <a:srgbClr val="5F1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8000"/>
              </a:lnSpc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ptos"/>
              </a:rPr>
              <a:t>THE POD</a:t>
            </a:r>
          </a:p>
        </p:txBody>
      </p:sp>
      <p:sp>
        <p:nvSpPr>
          <p:cNvPr id="7" name="Oval 6"/>
          <p:cNvSpPr/>
          <p:nvPr/>
        </p:nvSpPr>
        <p:spPr>
          <a:xfrm>
            <a:off x="822960" y="2377440"/>
            <a:ext cx="438912" cy="438912"/>
          </a:xfrm>
          <a:prstGeom prst="ellipse">
            <a:avLst/>
          </a:prstGeom>
          <a:solidFill>
            <a:srgbClr val="411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15075" y="2487533"/>
            <a:ext cx="54681" cy="54681"/>
          </a:xfrm>
          <a:prstGeom prst="ellipse">
            <a:avLst/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ound Same Side Corner Rectangle 8"/>
          <p:cNvSpPr/>
          <p:nvPr/>
        </p:nvSpPr>
        <p:spPr>
          <a:xfrm>
            <a:off x="992489" y="2558856"/>
            <a:ext cx="99852" cy="80832"/>
          </a:xfrm>
          <a:prstGeom prst="round2SameRect">
            <a:avLst>
              <a:gd name="adj1" fmla="val 48000"/>
              <a:gd name="adj2" fmla="val 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37808" y="2506553"/>
            <a:ext cx="45171" cy="45171"/>
          </a:xfrm>
          <a:prstGeom prst="ellipse">
            <a:avLst/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 Same Side Corner Rectangle 10"/>
          <p:cNvSpPr/>
          <p:nvPr/>
        </p:nvSpPr>
        <p:spPr>
          <a:xfrm>
            <a:off x="928298" y="2573121"/>
            <a:ext cx="64190" cy="66568"/>
          </a:xfrm>
          <a:prstGeom prst="round2SameRect">
            <a:avLst>
              <a:gd name="adj1" fmla="val 48000"/>
              <a:gd name="adj2" fmla="val 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01851" y="2506553"/>
            <a:ext cx="45171" cy="45171"/>
          </a:xfrm>
          <a:prstGeom prst="ellipse">
            <a:avLst/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 Same Side Corner Rectangle 12"/>
          <p:cNvSpPr/>
          <p:nvPr/>
        </p:nvSpPr>
        <p:spPr>
          <a:xfrm>
            <a:off x="1092342" y="2573121"/>
            <a:ext cx="64190" cy="66568"/>
          </a:xfrm>
          <a:prstGeom prst="round2SameRect">
            <a:avLst>
              <a:gd name="adj1" fmla="val 48000"/>
              <a:gd name="adj2" fmla="val 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08176" y="2359152"/>
            <a:ext cx="4206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000000"/>
                </a:solidFill>
                <a:latin typeface="Aptos"/>
              </a:rPr>
              <a:t>Ops Manager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08176" y="2633472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8291A0"/>
                </a:solidFill>
                <a:latin typeface="Aptos"/>
              </a:rPr>
              <a:t>Owns the process P&amp;L; makes the prioritization call</a:t>
            </a:r>
          </a:p>
        </p:txBody>
      </p:sp>
      <p:sp>
        <p:nvSpPr>
          <p:cNvPr id="16" name="Oval 15"/>
          <p:cNvSpPr/>
          <p:nvPr/>
        </p:nvSpPr>
        <p:spPr>
          <a:xfrm>
            <a:off x="822960" y="3218688"/>
            <a:ext cx="438912" cy="438912"/>
          </a:xfrm>
          <a:prstGeom prst="ellipse">
            <a:avLst/>
          </a:prstGeom>
          <a:solidFill>
            <a:srgbClr val="302D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37808" y="3333536"/>
            <a:ext cx="152156" cy="152156"/>
          </a:xfrm>
          <a:prstGeom prst="ellipse">
            <a:avLst/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1080455" y="3476183"/>
            <a:ext cx="71323" cy="71323"/>
          </a:xfrm>
          <a:custGeom>
            <a:avLst/>
            <a:gdLst/>
            <a:ahLst/>
            <a:cxnLst/>
            <a:rect l="l" t="t" r="r" b="b"/>
            <a:pathLst>
              <a:path w="71323" h="71323">
                <a:moveTo>
                  <a:pt x="0" y="0"/>
                </a:moveTo>
                <a:lnTo>
                  <a:pt x="71323" y="71323"/>
                </a:lnTo>
              </a:path>
            </a:pathLst>
          </a:custGeom>
          <a:noFill/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08176" y="3200400"/>
            <a:ext cx="4206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000000"/>
                </a:solidFill>
                <a:latin typeface="Aptos"/>
              </a:rPr>
              <a:t>Ops SME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08176" y="3474720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8291A0"/>
                </a:solidFill>
                <a:latin typeface="Aptos"/>
              </a:rPr>
              <a:t>Runs the process daily — the source of L4 ground truth</a:t>
            </a:r>
          </a:p>
        </p:txBody>
      </p:sp>
      <p:sp>
        <p:nvSpPr>
          <p:cNvPr id="21" name="Oval 20"/>
          <p:cNvSpPr/>
          <p:nvPr/>
        </p:nvSpPr>
        <p:spPr>
          <a:xfrm>
            <a:off x="822960" y="4059936"/>
            <a:ext cx="438912" cy="438912"/>
          </a:xfrm>
          <a:prstGeom prst="ellipse">
            <a:avLst/>
          </a:prstGeom>
          <a:solidFill>
            <a:srgbClr val="1F4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61583" y="4170029"/>
            <a:ext cx="161665" cy="218724"/>
          </a:xfrm>
          <a:prstGeom prst="roundRect">
            <a:avLst>
              <a:gd name="adj" fmla="val 12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999622" y="4236598"/>
            <a:ext cx="85587" cy="0"/>
          </a:xfrm>
          <a:custGeom>
            <a:avLst/>
            <a:gdLst/>
            <a:ahLst/>
            <a:cxnLst/>
            <a:rect l="l" t="t" r="r" b="b"/>
            <a:pathLst>
              <a:path w="85587" h="0">
                <a:moveTo>
                  <a:pt x="0" y="0"/>
                </a:moveTo>
                <a:lnTo>
                  <a:pt x="85587" y="0"/>
                </a:lnTo>
              </a:path>
            </a:pathLst>
          </a:custGeom>
          <a:noFill/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999622" y="4284146"/>
            <a:ext cx="85587" cy="0"/>
          </a:xfrm>
          <a:custGeom>
            <a:avLst/>
            <a:gdLst/>
            <a:ahLst/>
            <a:cxnLst/>
            <a:rect l="l" t="t" r="r" b="b"/>
            <a:pathLst>
              <a:path w="85587" h="0">
                <a:moveTo>
                  <a:pt x="0" y="0"/>
                </a:moveTo>
                <a:lnTo>
                  <a:pt x="85587" y="0"/>
                </a:lnTo>
              </a:path>
            </a:pathLst>
          </a:custGeom>
          <a:noFill/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999622" y="4331695"/>
            <a:ext cx="85587" cy="0"/>
          </a:xfrm>
          <a:custGeom>
            <a:avLst/>
            <a:gdLst/>
            <a:ahLst/>
            <a:cxnLst/>
            <a:rect l="l" t="t" r="r" b="b"/>
            <a:pathLst>
              <a:path w="85587" h="0">
                <a:moveTo>
                  <a:pt x="0" y="0"/>
                </a:moveTo>
                <a:lnTo>
                  <a:pt x="85587" y="0"/>
                </a:lnTo>
              </a:path>
            </a:pathLst>
          </a:custGeom>
          <a:noFill/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08176" y="4041648"/>
            <a:ext cx="4206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000000"/>
                </a:solidFill>
                <a:latin typeface="Aptos"/>
              </a:rPr>
              <a:t>Process Expert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08176" y="4315968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8291A0"/>
                </a:solidFill>
                <a:latin typeface="Aptos"/>
              </a:rPr>
              <a:t>Owns the SOP and quality lens; flags where reality has drifted</a:t>
            </a:r>
          </a:p>
        </p:txBody>
      </p:sp>
      <p:sp>
        <p:nvSpPr>
          <p:cNvPr id="28" name="Oval 27"/>
          <p:cNvSpPr/>
          <p:nvPr/>
        </p:nvSpPr>
        <p:spPr>
          <a:xfrm>
            <a:off x="822960" y="4901184"/>
            <a:ext cx="438912" cy="438912"/>
          </a:xfrm>
          <a:prstGeom prst="ellipse">
            <a:avLst/>
          </a:prstGeom>
          <a:solidFill>
            <a:srgbClr val="0F5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Gear 6 28"/>
          <p:cNvSpPr/>
          <p:nvPr/>
        </p:nvSpPr>
        <p:spPr>
          <a:xfrm>
            <a:off x="933053" y="5011277"/>
            <a:ext cx="218724" cy="218724"/>
          </a:xfrm>
          <a:prstGeom prst="gear6">
            <a:avLst/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04376" y="5082600"/>
            <a:ext cx="76078" cy="76078"/>
          </a:xfrm>
          <a:prstGeom prst="ellipse">
            <a:avLst/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08176" y="4882896"/>
            <a:ext cx="4206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000000"/>
                </a:solidFill>
                <a:latin typeface="Aptos"/>
              </a:rPr>
              <a:t>Solution Team Member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08176" y="5157216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8291A0"/>
                </a:solidFill>
                <a:latin typeface="Aptos"/>
              </a:rPr>
              <a:t>Assesses feasibility; owns the archetype and effort estimate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45352" y="1664208"/>
            <a:ext cx="5349240" cy="4160520"/>
          </a:xfrm>
          <a:prstGeom prst="roundRect">
            <a:avLst>
              <a:gd name="adj" fmla="val 3500"/>
            </a:avLst>
          </a:prstGeom>
          <a:solidFill>
            <a:srgbClr val="DCE6F0"/>
          </a:solidFill>
          <a:ln w="9525">
            <a:solidFill>
              <a:srgbClr val="5F1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473952" y="1847088"/>
            <a:ext cx="3200400" cy="329184"/>
          </a:xfrm>
          <a:prstGeom prst="roundRect">
            <a:avLst>
              <a:gd name="adj" fmla="val 50000"/>
            </a:avLst>
          </a:prstGeom>
          <a:solidFill>
            <a:srgbClr val="0F5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8000"/>
              </a:lnSpc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ptos"/>
              </a:rPr>
              <a:t>HIGH-LEVEL TIMELINE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633971" y="2834640"/>
            <a:ext cx="841248" cy="548640"/>
          </a:xfrm>
          <a:prstGeom prst="roundRect">
            <a:avLst>
              <a:gd name="adj" fmla="val 16000"/>
            </a:avLst>
          </a:prstGeom>
          <a:solidFill>
            <a:srgbClr val="411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33971" y="2980944"/>
            <a:ext cx="8412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ptos"/>
              </a:rPr>
              <a:t>Wk 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88251" y="3493008"/>
            <a:ext cx="9326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Aptos"/>
              </a:rPr>
              <a:t>Pre-DD Prep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566659" y="2834640"/>
            <a:ext cx="841248" cy="548640"/>
          </a:xfrm>
          <a:prstGeom prst="roundRect">
            <a:avLst>
              <a:gd name="adj" fmla="val 16000"/>
            </a:avLst>
          </a:prstGeom>
          <a:solidFill>
            <a:srgbClr val="3426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566659" y="2980944"/>
            <a:ext cx="8412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ptos"/>
              </a:rPr>
              <a:t>Wk 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20939" y="3493008"/>
            <a:ext cx="9326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Aptos"/>
              </a:rPr>
              <a:t>Workshop &amp;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520939" y="3712464"/>
            <a:ext cx="9326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Aptos"/>
              </a:rPr>
              <a:t>Shadowing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499347" y="2834640"/>
            <a:ext cx="841248" cy="548640"/>
          </a:xfrm>
          <a:prstGeom prst="roundRect">
            <a:avLst>
              <a:gd name="adj" fmla="val 16000"/>
            </a:avLst>
          </a:prstGeom>
          <a:solidFill>
            <a:srgbClr val="2839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499347" y="2980944"/>
            <a:ext cx="8412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ptos"/>
              </a:rPr>
              <a:t>Wk 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53627" y="3493008"/>
            <a:ext cx="9326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Aptos"/>
              </a:rPr>
              <a:t>Feasibility &amp;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53627" y="3712464"/>
            <a:ext cx="9326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Aptos"/>
              </a:rPr>
              <a:t>Archetyping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432036" y="2834640"/>
            <a:ext cx="841248" cy="548640"/>
          </a:xfrm>
          <a:prstGeom prst="roundRect">
            <a:avLst>
              <a:gd name="adj" fmla="val 16000"/>
            </a:avLst>
          </a:prstGeom>
          <a:solidFill>
            <a:srgbClr val="1B4C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432036" y="2980944"/>
            <a:ext cx="8412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ptos"/>
              </a:rPr>
              <a:t>Wk 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386315" y="3493008"/>
            <a:ext cx="9326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Aptos"/>
              </a:rPr>
              <a:t>Business Case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0364724" y="2834640"/>
            <a:ext cx="841248" cy="548640"/>
          </a:xfrm>
          <a:prstGeom prst="roundRect">
            <a:avLst>
              <a:gd name="adj" fmla="val 16000"/>
            </a:avLst>
          </a:prstGeom>
          <a:solidFill>
            <a:srgbClr val="0F5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364724" y="2980944"/>
            <a:ext cx="8412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ptos"/>
              </a:rPr>
              <a:t>Wk 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319003" y="3493008"/>
            <a:ext cx="9326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Aptos"/>
              </a:rPr>
              <a:t>Playback &amp;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319003" y="3712464"/>
            <a:ext cx="9326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Aptos"/>
              </a:rPr>
              <a:t>Sign-off</a:t>
            </a:r>
          </a:p>
        </p:txBody>
      </p:sp>
      <p:sp>
        <p:nvSpPr>
          <p:cNvPr id="53" name="Freeform 52"/>
          <p:cNvSpPr/>
          <p:nvPr/>
        </p:nvSpPr>
        <p:spPr>
          <a:xfrm>
            <a:off x="6633971" y="3108960"/>
            <a:ext cx="4572001" cy="0"/>
          </a:xfrm>
          <a:custGeom>
            <a:avLst/>
            <a:gdLst/>
            <a:ahLst/>
            <a:cxnLst/>
            <a:rect l="l" t="t" r="r" b="b"/>
            <a:pathLst>
              <a:path w="4572001" h="0">
                <a:moveTo>
                  <a:pt x="0" y="0"/>
                </a:moveTo>
                <a:lnTo>
                  <a:pt x="4572001" y="0"/>
                </a:lnTo>
              </a:path>
            </a:pathLst>
          </a:cu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73952" y="4297680"/>
            <a:ext cx="4892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F5FDC"/>
                </a:solidFill>
                <a:latin typeface="Aptos"/>
              </a:rPr>
              <a:t>~5 weeks, prep to sign-off — for one L4 process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73952" y="4626864"/>
            <a:ext cx="48920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8291A0"/>
                </a:solidFill>
                <a:latin typeface="Aptos"/>
              </a:rPr>
              <a:t>Typical for a single process run in isolation. Scale-up portfolios (multiple processes, multiple workshops) usually run stages 2–4 in parallel across processes rather than serially, and compress toward 3–4 weeks per wave.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94360" y="6547104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A5AFBE"/>
                </a:solidFill>
                <a:latin typeface="Aptos"/>
              </a:rPr>
              <a:t>Who’s in the room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881360" y="6547104"/>
            <a:ext cx="7132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A5AFBE"/>
                </a:solidFill>
                <a:latin typeface="Aptos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9184"/>
            <a:ext cx="10058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F5FDC"/>
                </a:solidFill>
                <a:latin typeface="Aptos"/>
              </a:rPr>
              <a:t>SECTION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48640"/>
            <a:ext cx="1100023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000000"/>
                </a:solidFill>
                <a:latin typeface="Aptos"/>
              </a:rPr>
              <a:t>Prerequisites: </a:t>
            </a:r>
            <a:r>
              <a:rPr sz="2600" b="1">
                <a:solidFill>
                  <a:srgbClr val="0F5FDC"/>
                </a:solidFill>
                <a:latin typeface="Aptos"/>
              </a:rPr>
              <a:t>what to gather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078992"/>
            <a:ext cx="11000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8291A0"/>
                </a:solidFill>
                <a:latin typeface="Aptos"/>
              </a:rPr>
              <a:t>Request these eight artifacts before the workshop — arriving without them wastes the room’s time.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627632"/>
            <a:ext cx="2651760" cy="1700784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C8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95528" y="1810512"/>
            <a:ext cx="475488" cy="475488"/>
          </a:xfrm>
          <a:prstGeom prst="ellipse">
            <a:avLst/>
          </a:prstGeom>
          <a:solidFill>
            <a:srgbClr val="E6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46221" y="1930481"/>
            <a:ext cx="174101" cy="235549"/>
          </a:xfrm>
          <a:prstGeom prst="roundRect">
            <a:avLst>
              <a:gd name="adj" fmla="val 12000"/>
            </a:avLst>
          </a:prstGeom>
          <a:noFill/>
          <a:ln w="12700">
            <a:solidFill>
              <a:srgbClr val="5F1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987186" y="2002170"/>
            <a:ext cx="92171" cy="0"/>
          </a:xfrm>
          <a:custGeom>
            <a:avLst/>
            <a:gdLst/>
            <a:ahLst/>
            <a:cxnLst/>
            <a:rect l="l" t="t" r="r" b="b"/>
            <a:pathLst>
              <a:path w="92171" h="0">
                <a:moveTo>
                  <a:pt x="0" y="0"/>
                </a:moveTo>
                <a:lnTo>
                  <a:pt x="92171" y="0"/>
                </a:lnTo>
              </a:path>
            </a:pathLst>
          </a:custGeom>
          <a:noFill/>
          <a:ln w="10160">
            <a:solidFill>
              <a:srgbClr val="5F1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987186" y="2053376"/>
            <a:ext cx="92171" cy="0"/>
          </a:xfrm>
          <a:custGeom>
            <a:avLst/>
            <a:gdLst/>
            <a:ahLst/>
            <a:cxnLst/>
            <a:rect l="l" t="t" r="r" b="b"/>
            <a:pathLst>
              <a:path w="92171" h="0">
                <a:moveTo>
                  <a:pt x="0" y="0"/>
                </a:moveTo>
                <a:lnTo>
                  <a:pt x="92171" y="0"/>
                </a:lnTo>
              </a:path>
            </a:pathLst>
          </a:custGeom>
          <a:noFill/>
          <a:ln w="10160">
            <a:solidFill>
              <a:srgbClr val="5F1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987186" y="2104583"/>
            <a:ext cx="92171" cy="0"/>
          </a:xfrm>
          <a:custGeom>
            <a:avLst/>
            <a:gdLst/>
            <a:ahLst/>
            <a:cxnLst/>
            <a:rect l="l" t="t" r="r" b="b"/>
            <a:pathLst>
              <a:path w="92171" h="0">
                <a:moveTo>
                  <a:pt x="0" y="0"/>
                </a:moveTo>
                <a:lnTo>
                  <a:pt x="92171" y="0"/>
                </a:lnTo>
              </a:path>
            </a:pathLst>
          </a:custGeom>
          <a:noFill/>
          <a:ln w="10160">
            <a:solidFill>
              <a:srgbClr val="5F1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395728"/>
            <a:ext cx="22860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0000"/>
                </a:solidFill>
                <a:latin typeface="Aptos"/>
              </a:rPr>
              <a:t>SOPs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706624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8291A0"/>
                </a:solidFill>
                <a:latin typeface="Aptos"/>
              </a:rPr>
              <a:t>Latest version, step-by-step, business rules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29000" y="1627632"/>
            <a:ext cx="2651760" cy="1700784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C8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30168" y="1810512"/>
            <a:ext cx="475488" cy="475488"/>
          </a:xfrm>
          <a:prstGeom prst="ellipse">
            <a:avLst/>
          </a:prstGeom>
          <a:solidFill>
            <a:srgbClr val="E6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839748" y="1930481"/>
            <a:ext cx="56327" cy="56327"/>
          </a:xfrm>
          <a:prstGeom prst="ellipse">
            <a:avLst/>
          </a:prstGeom>
          <a:solidFill>
            <a:srgbClr val="5F1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765499" y="2099462"/>
            <a:ext cx="56327" cy="56327"/>
          </a:xfrm>
          <a:prstGeom prst="ellipse">
            <a:avLst/>
          </a:prstGeom>
          <a:solidFill>
            <a:srgbClr val="5F1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913997" y="2099462"/>
            <a:ext cx="56327" cy="56327"/>
          </a:xfrm>
          <a:prstGeom prst="ellipse">
            <a:avLst/>
          </a:prstGeom>
          <a:solidFill>
            <a:srgbClr val="5F1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3793662" y="1997049"/>
            <a:ext cx="74250" cy="107534"/>
          </a:xfrm>
          <a:custGeom>
            <a:avLst/>
            <a:gdLst/>
            <a:ahLst/>
            <a:cxnLst/>
            <a:rect l="l" t="t" r="r" b="b"/>
            <a:pathLst>
              <a:path w="74250" h="107534">
                <a:moveTo>
                  <a:pt x="74250" y="0"/>
                </a:moveTo>
                <a:lnTo>
                  <a:pt x="0" y="107534"/>
                </a:lnTo>
              </a:path>
            </a:pathLst>
          </a:custGeom>
          <a:noFill/>
          <a:ln w="10160">
            <a:solidFill>
              <a:srgbClr val="5F1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3867912" y="1997049"/>
            <a:ext cx="74249" cy="107534"/>
          </a:xfrm>
          <a:custGeom>
            <a:avLst/>
            <a:gdLst/>
            <a:ahLst/>
            <a:cxnLst/>
            <a:rect l="l" t="t" r="r" b="b"/>
            <a:pathLst>
              <a:path w="74249" h="107534">
                <a:moveTo>
                  <a:pt x="0" y="0"/>
                </a:moveTo>
                <a:lnTo>
                  <a:pt x="74249" y="107534"/>
                </a:lnTo>
              </a:path>
            </a:pathLst>
          </a:custGeom>
          <a:noFill/>
          <a:ln w="10160">
            <a:solidFill>
              <a:srgbClr val="5F1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793662" y="2125065"/>
            <a:ext cx="148499" cy="0"/>
          </a:xfrm>
          <a:custGeom>
            <a:avLst/>
            <a:gdLst/>
            <a:ahLst/>
            <a:cxnLst/>
            <a:rect l="l" t="t" r="r" b="b"/>
            <a:pathLst>
              <a:path w="148499" h="0">
                <a:moveTo>
                  <a:pt x="0" y="0"/>
                </a:moveTo>
                <a:lnTo>
                  <a:pt x="148499" y="0"/>
                </a:lnTo>
              </a:path>
            </a:pathLst>
          </a:custGeom>
          <a:noFill/>
          <a:ln w="10160">
            <a:solidFill>
              <a:srgbClr val="5F1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2395728"/>
            <a:ext cx="22860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0000"/>
                </a:solidFill>
                <a:latin typeface="Aptos"/>
              </a:rPr>
              <a:t>L4 process maps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11880" y="2706624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8291A0"/>
                </a:solidFill>
                <a:latin typeface="Aptos"/>
              </a:rPr>
              <a:t>Granular steps, system handoffs, decisions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63640" y="1627632"/>
            <a:ext cx="2651760" cy="1700784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C8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4808" y="1810512"/>
            <a:ext cx="475488" cy="475488"/>
          </a:xfrm>
          <a:prstGeom prst="ellipse">
            <a:avLst/>
          </a:prstGeom>
          <a:solidFill>
            <a:srgbClr val="E6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579656" y="2068738"/>
            <a:ext cx="51206" cy="81930"/>
          </a:xfrm>
          <a:prstGeom prst="roundRect">
            <a:avLst>
              <a:gd name="adj" fmla="val 28000"/>
            </a:avLst>
          </a:prstGeom>
          <a:solidFill>
            <a:srgbClr val="5F1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661586" y="2017532"/>
            <a:ext cx="51206" cy="133136"/>
          </a:xfrm>
          <a:prstGeom prst="roundRect">
            <a:avLst>
              <a:gd name="adj" fmla="val 28000"/>
            </a:avLst>
          </a:prstGeom>
          <a:solidFill>
            <a:srgbClr val="5F1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743517" y="1961205"/>
            <a:ext cx="51206" cy="189463"/>
          </a:xfrm>
          <a:prstGeom prst="roundRect">
            <a:avLst>
              <a:gd name="adj" fmla="val 28000"/>
            </a:avLst>
          </a:prstGeom>
          <a:solidFill>
            <a:srgbClr val="5F1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2395728"/>
            <a:ext cx="22860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0000"/>
                </a:solidFill>
                <a:latin typeface="Aptos"/>
              </a:rPr>
              <a:t>Volume &amp; seasonality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46520" y="2706624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8291A0"/>
                </a:solidFill>
                <a:latin typeface="Aptos"/>
              </a:rPr>
              <a:t>12 months, incl. peak intra-day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98280" y="1627632"/>
            <a:ext cx="2651760" cy="1700784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C8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9299448" y="1810512"/>
            <a:ext cx="475488" cy="475488"/>
          </a:xfrm>
          <a:prstGeom prst="ellipse">
            <a:avLst/>
          </a:prstGeom>
          <a:solidFill>
            <a:srgbClr val="E6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409176" y="1920240"/>
            <a:ext cx="256032" cy="256032"/>
          </a:xfrm>
          <a:prstGeom prst="ellipse">
            <a:avLst/>
          </a:prstGeom>
          <a:noFill/>
          <a:ln w="12700">
            <a:solidFill>
              <a:srgbClr val="5F1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473184" y="1984248"/>
            <a:ext cx="128016" cy="128016"/>
          </a:xfrm>
          <a:prstGeom prst="ellipse">
            <a:avLst/>
          </a:prstGeom>
          <a:noFill/>
          <a:ln w="12700">
            <a:solidFill>
              <a:srgbClr val="5F1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9516709" y="2027773"/>
            <a:ext cx="40965" cy="40965"/>
          </a:xfrm>
          <a:prstGeom prst="ellipse">
            <a:avLst/>
          </a:prstGeom>
          <a:solidFill>
            <a:srgbClr val="5F1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281160" y="2395728"/>
            <a:ext cx="22860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0000"/>
                </a:solidFill>
                <a:latin typeface="Aptos"/>
              </a:rPr>
              <a:t>AHT data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81160" y="2706624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8291A0"/>
                </a:solidFill>
                <a:latin typeface="Aptos"/>
              </a:rPr>
              <a:t>Mean, median, 90th percentile per sub-process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94360" y="3511296"/>
            <a:ext cx="2651760" cy="1700784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C8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795528" y="3694176"/>
            <a:ext cx="475488" cy="475488"/>
          </a:xfrm>
          <a:prstGeom prst="ellipse">
            <a:avLst/>
          </a:prstGeom>
          <a:solidFill>
            <a:srgbClr val="E6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994867" y="3809024"/>
            <a:ext cx="76809" cy="76809"/>
          </a:xfrm>
          <a:prstGeom prst="roundRect">
            <a:avLst>
              <a:gd name="adj" fmla="val 22000"/>
            </a:avLst>
          </a:prstGeom>
          <a:solidFill>
            <a:srgbClr val="0F5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935979" y="3942161"/>
            <a:ext cx="76809" cy="76809"/>
          </a:xfrm>
          <a:prstGeom prst="roundRect">
            <a:avLst>
              <a:gd name="adj" fmla="val 22000"/>
            </a:avLst>
          </a:prstGeom>
          <a:solidFill>
            <a:srgbClr val="0F5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053754" y="3942161"/>
            <a:ext cx="76809" cy="76809"/>
          </a:xfrm>
          <a:prstGeom prst="roundRect">
            <a:avLst>
              <a:gd name="adj" fmla="val 22000"/>
            </a:avLst>
          </a:prstGeom>
          <a:solidFill>
            <a:srgbClr val="0F5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77240" y="4279392"/>
            <a:ext cx="22860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0000"/>
                </a:solidFill>
                <a:latin typeface="Aptos"/>
              </a:rPr>
              <a:t>App &amp; systems inventory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7240" y="4590288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8291A0"/>
                </a:solidFill>
                <a:latin typeface="Aptos"/>
              </a:rPr>
              <a:t>Names, versions, hosting type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429000" y="3511296"/>
            <a:ext cx="2651760" cy="1700784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C8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3630168" y="3694176"/>
            <a:ext cx="475488" cy="475488"/>
          </a:xfrm>
          <a:prstGeom prst="ellipse">
            <a:avLst/>
          </a:prstGeom>
          <a:solidFill>
            <a:srgbClr val="E6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3745016" y="3855110"/>
            <a:ext cx="153619" cy="153619"/>
          </a:xfrm>
          <a:prstGeom prst="ellipse">
            <a:avLst/>
          </a:prstGeom>
          <a:noFill/>
          <a:ln w="12700">
            <a:solidFill>
              <a:srgbClr val="0F5F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837188" y="3855110"/>
            <a:ext cx="153619" cy="153619"/>
          </a:xfrm>
          <a:prstGeom prst="ellipse">
            <a:avLst/>
          </a:prstGeom>
          <a:noFill/>
          <a:ln w="12700">
            <a:solidFill>
              <a:srgbClr val="0F5F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11880" y="4279392"/>
            <a:ext cx="22860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0000"/>
                </a:solidFill>
                <a:latin typeface="Aptos"/>
              </a:rPr>
              <a:t>Process variations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11880" y="4590288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8291A0"/>
                </a:solidFill>
                <a:latin typeface="Aptos"/>
              </a:rPr>
              <a:t>Country, entity, currency, language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263640" y="3511296"/>
            <a:ext cx="2651760" cy="1700784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C8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6464808" y="3694176"/>
            <a:ext cx="475488" cy="475488"/>
          </a:xfrm>
          <a:prstGeom prst="ellipse">
            <a:avLst/>
          </a:prstGeom>
          <a:solidFill>
            <a:srgbClr val="E6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6600139" y="3809024"/>
            <a:ext cx="204825" cy="256032"/>
          </a:xfrm>
          <a:custGeom>
            <a:avLst/>
            <a:gdLst/>
            <a:ahLst/>
            <a:cxnLst/>
            <a:rect l="l" t="t" r="r" b="b"/>
            <a:pathLst>
              <a:path w="204825" h="256032">
                <a:moveTo>
                  <a:pt x="0" y="0"/>
                </a:moveTo>
                <a:lnTo>
                  <a:pt x="204825" y="0"/>
                </a:lnTo>
                <a:lnTo>
                  <a:pt x="204825" y="138257"/>
                </a:lnTo>
                <a:lnTo>
                  <a:pt x="102413" y="256032"/>
                </a:lnTo>
                <a:lnTo>
                  <a:pt x="0" y="138257"/>
                </a:lnTo>
                <a:close/>
              </a:path>
            </a:pathLst>
          </a:custGeom>
          <a:noFill/>
          <a:ln w="12700">
            <a:solidFill>
              <a:srgbClr val="0F5F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46520" y="4279392"/>
            <a:ext cx="22860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0000"/>
                </a:solidFill>
                <a:latin typeface="Aptos"/>
              </a:rPr>
              <a:t>Error &amp; exception logs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46520" y="4590288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8291A0"/>
                </a:solidFill>
                <a:latin typeface="Aptos"/>
              </a:rPr>
              <a:t>Top 10 reasons, rework loops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098280" y="3511296"/>
            <a:ext cx="2651760" cy="1700784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C8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9299448" y="3694176"/>
            <a:ext cx="475488" cy="475488"/>
          </a:xfrm>
          <a:prstGeom prst="ellipse">
            <a:avLst/>
          </a:prstGeom>
          <a:solidFill>
            <a:srgbClr val="E6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Gear 6 56"/>
          <p:cNvSpPr/>
          <p:nvPr/>
        </p:nvSpPr>
        <p:spPr>
          <a:xfrm>
            <a:off x="9419417" y="3814145"/>
            <a:ext cx="235549" cy="235549"/>
          </a:xfrm>
          <a:prstGeom prst="gear6">
            <a:avLst/>
          </a:prstGeom>
          <a:noFill/>
          <a:ln w="12700">
            <a:solidFill>
              <a:srgbClr val="0F5F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9496226" y="3890954"/>
            <a:ext cx="81930" cy="81930"/>
          </a:xfrm>
          <a:prstGeom prst="ellipse">
            <a:avLst/>
          </a:prstGeom>
          <a:noFill/>
          <a:ln w="12700">
            <a:solidFill>
              <a:srgbClr val="0F5F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281160" y="4279392"/>
            <a:ext cx="22860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0000"/>
                </a:solidFill>
                <a:latin typeface="Aptos"/>
              </a:rPr>
              <a:t>Security mandates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281160" y="4590288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8291A0"/>
                </a:solidFill>
                <a:latin typeface="Aptos"/>
              </a:rPr>
              <a:t>PII, PCI-DSS, GDPR, cross-border limits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94360" y="6547104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A5AFBE"/>
                </a:solidFill>
                <a:latin typeface="Aptos"/>
              </a:rPr>
              <a:t>Preparing for the workshop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60" y="6547104"/>
            <a:ext cx="7132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A5AFBE"/>
                </a:solidFill>
                <a:latin typeface="Apto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9184"/>
            <a:ext cx="10058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F5FDC"/>
                </a:solidFill>
                <a:latin typeface="Aptos"/>
              </a:rPr>
              <a:t>SECTION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48640"/>
            <a:ext cx="1100023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000000"/>
                </a:solidFill>
                <a:latin typeface="Aptos"/>
              </a:rPr>
              <a:t>Ask this: </a:t>
            </a:r>
            <a:r>
              <a:rPr sz="2600" b="1">
                <a:solidFill>
                  <a:srgbClr val="0F5FDC"/>
                </a:solidFill>
                <a:latin typeface="Aptos"/>
              </a:rPr>
              <a:t>productivity &amp; business outcome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078992"/>
            <a:ext cx="11000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8291A0"/>
                </a:solidFill>
                <a:latin typeface="Aptos"/>
              </a:rPr>
              <a:t>Facilitation guide — these questions feed the impact score directly: Section 4 asks you to weigh exactly what these answers give you.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627632"/>
            <a:ext cx="5440680" cy="43434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C8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13816" y="1810512"/>
            <a:ext cx="3291840" cy="329184"/>
          </a:xfrm>
          <a:prstGeom prst="roundRect">
            <a:avLst>
              <a:gd name="adj" fmla="val 50000"/>
            </a:avLst>
          </a:prstGeom>
          <a:solidFill>
            <a:srgbClr val="5F1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8000"/>
              </a:lnSpc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ptos"/>
              </a:rPr>
              <a:t>PRODUCTIVITY</a:t>
            </a:r>
          </a:p>
        </p:txBody>
      </p:sp>
      <p:sp>
        <p:nvSpPr>
          <p:cNvPr id="7" name="Oval 6"/>
          <p:cNvSpPr/>
          <p:nvPr/>
        </p:nvSpPr>
        <p:spPr>
          <a:xfrm>
            <a:off x="813816" y="2331720"/>
            <a:ext cx="274320" cy="274320"/>
          </a:xfrm>
          <a:prstGeom prst="ellipse">
            <a:avLst/>
          </a:prstGeom>
          <a:solidFill>
            <a:srgbClr val="E6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" y="233172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5F1EBE"/>
                </a:solidFill>
                <a:latin typeface="Aptos"/>
              </a:rPr>
              <a:t>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16152" y="2276856"/>
            <a:ext cx="4617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ptos"/>
              </a:rPr>
              <a:t>What’s the current KPI — cycle time, cost per transaction — versus internal target or market benchmark?</a:t>
            </a:r>
          </a:p>
        </p:txBody>
      </p:sp>
      <p:sp>
        <p:nvSpPr>
          <p:cNvPr id="10" name="Oval 9"/>
          <p:cNvSpPr/>
          <p:nvPr/>
        </p:nvSpPr>
        <p:spPr>
          <a:xfrm>
            <a:off x="813816" y="2990087"/>
            <a:ext cx="274320" cy="274320"/>
          </a:xfrm>
          <a:prstGeom prst="ellipse">
            <a:avLst/>
          </a:prstGeom>
          <a:solidFill>
            <a:srgbClr val="E6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" y="2990087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5F1EBE"/>
                </a:solidFill>
                <a:latin typeface="Aptos"/>
              </a:rPr>
              <a:t>Q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16152" y="2935223"/>
            <a:ext cx="4617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ptos"/>
              </a:rPr>
              <a:t>How many FTEs or hours per week does this absorb today?</a:t>
            </a:r>
          </a:p>
        </p:txBody>
      </p:sp>
      <p:sp>
        <p:nvSpPr>
          <p:cNvPr id="13" name="Oval 12"/>
          <p:cNvSpPr/>
          <p:nvPr/>
        </p:nvSpPr>
        <p:spPr>
          <a:xfrm>
            <a:off x="813816" y="3648456"/>
            <a:ext cx="274320" cy="274320"/>
          </a:xfrm>
          <a:prstGeom prst="ellipse">
            <a:avLst/>
          </a:prstGeom>
          <a:solidFill>
            <a:srgbClr val="E6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" y="364845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5F1EBE"/>
                </a:solidFill>
                <a:latin typeface="Aptos"/>
              </a:rPr>
              <a:t>Q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6152" y="3593591"/>
            <a:ext cx="4617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ptos"/>
              </a:rPr>
              <a:t>If the KPI improves, does that capacity get redeployed — or just sit idle?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" y="4398264"/>
            <a:ext cx="5001768" cy="1353312"/>
          </a:xfrm>
          <a:prstGeom prst="roundRect">
            <a:avLst>
              <a:gd name="adj" fmla="val 10000"/>
            </a:avLst>
          </a:prstGeom>
          <a:solidFill>
            <a:srgbClr val="E6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8408" y="4489703"/>
            <a:ext cx="4709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5F1EBE"/>
                </a:solidFill>
                <a:latin typeface="Aptos"/>
              </a:rPr>
              <a:t>LISTEN FOR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8408" y="4690872"/>
            <a:ext cx="47091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ptos"/>
              </a:rPr>
              <a:t>A benchmark nobody has actually measured against, or “we’d just have more free time,” signals a productivity case that won’t survive finance scrutiny.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54496" y="1627632"/>
            <a:ext cx="5440680" cy="43434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C8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73952" y="1810512"/>
            <a:ext cx="3291840" cy="329184"/>
          </a:xfrm>
          <a:prstGeom prst="roundRect">
            <a:avLst>
              <a:gd name="adj" fmla="val 50000"/>
            </a:avLst>
          </a:prstGeom>
          <a:solidFill>
            <a:srgbClr val="0F5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8000"/>
              </a:lnSpc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ptos"/>
              </a:rPr>
              <a:t>BUSINESS OUTCOME</a:t>
            </a:r>
          </a:p>
        </p:txBody>
      </p:sp>
      <p:sp>
        <p:nvSpPr>
          <p:cNvPr id="21" name="Oval 20"/>
          <p:cNvSpPr/>
          <p:nvPr/>
        </p:nvSpPr>
        <p:spPr>
          <a:xfrm>
            <a:off x="6473952" y="2331720"/>
            <a:ext cx="274320" cy="274320"/>
          </a:xfrm>
          <a:prstGeom prst="ellipse">
            <a:avLst/>
          </a:prstGeom>
          <a:solidFill>
            <a:srgbClr val="E6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3952" y="233172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0F5FDC"/>
                </a:solidFill>
                <a:latin typeface="Aptos"/>
              </a:rPr>
              <a:t>Q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76288" y="2276856"/>
            <a:ext cx="4617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ptos"/>
              </a:rPr>
              <a:t>If this KPI improves by X%, does it move revenue, margin or compliance risk — or does it stay internal?</a:t>
            </a:r>
          </a:p>
        </p:txBody>
      </p:sp>
      <p:sp>
        <p:nvSpPr>
          <p:cNvPr id="24" name="Oval 23"/>
          <p:cNvSpPr/>
          <p:nvPr/>
        </p:nvSpPr>
        <p:spPr>
          <a:xfrm>
            <a:off x="6473952" y="2990087"/>
            <a:ext cx="274320" cy="274320"/>
          </a:xfrm>
          <a:prstGeom prst="ellipse">
            <a:avLst/>
          </a:prstGeom>
          <a:solidFill>
            <a:srgbClr val="E6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3952" y="2990087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0F5FDC"/>
                </a:solidFill>
                <a:latin typeface="Aptos"/>
              </a:rPr>
              <a:t>Q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76288" y="2935223"/>
            <a:ext cx="4617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ptos"/>
              </a:rPr>
              <a:t>What does it cost today when this goes wrong — a late fee, a lost discount, an audit finding?</a:t>
            </a:r>
          </a:p>
        </p:txBody>
      </p:sp>
      <p:sp>
        <p:nvSpPr>
          <p:cNvPr id="27" name="Oval 26"/>
          <p:cNvSpPr/>
          <p:nvPr/>
        </p:nvSpPr>
        <p:spPr>
          <a:xfrm>
            <a:off x="6473952" y="3648456"/>
            <a:ext cx="274320" cy="274320"/>
          </a:xfrm>
          <a:prstGeom prst="ellipse">
            <a:avLst/>
          </a:prstGeom>
          <a:solidFill>
            <a:srgbClr val="E6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73952" y="364845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0F5FDC"/>
                </a:solidFill>
                <a:latin typeface="Aptos"/>
              </a:rPr>
              <a:t>Q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76288" y="3593591"/>
            <a:ext cx="4617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ptos"/>
              </a:rPr>
              <a:t>Who outside the team actually feels this — customer, finance, or a regulator?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73952" y="4398264"/>
            <a:ext cx="5001768" cy="1353312"/>
          </a:xfrm>
          <a:prstGeom prst="roundRect">
            <a:avLst>
              <a:gd name="adj" fmla="val 10000"/>
            </a:avLst>
          </a:prstGeom>
          <a:solidFill>
            <a:srgbClr val="E6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38544" y="4489703"/>
            <a:ext cx="4709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0F5FDC"/>
                </a:solidFill>
                <a:latin typeface="Aptos"/>
              </a:rPr>
              <a:t>LISTEN FOR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38544" y="4690872"/>
            <a:ext cx="47091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ptos"/>
              </a:rPr>
              <a:t>If nobody can trace the KPI to a P&amp;L line or a named external stakeholder, the business-outcome score should stay low, however painful the process feels internally.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6547104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A5AFBE"/>
                </a:solidFill>
                <a:latin typeface="Aptos"/>
              </a:rPr>
              <a:t>Running the workshop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81360" y="6547104"/>
            <a:ext cx="7132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A5AFBE"/>
                </a:solidFill>
                <a:latin typeface="Apto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9184"/>
            <a:ext cx="10058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F5FDC"/>
                </a:solidFill>
                <a:latin typeface="Aptos"/>
              </a:rPr>
              <a:t>SECTION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48640"/>
            <a:ext cx="1100023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000000"/>
                </a:solidFill>
                <a:latin typeface="Aptos"/>
              </a:rPr>
              <a:t>Ask this: </a:t>
            </a:r>
            <a:r>
              <a:rPr sz="2600" b="1">
                <a:solidFill>
                  <a:srgbClr val="0F5FDC"/>
                </a:solidFill>
                <a:latin typeface="Aptos"/>
              </a:rPr>
              <a:t>process &amp;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078992"/>
            <a:ext cx="11000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8291A0"/>
                </a:solidFill>
                <a:latin typeface="Aptos"/>
              </a:rPr>
              <a:t>Facilitation guide, part 1 — ask a handful of anchor questions per category, then dig where the answer is soft.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627632"/>
            <a:ext cx="5440680" cy="43434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C8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13816" y="1810512"/>
            <a:ext cx="3291840" cy="329184"/>
          </a:xfrm>
          <a:prstGeom prst="roundRect">
            <a:avLst>
              <a:gd name="adj" fmla="val 50000"/>
            </a:avLst>
          </a:prstGeom>
          <a:solidFill>
            <a:srgbClr val="5F1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8000"/>
              </a:lnSpc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ptos"/>
              </a:rPr>
              <a:t>PROCESS &amp; OPERATING LOGIC</a:t>
            </a:r>
          </a:p>
        </p:txBody>
      </p:sp>
      <p:sp>
        <p:nvSpPr>
          <p:cNvPr id="7" name="Oval 6"/>
          <p:cNvSpPr/>
          <p:nvPr/>
        </p:nvSpPr>
        <p:spPr>
          <a:xfrm>
            <a:off x="813816" y="2331720"/>
            <a:ext cx="274320" cy="274320"/>
          </a:xfrm>
          <a:prstGeom prst="ellipse">
            <a:avLst/>
          </a:prstGeom>
          <a:solidFill>
            <a:srgbClr val="E6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" y="233172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5F1EBE"/>
                </a:solidFill>
                <a:latin typeface="Aptos"/>
              </a:rPr>
              <a:t>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16152" y="2276856"/>
            <a:ext cx="4617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ptos"/>
              </a:rPr>
              <a:t>What triggers the process — batch, inbox, webhook, manual push?</a:t>
            </a:r>
          </a:p>
        </p:txBody>
      </p:sp>
      <p:sp>
        <p:nvSpPr>
          <p:cNvPr id="10" name="Oval 9"/>
          <p:cNvSpPr/>
          <p:nvPr/>
        </p:nvSpPr>
        <p:spPr>
          <a:xfrm>
            <a:off x="813816" y="2990087"/>
            <a:ext cx="274320" cy="274320"/>
          </a:xfrm>
          <a:prstGeom prst="ellipse">
            <a:avLst/>
          </a:prstGeom>
          <a:solidFill>
            <a:srgbClr val="E6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" y="2990087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5F1EBE"/>
                </a:solidFill>
                <a:latin typeface="Aptos"/>
              </a:rPr>
              <a:t>Q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16152" y="2935223"/>
            <a:ext cx="4617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ptos"/>
              </a:rPr>
              <a:t>What % follows the happy path vs. exceptions?</a:t>
            </a:r>
          </a:p>
        </p:txBody>
      </p:sp>
      <p:sp>
        <p:nvSpPr>
          <p:cNvPr id="13" name="Oval 12"/>
          <p:cNvSpPr/>
          <p:nvPr/>
        </p:nvSpPr>
        <p:spPr>
          <a:xfrm>
            <a:off x="813816" y="3648456"/>
            <a:ext cx="274320" cy="274320"/>
          </a:xfrm>
          <a:prstGeom prst="ellipse">
            <a:avLst/>
          </a:prstGeom>
          <a:solidFill>
            <a:srgbClr val="E6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" y="364845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5F1EBE"/>
                </a:solidFill>
                <a:latin typeface="Aptos"/>
              </a:rPr>
              <a:t>Q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6152" y="3593591"/>
            <a:ext cx="4617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ptos"/>
              </a:rPr>
              <a:t>Is it subject to month-end or seasonal spikes (e.g. 5x volume)?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" y="4398264"/>
            <a:ext cx="5001768" cy="1353312"/>
          </a:xfrm>
          <a:prstGeom prst="roundRect">
            <a:avLst>
              <a:gd name="adj" fmla="val 10000"/>
            </a:avLst>
          </a:prstGeom>
          <a:solidFill>
            <a:srgbClr val="E6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8408" y="4489703"/>
            <a:ext cx="4709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5F1EBE"/>
                </a:solidFill>
                <a:latin typeface="Aptos"/>
              </a:rPr>
              <a:t>LISTEN FOR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8408" y="4690872"/>
            <a:ext cx="47091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ptos"/>
              </a:rPr>
              <a:t>A trigger nobody can name cleanly, or a happy-path % given with false confidence, means the SOP and reality have drifted apart.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54496" y="1627632"/>
            <a:ext cx="5440680" cy="43434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C8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73952" y="1810512"/>
            <a:ext cx="3291840" cy="329184"/>
          </a:xfrm>
          <a:prstGeom prst="roundRect">
            <a:avLst>
              <a:gd name="adj" fmla="val 50000"/>
            </a:avLst>
          </a:prstGeom>
          <a:solidFill>
            <a:srgbClr val="0F5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8000"/>
              </a:lnSpc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ptos"/>
              </a:rPr>
              <a:t>DATA &amp; INPUT CHARACTERISTICS</a:t>
            </a:r>
          </a:p>
        </p:txBody>
      </p:sp>
      <p:sp>
        <p:nvSpPr>
          <p:cNvPr id="21" name="Oval 20"/>
          <p:cNvSpPr/>
          <p:nvPr/>
        </p:nvSpPr>
        <p:spPr>
          <a:xfrm>
            <a:off x="6473952" y="2331720"/>
            <a:ext cx="274320" cy="274320"/>
          </a:xfrm>
          <a:prstGeom prst="ellipse">
            <a:avLst/>
          </a:prstGeom>
          <a:solidFill>
            <a:srgbClr val="E6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3952" y="233172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0F5FDC"/>
                </a:solidFill>
                <a:latin typeface="Aptos"/>
              </a:rPr>
              <a:t>Q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76288" y="2276856"/>
            <a:ext cx="4617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ptos"/>
              </a:rPr>
              <a:t>What format do inputs arrive in — structured, semi-, unstructured?</a:t>
            </a:r>
          </a:p>
        </p:txBody>
      </p:sp>
      <p:sp>
        <p:nvSpPr>
          <p:cNvPr id="24" name="Oval 23"/>
          <p:cNvSpPr/>
          <p:nvPr/>
        </p:nvSpPr>
        <p:spPr>
          <a:xfrm>
            <a:off x="6473952" y="2990087"/>
            <a:ext cx="274320" cy="274320"/>
          </a:xfrm>
          <a:prstGeom prst="ellipse">
            <a:avLst/>
          </a:prstGeom>
          <a:solidFill>
            <a:srgbClr val="E6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3952" y="2990087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0F5FDC"/>
                </a:solidFill>
                <a:latin typeface="Aptos"/>
              </a:rPr>
              <a:t>Q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76288" y="2935223"/>
            <a:ext cx="4617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ptos"/>
              </a:rPr>
              <a:t>If scanned: resolution, image quality, handwriting incidence?</a:t>
            </a:r>
          </a:p>
        </p:txBody>
      </p:sp>
      <p:sp>
        <p:nvSpPr>
          <p:cNvPr id="27" name="Oval 26"/>
          <p:cNvSpPr/>
          <p:nvPr/>
        </p:nvSpPr>
        <p:spPr>
          <a:xfrm>
            <a:off x="6473952" y="3648456"/>
            <a:ext cx="274320" cy="274320"/>
          </a:xfrm>
          <a:prstGeom prst="ellipse">
            <a:avLst/>
          </a:prstGeom>
          <a:solidFill>
            <a:srgbClr val="E6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73952" y="364845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0F5FDC"/>
                </a:solidFill>
                <a:latin typeface="Aptos"/>
              </a:rPr>
              <a:t>Q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76288" y="3593591"/>
            <a:ext cx="4617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ptos"/>
              </a:rPr>
              <a:t>Are templates standardized, or do they vary by vendor/region?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73952" y="4398264"/>
            <a:ext cx="5001768" cy="1353312"/>
          </a:xfrm>
          <a:prstGeom prst="roundRect">
            <a:avLst>
              <a:gd name="adj" fmla="val 10000"/>
            </a:avLst>
          </a:prstGeom>
          <a:solidFill>
            <a:srgbClr val="E6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38544" y="4489703"/>
            <a:ext cx="4709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0F5FDC"/>
                </a:solidFill>
                <a:latin typeface="Aptos"/>
              </a:rPr>
              <a:t>LISTEN FOR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38544" y="4690872"/>
            <a:ext cx="47091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ptos"/>
              </a:rPr>
              <a:t>Vague answers on input format almost always mean nobody has actually opened a sample of 20 real transactions recently.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6547104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A5AFBE"/>
                </a:solidFill>
                <a:latin typeface="Aptos"/>
              </a:rPr>
              <a:t>Running the workshop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81360" y="6547104"/>
            <a:ext cx="7132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A5AFBE"/>
                </a:solidFill>
                <a:latin typeface="Aptos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9184"/>
            <a:ext cx="10058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F5FDC"/>
                </a:solidFill>
                <a:latin typeface="Aptos"/>
              </a:rPr>
              <a:t>SECTION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48640"/>
            <a:ext cx="1100023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000000"/>
                </a:solidFill>
                <a:latin typeface="Aptos"/>
              </a:rPr>
              <a:t>Ask this: </a:t>
            </a:r>
            <a:r>
              <a:rPr sz="2600" b="1">
                <a:solidFill>
                  <a:srgbClr val="0F5FDC"/>
                </a:solidFill>
                <a:latin typeface="Aptos"/>
              </a:rPr>
              <a:t>systems &amp; exceptions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078992"/>
            <a:ext cx="11000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8291A0"/>
                </a:solidFill>
                <a:latin typeface="Aptos"/>
              </a:rPr>
              <a:t>Facilitation guide, part 2 — this is where feasibility gets decided, not the process walkthrough.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627632"/>
            <a:ext cx="5440680" cy="43434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C8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13816" y="1810512"/>
            <a:ext cx="3291840" cy="329184"/>
          </a:xfrm>
          <a:prstGeom prst="roundRect">
            <a:avLst>
              <a:gd name="adj" fmla="val 50000"/>
            </a:avLst>
          </a:prstGeom>
          <a:solidFill>
            <a:srgbClr val="5F1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8000"/>
              </a:lnSpc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ptos"/>
              </a:rPr>
              <a:t>SYSTEMS, ARCHITECTURE &amp; ACCESS</a:t>
            </a:r>
          </a:p>
        </p:txBody>
      </p:sp>
      <p:sp>
        <p:nvSpPr>
          <p:cNvPr id="7" name="Oval 6"/>
          <p:cNvSpPr/>
          <p:nvPr/>
        </p:nvSpPr>
        <p:spPr>
          <a:xfrm>
            <a:off x="813816" y="2331720"/>
            <a:ext cx="274320" cy="274320"/>
          </a:xfrm>
          <a:prstGeom prst="ellipse">
            <a:avLst/>
          </a:prstGeom>
          <a:solidFill>
            <a:srgbClr val="E6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" y="233172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5F1EBE"/>
                </a:solidFill>
                <a:latin typeface="Aptos"/>
              </a:rPr>
              <a:t>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16152" y="2276856"/>
            <a:ext cx="4617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ptos"/>
              </a:rPr>
              <a:t>Native access, or Citrix/VDI? Are modern APIs available?</a:t>
            </a:r>
          </a:p>
        </p:txBody>
      </p:sp>
      <p:sp>
        <p:nvSpPr>
          <p:cNvPr id="10" name="Oval 9"/>
          <p:cNvSpPr/>
          <p:nvPr/>
        </p:nvSpPr>
        <p:spPr>
          <a:xfrm>
            <a:off x="813816" y="2990087"/>
            <a:ext cx="274320" cy="274320"/>
          </a:xfrm>
          <a:prstGeom prst="ellipse">
            <a:avLst/>
          </a:prstGeom>
          <a:solidFill>
            <a:srgbClr val="E6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" y="2990087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5F1EBE"/>
                </a:solidFill>
                <a:latin typeface="Aptos"/>
              </a:rPr>
              <a:t>Q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16152" y="2935223"/>
            <a:ext cx="4617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ptos"/>
              </a:rPr>
              <a:t>Any migration, major upgrade or decommission in 6–12 months?</a:t>
            </a:r>
          </a:p>
        </p:txBody>
      </p:sp>
      <p:sp>
        <p:nvSpPr>
          <p:cNvPr id="13" name="Oval 12"/>
          <p:cNvSpPr/>
          <p:nvPr/>
        </p:nvSpPr>
        <p:spPr>
          <a:xfrm>
            <a:off x="813816" y="3648456"/>
            <a:ext cx="274320" cy="274320"/>
          </a:xfrm>
          <a:prstGeom prst="ellipse">
            <a:avLst/>
          </a:prstGeom>
          <a:solidFill>
            <a:srgbClr val="E6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" y="364845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5F1EBE"/>
                </a:solidFill>
                <a:latin typeface="Aptos"/>
              </a:rPr>
              <a:t>Q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6152" y="3593591"/>
            <a:ext cx="4617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ptos"/>
              </a:rPr>
              <a:t>What authentication exists — SSO, MFA, RSA tokens, CAPTCHA?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" y="4398264"/>
            <a:ext cx="5001768" cy="1353312"/>
          </a:xfrm>
          <a:prstGeom prst="roundRect">
            <a:avLst>
              <a:gd name="adj" fmla="val 10000"/>
            </a:avLst>
          </a:prstGeom>
          <a:solidFill>
            <a:srgbClr val="E6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8408" y="4489703"/>
            <a:ext cx="4709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5F1EBE"/>
                </a:solidFill>
                <a:latin typeface="Aptos"/>
              </a:rPr>
              <a:t>LISTEN FOR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8408" y="4690872"/>
            <a:ext cx="47091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ptos"/>
              </a:rPr>
              <a:t>A “yes” to APIs that turns out to mean “someone mentioned it once” is the most common false-positive in a DD workshop.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54496" y="1627632"/>
            <a:ext cx="5440680" cy="43434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C8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73952" y="1810512"/>
            <a:ext cx="3291840" cy="329184"/>
          </a:xfrm>
          <a:prstGeom prst="roundRect">
            <a:avLst>
              <a:gd name="adj" fmla="val 50000"/>
            </a:avLst>
          </a:prstGeom>
          <a:solidFill>
            <a:srgbClr val="0F5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8000"/>
              </a:lnSpc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ptos"/>
              </a:rPr>
              <a:t>EXCEPTIONS, QUALITY &amp; FALLBACK</a:t>
            </a:r>
          </a:p>
        </p:txBody>
      </p:sp>
      <p:sp>
        <p:nvSpPr>
          <p:cNvPr id="21" name="Oval 20"/>
          <p:cNvSpPr/>
          <p:nvPr/>
        </p:nvSpPr>
        <p:spPr>
          <a:xfrm>
            <a:off x="6473952" y="2331720"/>
            <a:ext cx="274320" cy="274320"/>
          </a:xfrm>
          <a:prstGeom prst="ellipse">
            <a:avLst/>
          </a:prstGeom>
          <a:solidFill>
            <a:srgbClr val="E6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3952" y="233172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0F5FDC"/>
                </a:solidFill>
                <a:latin typeface="Aptos"/>
              </a:rPr>
              <a:t>Q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76288" y="2276856"/>
            <a:ext cx="4617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ptos"/>
              </a:rPr>
              <a:t>What are the standard business and technical exceptions?</a:t>
            </a:r>
          </a:p>
        </p:txBody>
      </p:sp>
      <p:sp>
        <p:nvSpPr>
          <p:cNvPr id="24" name="Oval 23"/>
          <p:cNvSpPr/>
          <p:nvPr/>
        </p:nvSpPr>
        <p:spPr>
          <a:xfrm>
            <a:off x="6473952" y="2990087"/>
            <a:ext cx="274320" cy="274320"/>
          </a:xfrm>
          <a:prstGeom prst="ellipse">
            <a:avLst/>
          </a:prstGeom>
          <a:solidFill>
            <a:srgbClr val="E6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3952" y="2990087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0F5FDC"/>
                </a:solidFill>
                <a:latin typeface="Aptos"/>
              </a:rPr>
              <a:t>Q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76288" y="2935223"/>
            <a:ext cx="4617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ptos"/>
              </a:rPr>
              <a:t>How are exceptions routed today — dedicated tier-2 queue?</a:t>
            </a:r>
          </a:p>
        </p:txBody>
      </p:sp>
      <p:sp>
        <p:nvSpPr>
          <p:cNvPr id="27" name="Oval 26"/>
          <p:cNvSpPr/>
          <p:nvPr/>
        </p:nvSpPr>
        <p:spPr>
          <a:xfrm>
            <a:off x="6473952" y="3648456"/>
            <a:ext cx="274320" cy="274320"/>
          </a:xfrm>
          <a:prstGeom prst="ellipse">
            <a:avLst/>
          </a:prstGeom>
          <a:solidFill>
            <a:srgbClr val="E6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73952" y="364845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0F5FDC"/>
                </a:solidFill>
                <a:latin typeface="Aptos"/>
              </a:rPr>
              <a:t>Q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76288" y="3593591"/>
            <a:ext cx="4617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ptos"/>
              </a:rPr>
              <a:t>What’s the acceptable human-in-the-loop threshold?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73952" y="4398264"/>
            <a:ext cx="5001768" cy="1353312"/>
          </a:xfrm>
          <a:prstGeom prst="roundRect">
            <a:avLst>
              <a:gd name="adj" fmla="val 10000"/>
            </a:avLst>
          </a:prstGeom>
          <a:solidFill>
            <a:srgbClr val="E6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38544" y="4489703"/>
            <a:ext cx="4709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0F5FDC"/>
                </a:solidFill>
                <a:latin typeface="Aptos"/>
              </a:rPr>
              <a:t>LISTEN FOR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38544" y="4690872"/>
            <a:ext cx="47091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ptos"/>
              </a:rPr>
              <a:t>If nobody can quote an exception rate — only “not that many” — assume it’s higher than stated until you’ve seen the log.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6547104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A5AFBE"/>
                </a:solidFill>
                <a:latin typeface="Aptos"/>
              </a:rPr>
              <a:t>Running the workshop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81360" y="6547104"/>
            <a:ext cx="7132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A5AFBE"/>
                </a:solidFill>
                <a:latin typeface="Aptos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9184"/>
            <a:ext cx="10058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F5FDC"/>
                </a:solidFill>
                <a:latin typeface="Aptos"/>
              </a:rPr>
              <a:t>SECTION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48640"/>
            <a:ext cx="1100023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000000"/>
                </a:solidFill>
                <a:latin typeface="Aptos"/>
              </a:rPr>
              <a:t>Scoring complexity — </a:t>
            </a:r>
            <a:r>
              <a:rPr sz="2600" b="1">
                <a:solidFill>
                  <a:srgbClr val="0F5FDC"/>
                </a:solidFill>
                <a:latin typeface="Aptos"/>
              </a:rPr>
              <a:t>three dimensions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078992"/>
            <a:ext cx="11000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8291A0"/>
                </a:solidFill>
                <a:latin typeface="Aptos"/>
              </a:rPr>
              <a:t>The source model uses five; in the field, three is enough to route a decision and easy enough to score live.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700784"/>
            <a:ext cx="11000232" cy="1298448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C8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1901952"/>
            <a:ext cx="777240" cy="329184"/>
          </a:xfrm>
          <a:prstGeom prst="roundRect">
            <a:avLst>
              <a:gd name="adj" fmla="val 50000"/>
            </a:avLst>
          </a:prstGeom>
          <a:solidFill>
            <a:srgbClr val="411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8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ptos"/>
              </a:rPr>
              <a:t>35%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1883664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Aptos"/>
              </a:rPr>
              <a:t>Data &amp; Input Complexity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737360" y="2487168"/>
            <a:ext cx="8595360" cy="146304"/>
          </a:xfrm>
          <a:prstGeom prst="roundRect">
            <a:avLst>
              <a:gd name="adj" fmla="val 50000"/>
            </a:avLst>
          </a:prstGeom>
          <a:solidFill>
            <a:srgbClr val="E6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737360" y="2487168"/>
            <a:ext cx="2578608" cy="146304"/>
          </a:xfrm>
          <a:prstGeom prst="roundRect">
            <a:avLst>
              <a:gd name="adj" fmla="val 50000"/>
            </a:avLst>
          </a:prstGeom>
          <a:solidFill>
            <a:srgbClr val="411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737360" y="2670048"/>
            <a:ext cx="51572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8291A0"/>
                </a:solidFill>
                <a:latin typeface="Aptos"/>
              </a:rPr>
              <a:t>Structured digital (API, DB, fixed CSV)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75504" y="2670048"/>
            <a:ext cx="51572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8291A0"/>
                </a:solidFill>
                <a:latin typeface="Aptos"/>
              </a:rPr>
              <a:t>Unstructured — scans, handwriting, free text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3200400"/>
            <a:ext cx="11000232" cy="1298448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C8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22960" y="3401568"/>
            <a:ext cx="777240" cy="329184"/>
          </a:xfrm>
          <a:prstGeom prst="roundRect">
            <a:avLst>
              <a:gd name="adj" fmla="val 50000"/>
            </a:avLst>
          </a:prstGeom>
          <a:solidFill>
            <a:srgbClr val="2839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8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ptos"/>
              </a:rPr>
              <a:t>35%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33832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Aptos"/>
              </a:rPr>
              <a:t>Process Logic Complexity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737360" y="3986784"/>
            <a:ext cx="8595360" cy="146304"/>
          </a:xfrm>
          <a:prstGeom prst="roundRect">
            <a:avLst>
              <a:gd name="adj" fmla="val 50000"/>
            </a:avLst>
          </a:prstGeom>
          <a:solidFill>
            <a:srgbClr val="E6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737360" y="3986784"/>
            <a:ext cx="4727448" cy="146304"/>
          </a:xfrm>
          <a:prstGeom prst="roundRect">
            <a:avLst>
              <a:gd name="adj" fmla="val 50000"/>
            </a:avLst>
          </a:prstGeom>
          <a:solidFill>
            <a:srgbClr val="2839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37360" y="4169664"/>
            <a:ext cx="51572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8291A0"/>
                </a:solidFill>
                <a:latin typeface="Aptos"/>
              </a:rPr>
              <a:t>Deterministic rules, &lt;5% exceptions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75504" y="4169664"/>
            <a:ext cx="51572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8291A0"/>
                </a:solidFill>
                <a:latin typeface="Aptos"/>
              </a:rPr>
              <a:t>Subjective judgment, &gt;15% exceptions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4700016"/>
            <a:ext cx="11000232" cy="1298448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C8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22960" y="4901183"/>
            <a:ext cx="777240" cy="329184"/>
          </a:xfrm>
          <a:prstGeom prst="roundRect">
            <a:avLst>
              <a:gd name="adj" fmla="val 50000"/>
            </a:avLst>
          </a:prstGeom>
          <a:solidFill>
            <a:srgbClr val="0F5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8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ptos"/>
              </a:rPr>
              <a:t>30%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37360" y="4882896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Aptos"/>
              </a:rPr>
              <a:t>Technical &amp; System Complexity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737360" y="5486400"/>
            <a:ext cx="8595360" cy="146304"/>
          </a:xfrm>
          <a:prstGeom prst="roundRect">
            <a:avLst>
              <a:gd name="adj" fmla="val 50000"/>
            </a:avLst>
          </a:prstGeom>
          <a:solidFill>
            <a:srgbClr val="E6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737360" y="5486400"/>
            <a:ext cx="6016752" cy="146304"/>
          </a:xfrm>
          <a:prstGeom prst="roundRect">
            <a:avLst>
              <a:gd name="adj" fmla="val 50000"/>
            </a:avLst>
          </a:prstGeom>
          <a:solidFill>
            <a:srgbClr val="0F5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737360" y="5669280"/>
            <a:ext cx="51572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8291A0"/>
                </a:solidFill>
                <a:latin typeface="Aptos"/>
              </a:rPr>
              <a:t>1–2 modern apps, API access, stable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75504" y="5669280"/>
            <a:ext cx="51572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8291A0"/>
                </a:solidFill>
                <a:latin typeface="Aptos"/>
              </a:rPr>
              <a:t>5+ apps, Citrix/VDI/MFA, migration planned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6126480"/>
            <a:ext cx="11000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Aptos"/>
              </a:rPr>
              <a:t>Weighted Complexity Score  </a:t>
            </a:r>
            <a:r>
              <a:rPr sz="1100" b="0">
                <a:solidFill>
                  <a:srgbClr val="8291A0"/>
                </a:solidFill>
                <a:latin typeface="Aptos"/>
              </a:rPr>
              <a:t>=  Σ (dimension score × weight), on a 1.0–5.0 scale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6547104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A5AFBE"/>
                </a:solidFill>
                <a:latin typeface="Aptos"/>
              </a:rPr>
              <a:t>Scoring what you heard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60" y="6547104"/>
            <a:ext cx="7132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A5AFBE"/>
                </a:solidFill>
                <a:latin typeface="Aptos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9184"/>
            <a:ext cx="10058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F5FDC"/>
                </a:solidFill>
                <a:latin typeface="Aptos"/>
              </a:rPr>
              <a:t>SECTION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48640"/>
            <a:ext cx="1100023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000000"/>
                </a:solidFill>
                <a:latin typeface="Aptos"/>
              </a:rPr>
              <a:t>Scoring impact — </a:t>
            </a:r>
            <a:r>
              <a:rPr sz="2600" b="1">
                <a:solidFill>
                  <a:srgbClr val="0F5FDC"/>
                </a:solidFill>
                <a:latin typeface="Aptos"/>
              </a:rPr>
              <a:t>two dimensions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078992"/>
            <a:ext cx="11000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8291A0"/>
                </a:solidFill>
                <a:latin typeface="Aptos"/>
              </a:rPr>
              <a:t>Everything the source model measures rolls up into one of two questions: does it free up people, or does it move the P&amp;L?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700784"/>
            <a:ext cx="5257800" cy="4160520"/>
          </a:xfrm>
          <a:prstGeom prst="roundRect">
            <a:avLst>
              <a:gd name="adj" fmla="val 3500"/>
            </a:avLst>
          </a:prstGeom>
          <a:solidFill>
            <a:srgbClr val="DCE6F0"/>
          </a:solidFill>
          <a:ln w="9525">
            <a:solidFill>
              <a:srgbClr val="5F1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68680" y="1938528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5F1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8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PRODUCTIVITY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6320" y="1938528"/>
            <a:ext cx="7315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600" b="1">
                <a:solidFill>
                  <a:srgbClr val="5F1EBE"/>
                </a:solidFill>
                <a:latin typeface="Aptos"/>
              </a:rPr>
              <a:t>50%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642615"/>
            <a:ext cx="146304" cy="146304"/>
          </a:xfrm>
          <a:prstGeom prst="ellipse">
            <a:avLst/>
          </a:prstGeom>
          <a:solidFill>
            <a:srgbClr val="5F1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542032"/>
            <a:ext cx="44348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000000"/>
                </a:solidFill>
                <a:latin typeface="Aptos"/>
              </a:rPr>
              <a:t>FTE capacity released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3209544"/>
            <a:ext cx="146304" cy="146304"/>
          </a:xfrm>
          <a:prstGeom prst="ellipse">
            <a:avLst/>
          </a:prstGeom>
          <a:solidFill>
            <a:srgbClr val="5F1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108960"/>
            <a:ext cx="44348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000000"/>
                </a:solidFill>
                <a:latin typeface="Aptos"/>
              </a:rPr>
              <a:t>Cycle time / SLA reduction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776472"/>
            <a:ext cx="146304" cy="146304"/>
          </a:xfrm>
          <a:prstGeom prst="ellipse">
            <a:avLst/>
          </a:prstGeom>
          <a:solidFill>
            <a:srgbClr val="5F1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675888"/>
            <a:ext cx="44348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000000"/>
                </a:solidFill>
                <a:latin typeface="Aptos"/>
              </a:rPr>
              <a:t>Rework and error elimination</a:t>
            </a:r>
          </a:p>
        </p:txBody>
      </p:sp>
      <p:sp>
        <p:nvSpPr>
          <p:cNvPr id="14" name="Freeform 13"/>
          <p:cNvSpPr/>
          <p:nvPr/>
        </p:nvSpPr>
        <p:spPr>
          <a:xfrm>
            <a:off x="868680" y="5257800"/>
            <a:ext cx="4709160" cy="0"/>
          </a:xfrm>
          <a:custGeom>
            <a:avLst/>
            <a:gdLst/>
            <a:ahLst/>
            <a:cxnLst/>
            <a:rect l="l" t="t" r="r" b="b"/>
            <a:pathLst>
              <a:path w="4709160" h="0">
                <a:moveTo>
                  <a:pt x="0" y="0"/>
                </a:moveTo>
                <a:lnTo>
                  <a:pt x="4709160" y="0"/>
                </a:lnTo>
              </a:path>
            </a:pathLst>
          </a:custGeom>
          <a:noFill/>
          <a:ln w="9525">
            <a:solidFill>
              <a:srgbClr val="5F1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68680" y="5404104"/>
            <a:ext cx="4709160" cy="146304"/>
          </a:xfrm>
          <a:prstGeom prst="roundRect">
            <a:avLst>
              <a:gd name="adj" fmla="val 50000"/>
            </a:avLst>
          </a:prstGeom>
          <a:solidFill>
            <a:srgbClr val="E6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68680" y="5404104"/>
            <a:ext cx="2825496" cy="146304"/>
          </a:xfrm>
          <a:prstGeom prst="roundRect">
            <a:avLst>
              <a:gd name="adj" fmla="val 50000"/>
            </a:avLst>
          </a:prstGeom>
          <a:solidFill>
            <a:srgbClr val="5F1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586984"/>
            <a:ext cx="282549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8291A0"/>
                </a:solidFill>
                <a:latin typeface="Aptos"/>
              </a:rPr>
              <a:t>&lt; 0.5 FTE, no P&amp;L line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52344" y="5586984"/>
            <a:ext cx="282549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8291A0"/>
                </a:solidFill>
                <a:latin typeface="Aptos"/>
              </a:rPr>
              <a:t>&gt; 3 FTEs released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36792" y="1700784"/>
            <a:ext cx="5257800" cy="4160520"/>
          </a:xfrm>
          <a:prstGeom prst="roundRect">
            <a:avLst>
              <a:gd name="adj" fmla="val 3500"/>
            </a:avLst>
          </a:prstGeom>
          <a:solidFill>
            <a:srgbClr val="DCE6F0"/>
          </a:solidFill>
          <a:ln w="9525">
            <a:solidFill>
              <a:srgbClr val="0F5F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611112" y="1938528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0F5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8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BUSINESS OUTCOME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88752" y="1938528"/>
            <a:ext cx="7315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600" b="1">
                <a:solidFill>
                  <a:srgbClr val="0F5FDC"/>
                </a:solidFill>
                <a:latin typeface="Aptos"/>
              </a:rPr>
              <a:t>50%</a:t>
            </a:r>
          </a:p>
        </p:txBody>
      </p:sp>
      <p:sp>
        <p:nvSpPr>
          <p:cNvPr id="22" name="Oval 21"/>
          <p:cNvSpPr/>
          <p:nvPr/>
        </p:nvSpPr>
        <p:spPr>
          <a:xfrm>
            <a:off x="6611112" y="2642615"/>
            <a:ext cx="146304" cy="146304"/>
          </a:xfrm>
          <a:prstGeom prst="ellipse">
            <a:avLst/>
          </a:prstGeom>
          <a:solidFill>
            <a:srgbClr val="0F5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85432" y="2542032"/>
            <a:ext cx="44348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000000"/>
                </a:solidFill>
                <a:latin typeface="Aptos"/>
              </a:rPr>
              <a:t>Revenue protected or accelerated</a:t>
            </a:r>
          </a:p>
        </p:txBody>
      </p:sp>
      <p:sp>
        <p:nvSpPr>
          <p:cNvPr id="24" name="Oval 23"/>
          <p:cNvSpPr/>
          <p:nvPr/>
        </p:nvSpPr>
        <p:spPr>
          <a:xfrm>
            <a:off x="6611112" y="3209544"/>
            <a:ext cx="146304" cy="146304"/>
          </a:xfrm>
          <a:prstGeom prst="ellipse">
            <a:avLst/>
          </a:prstGeom>
          <a:solidFill>
            <a:srgbClr val="0F5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85432" y="3108960"/>
            <a:ext cx="44348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000000"/>
                </a:solidFill>
                <a:latin typeface="Aptos"/>
              </a:rPr>
              <a:t>Margin improvement</a:t>
            </a:r>
          </a:p>
        </p:txBody>
      </p:sp>
      <p:sp>
        <p:nvSpPr>
          <p:cNvPr id="26" name="Oval 25"/>
          <p:cNvSpPr/>
          <p:nvPr/>
        </p:nvSpPr>
        <p:spPr>
          <a:xfrm>
            <a:off x="6611112" y="3776472"/>
            <a:ext cx="146304" cy="146304"/>
          </a:xfrm>
          <a:prstGeom prst="ellipse">
            <a:avLst/>
          </a:prstGeom>
          <a:solidFill>
            <a:srgbClr val="0F5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85432" y="3675888"/>
            <a:ext cx="44348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000000"/>
                </a:solidFill>
                <a:latin typeface="Aptos"/>
              </a:rPr>
              <a:t>Cash flow / working capital, compliance risk avoided</a:t>
            </a:r>
          </a:p>
        </p:txBody>
      </p:sp>
      <p:sp>
        <p:nvSpPr>
          <p:cNvPr id="28" name="Freeform 27"/>
          <p:cNvSpPr/>
          <p:nvPr/>
        </p:nvSpPr>
        <p:spPr>
          <a:xfrm>
            <a:off x="6611112" y="5257800"/>
            <a:ext cx="4709160" cy="0"/>
          </a:xfrm>
          <a:custGeom>
            <a:avLst/>
            <a:gdLst/>
            <a:ahLst/>
            <a:cxnLst/>
            <a:rect l="l" t="t" r="r" b="b"/>
            <a:pathLst>
              <a:path w="4709160" h="0">
                <a:moveTo>
                  <a:pt x="0" y="0"/>
                </a:moveTo>
                <a:lnTo>
                  <a:pt x="4709160" y="0"/>
                </a:lnTo>
              </a:path>
            </a:pathLst>
          </a:custGeom>
          <a:noFill/>
          <a:ln w="9525">
            <a:solidFill>
              <a:srgbClr val="0F5F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611112" y="5404104"/>
            <a:ext cx="4709160" cy="146304"/>
          </a:xfrm>
          <a:prstGeom prst="roundRect">
            <a:avLst>
              <a:gd name="adj" fmla="val 50000"/>
            </a:avLst>
          </a:prstGeom>
          <a:solidFill>
            <a:srgbClr val="E6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611112" y="5404104"/>
            <a:ext cx="3531870" cy="146304"/>
          </a:xfrm>
          <a:prstGeom prst="roundRect">
            <a:avLst>
              <a:gd name="adj" fmla="val 50000"/>
            </a:avLst>
          </a:prstGeom>
          <a:solidFill>
            <a:srgbClr val="0F5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11112" y="5586984"/>
            <a:ext cx="282549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8291A0"/>
                </a:solidFill>
                <a:latin typeface="Aptos"/>
              </a:rPr>
              <a:t>No direct revenue / margin line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94776" y="5586984"/>
            <a:ext cx="282549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8291A0"/>
                </a:solidFill>
                <a:latin typeface="Aptos"/>
              </a:rPr>
              <a:t>Direct revenue, margin or risk line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6547104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A5AFBE"/>
                </a:solidFill>
                <a:latin typeface="Aptos"/>
              </a:rPr>
              <a:t>Scoring what you heard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81360" y="6547104"/>
            <a:ext cx="7132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A5AFBE"/>
                </a:solidFill>
                <a:latin typeface="Apto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9184"/>
            <a:ext cx="10058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F5FDC"/>
                </a:solidFill>
                <a:latin typeface="Aptos"/>
              </a:rPr>
              <a:t>SECTION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48640"/>
            <a:ext cx="1100023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000000"/>
                </a:solidFill>
                <a:latin typeface="Aptos"/>
              </a:rPr>
              <a:t>Where it lands: </a:t>
            </a:r>
            <a:r>
              <a:rPr sz="2600" b="1">
                <a:solidFill>
                  <a:srgbClr val="0F5FDC"/>
                </a:solidFill>
                <a:latin typeface="Aptos"/>
              </a:rPr>
              <a:t>the prioritization quadrant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078992"/>
            <a:ext cx="11000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8291A0"/>
                </a:solidFill>
                <a:latin typeface="Aptos"/>
              </a:rPr>
              <a:t>Plot the two scores — impact on the vertical axis, complexity on the horizontal.</a:t>
            </a:r>
          </a:p>
        </p:txBody>
      </p:sp>
      <p:sp>
        <p:nvSpPr>
          <p:cNvPr id="5" name="Rectangle 4"/>
          <p:cNvSpPr/>
          <p:nvPr/>
        </p:nvSpPr>
        <p:spPr>
          <a:xfrm>
            <a:off x="1920240" y="1737360"/>
            <a:ext cx="3931920" cy="2103120"/>
          </a:xfrm>
          <a:prstGeom prst="rect">
            <a:avLst/>
          </a:prstGeom>
          <a:solidFill>
            <a:srgbClr val="EF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852160" y="1737360"/>
            <a:ext cx="3931920" cy="2103120"/>
          </a:xfrm>
          <a:prstGeom prst="rect">
            <a:avLst/>
          </a:prstGeom>
          <a:solidFill>
            <a:srgbClr val="DC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920240" y="3840479"/>
            <a:ext cx="3931920" cy="2103120"/>
          </a:xfrm>
          <a:prstGeom prst="rect">
            <a:avLst/>
          </a:prstGeom>
          <a:solidFill>
            <a:srgbClr val="E6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852160" y="3840479"/>
            <a:ext cx="3931920" cy="2103120"/>
          </a:xfrm>
          <a:prstGeom prst="rect">
            <a:avLst/>
          </a:prstGeom>
          <a:solidFill>
            <a:srgbClr val="C8D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920240" y="1737360"/>
            <a:ext cx="7863840" cy="4206240"/>
          </a:xfrm>
          <a:prstGeom prst="roundRect">
            <a:avLst>
              <a:gd name="adj" fmla="val 3500"/>
            </a:avLst>
          </a:prstGeom>
          <a:noFill/>
          <a:ln w="9525">
            <a:solidFill>
              <a:srgbClr val="A5A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5852160" y="1737360"/>
            <a:ext cx="0" cy="4206240"/>
          </a:xfrm>
          <a:custGeom>
            <a:avLst/>
            <a:gdLst/>
            <a:ahLst/>
            <a:cxnLst/>
            <a:rect l="l" t="t" r="r" b="b"/>
            <a:pathLst>
              <a:path w="0" h="4206240">
                <a:moveTo>
                  <a:pt x="0" y="0"/>
                </a:moveTo>
                <a:lnTo>
                  <a:pt x="0" y="4206240"/>
                </a:lnTo>
              </a:path>
            </a:pathLst>
          </a:custGeom>
          <a:noFill/>
          <a:ln w="12700">
            <a:solidFill>
              <a:srgbClr val="A5A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920240" y="3840479"/>
            <a:ext cx="7863840" cy="0"/>
          </a:xfrm>
          <a:custGeom>
            <a:avLst/>
            <a:gdLst/>
            <a:ahLst/>
            <a:cxnLst/>
            <a:rect l="l" t="t" r="r" b="b"/>
            <a:pathLst>
              <a:path w="7863840" h="0">
                <a:moveTo>
                  <a:pt x="0" y="0"/>
                </a:moveTo>
                <a:lnTo>
                  <a:pt x="7863840" y="0"/>
                </a:lnTo>
              </a:path>
            </a:pathLst>
          </a:custGeom>
          <a:noFill/>
          <a:ln w="12700">
            <a:solidFill>
              <a:srgbClr val="A5A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48256" y="1865376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411482"/>
                </a:solidFill>
                <a:latin typeface="Aptos"/>
              </a:rPr>
              <a:t>QUICK WINS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48256" y="2139696"/>
            <a:ext cx="3657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8291A0"/>
                </a:solidFill>
                <a:latin typeface="Aptos"/>
              </a:rPr>
              <a:t>Priority Wave 1 · high ROI, fast delivery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80176" y="1865376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5F1EBE"/>
                </a:solidFill>
                <a:latin typeface="Aptos"/>
              </a:rPr>
              <a:t>STRATEGIC BETS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80176" y="2139696"/>
            <a:ext cx="3657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8291A0"/>
                </a:solidFill>
                <a:latin typeface="Aptos"/>
              </a:rPr>
              <a:t>Priority Wave 2 · high value, needs AI/architecture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48256" y="3968495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8291A0"/>
                </a:solidFill>
                <a:latin typeface="Aptos"/>
              </a:rPr>
              <a:t>SCALE FILLERS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48256" y="4242815"/>
            <a:ext cx="3657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8291A0"/>
                </a:solidFill>
                <a:latin typeface="Aptos"/>
              </a:rPr>
              <a:t>Priority Wave 3 / backlog · low effort, minor impact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80176" y="3968495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0000"/>
                </a:solidFill>
                <a:latin typeface="Aptos"/>
              </a:rPr>
              <a:t>DEPRIORITIZE / RE-ENGINEER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80176" y="4242815"/>
            <a:ext cx="3657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8291A0"/>
                </a:solidFill>
                <a:latin typeface="Aptos"/>
              </a:rPr>
              <a:t>Do NOT automate as-is — fix the process first</a:t>
            </a:r>
          </a:p>
        </p:txBody>
      </p:sp>
      <p:sp>
        <p:nvSpPr>
          <p:cNvPr id="20" name="Freeform 19"/>
          <p:cNvSpPr/>
          <p:nvPr/>
        </p:nvSpPr>
        <p:spPr>
          <a:xfrm>
            <a:off x="1645920" y="1883664"/>
            <a:ext cx="0" cy="3931919"/>
          </a:xfrm>
          <a:custGeom>
            <a:avLst/>
            <a:gdLst/>
            <a:ahLst/>
            <a:cxnLst/>
            <a:rect l="l" t="t" r="r" b="b"/>
            <a:pathLst>
              <a:path w="0" h="3931919">
                <a:moveTo>
                  <a:pt x="0" y="0"/>
                </a:moveTo>
                <a:lnTo>
                  <a:pt x="0" y="3931919"/>
                </a:lnTo>
              </a:path>
            </a:pathLst>
          </a:custGeom>
          <a:noFill/>
          <a:ln w="15875">
            <a:solidFill>
              <a:srgbClr val="A5A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1577340" y="1828800"/>
            <a:ext cx="137160" cy="61722"/>
          </a:xfrm>
          <a:custGeom>
            <a:avLst/>
            <a:gdLst/>
            <a:ahLst/>
            <a:cxnLst/>
            <a:rect l="l" t="t" r="r" b="b"/>
            <a:pathLst>
              <a:path w="137160" h="61722">
                <a:moveTo>
                  <a:pt x="0" y="61722"/>
                </a:moveTo>
                <a:lnTo>
                  <a:pt x="68580" y="0"/>
                </a:lnTo>
                <a:lnTo>
                  <a:pt x="137160" y="61722"/>
                </a:lnTo>
                <a:close/>
              </a:path>
            </a:pathLst>
          </a:custGeom>
          <a:solidFill>
            <a:srgbClr val="A5AFBE"/>
          </a:solidFill>
          <a:ln w="15240">
            <a:solidFill>
              <a:srgbClr val="A5A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34440" y="1682495"/>
            <a:ext cx="960120" cy="4206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8291A0"/>
                </a:solidFill>
                <a:latin typeface="Aptos"/>
              </a:rPr>
              <a:t>IMPACT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20240" y="6035040"/>
            <a:ext cx="78638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8291A0"/>
                </a:solidFill>
                <a:latin typeface="Aptos"/>
              </a:rPr>
              <a:t>COMPLEXITY  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6547104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A5AFBE"/>
                </a:solidFill>
                <a:latin typeface="Aptos"/>
              </a:rPr>
              <a:t>Scoring what you heard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81360" y="6547104"/>
            <a:ext cx="7132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A5AFBE"/>
                </a:solidFill>
                <a:latin typeface="Apto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9184"/>
            <a:ext cx="10058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F5FDC"/>
                </a:solidFill>
                <a:latin typeface="Aptos"/>
              </a:rPr>
              <a:t>SECTION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48640"/>
            <a:ext cx="1100023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000000"/>
                </a:solidFill>
                <a:latin typeface="Aptos"/>
              </a:rPr>
              <a:t>Choosing the </a:t>
            </a:r>
            <a:r>
              <a:rPr sz="2600" b="1">
                <a:solidFill>
                  <a:srgbClr val="0F5FDC"/>
                </a:solidFill>
                <a:latin typeface="Aptos"/>
              </a:rPr>
              <a:t>technology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078992"/>
            <a:ext cx="11000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8291A0"/>
                </a:solidFill>
                <a:latin typeface="Aptos"/>
              </a:rPr>
              <a:t>Five archetypes cover almost everything you’ll see. Route the candidate to the lever that matches how it actually behaves.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627632"/>
            <a:ext cx="11000232" cy="365760"/>
          </a:xfrm>
          <a:prstGeom prst="rect">
            <a:avLst/>
          </a:prstGeom>
          <a:solidFill>
            <a:srgbClr val="411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0664" y="1627632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ptos"/>
              </a:rPr>
              <a:t>ARCHETYPE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46704" y="1627632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ptos"/>
              </a:rPr>
              <a:t>WHEN TO USE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78624" y="1627632"/>
            <a:ext cx="427939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ptos"/>
              </a:rPr>
              <a:t>TYPICAL EXAMPLE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1993392"/>
            <a:ext cx="11000232" cy="731520"/>
          </a:xfrm>
          <a:prstGeom prst="rect">
            <a:avLst/>
          </a:prstGeom>
          <a:solidFill>
            <a:srgbClr val="E6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40664" y="2185416"/>
            <a:ext cx="347472" cy="347472"/>
          </a:xfrm>
          <a:prstGeom prst="ellipse">
            <a:avLst/>
          </a:prstGeom>
          <a:solidFill>
            <a:srgbClr val="5F1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Gear 6 10"/>
          <p:cNvSpPr/>
          <p:nvPr/>
        </p:nvSpPr>
        <p:spPr>
          <a:xfrm>
            <a:off x="830275" y="2275027"/>
            <a:ext cx="168249" cy="168249"/>
          </a:xfrm>
          <a:prstGeom prst="gear6">
            <a:avLst/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85139" y="2329891"/>
            <a:ext cx="58521" cy="58521"/>
          </a:xfrm>
          <a:prstGeom prst="ellipse">
            <a:avLst/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9576" y="1993392"/>
            <a:ext cx="196596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000000"/>
                </a:solidFill>
                <a:latin typeface="Aptos"/>
              </a:rPr>
              <a:t>RPA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1993392"/>
            <a:ext cx="3749039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ptos"/>
              </a:rPr>
              <a:t>Structured data, deterministic rules, repetitive UI keystrokes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59" y="1993392"/>
            <a:ext cx="4279392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8291A0"/>
                </a:solidFill>
                <a:latin typeface="Aptos"/>
              </a:rPr>
              <a:t>Order entry, data migration, screen-to-screen re-keying</a:t>
            </a:r>
          </a:p>
        </p:txBody>
      </p:sp>
      <p:sp>
        <p:nvSpPr>
          <p:cNvPr id="16" name="Oval 15"/>
          <p:cNvSpPr/>
          <p:nvPr/>
        </p:nvSpPr>
        <p:spPr>
          <a:xfrm>
            <a:off x="740664" y="2916936"/>
            <a:ext cx="347472" cy="347472"/>
          </a:xfrm>
          <a:prstGeom prst="ellipse">
            <a:avLst/>
          </a:prstGeom>
          <a:solidFill>
            <a:srgbClr val="0F5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52220" y="3006547"/>
            <a:ext cx="124358" cy="168249"/>
          </a:xfrm>
          <a:prstGeom prst="roundRect">
            <a:avLst>
              <a:gd name="adj" fmla="val 12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881481" y="3057753"/>
            <a:ext cx="65837" cy="0"/>
          </a:xfrm>
          <a:custGeom>
            <a:avLst/>
            <a:gdLst/>
            <a:ahLst/>
            <a:cxnLst/>
            <a:rect l="l" t="t" r="r" b="b"/>
            <a:pathLst>
              <a:path w="65837" h="0">
                <a:moveTo>
                  <a:pt x="0" y="0"/>
                </a:moveTo>
                <a:lnTo>
                  <a:pt x="65837" y="0"/>
                </a:lnTo>
              </a:path>
            </a:pathLst>
          </a:custGeom>
          <a:noFill/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881481" y="3094329"/>
            <a:ext cx="65837" cy="0"/>
          </a:xfrm>
          <a:custGeom>
            <a:avLst/>
            <a:gdLst/>
            <a:ahLst/>
            <a:cxnLst/>
            <a:rect l="l" t="t" r="r" b="b"/>
            <a:pathLst>
              <a:path w="65837" h="0">
                <a:moveTo>
                  <a:pt x="0" y="0"/>
                </a:moveTo>
                <a:lnTo>
                  <a:pt x="65837" y="0"/>
                </a:lnTo>
              </a:path>
            </a:pathLst>
          </a:custGeom>
          <a:noFill/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881481" y="3130905"/>
            <a:ext cx="65837" cy="0"/>
          </a:xfrm>
          <a:custGeom>
            <a:avLst/>
            <a:gdLst/>
            <a:ahLst/>
            <a:cxnLst/>
            <a:rect l="l" t="t" r="r" b="b"/>
            <a:pathLst>
              <a:path w="65837" h="0">
                <a:moveTo>
                  <a:pt x="0" y="0"/>
                </a:moveTo>
                <a:lnTo>
                  <a:pt x="65837" y="0"/>
                </a:lnTo>
              </a:path>
            </a:pathLst>
          </a:custGeom>
          <a:noFill/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79576" y="2724912"/>
            <a:ext cx="196596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000000"/>
                </a:solidFill>
                <a:latin typeface="Aptos"/>
              </a:rPr>
              <a:t>IDP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2724912"/>
            <a:ext cx="3749039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ptos"/>
              </a:rPr>
              <a:t>Semi-structured documents that need extraction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23759" y="2724912"/>
            <a:ext cx="4279392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8291A0"/>
                </a:solidFill>
                <a:latin typeface="Aptos"/>
              </a:rPr>
              <a:t>Invoices, remittances, claims forms, IDs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" y="3456432"/>
            <a:ext cx="11000232" cy="731520"/>
          </a:xfrm>
          <a:prstGeom prst="rect">
            <a:avLst/>
          </a:prstGeom>
          <a:solidFill>
            <a:srgbClr val="E6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40664" y="3648456"/>
            <a:ext cx="347472" cy="347472"/>
          </a:xfrm>
          <a:prstGeom prst="ellipse">
            <a:avLst/>
          </a:prstGeom>
          <a:solidFill>
            <a:srgbClr val="5F1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59536" y="3738067"/>
            <a:ext cx="109728" cy="109728"/>
          </a:xfrm>
          <a:prstGeom prst="ellipse">
            <a:avLst/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90625" y="3851452"/>
            <a:ext cx="47548" cy="54864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79576" y="3456432"/>
            <a:ext cx="196596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000000"/>
                </a:solidFill>
                <a:latin typeface="Aptos"/>
              </a:rPr>
              <a:t>AI-Enabled Automation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91840" y="3456432"/>
            <a:ext cx="3749039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ptos"/>
              </a:rPr>
              <a:t>Classification, matching or prediction — with human oversight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23759" y="3456432"/>
            <a:ext cx="4279392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8291A0"/>
                </a:solidFill>
                <a:latin typeface="Aptos"/>
              </a:rPr>
              <a:t>Cash application matching, fraud scoring, demand forecasting</a:t>
            </a:r>
          </a:p>
        </p:txBody>
      </p:sp>
      <p:sp>
        <p:nvSpPr>
          <p:cNvPr id="31" name="Oval 30"/>
          <p:cNvSpPr/>
          <p:nvPr/>
        </p:nvSpPr>
        <p:spPr>
          <a:xfrm>
            <a:off x="740664" y="4379976"/>
            <a:ext cx="347472" cy="347472"/>
          </a:xfrm>
          <a:prstGeom prst="ellipse">
            <a:avLst/>
          </a:prstGeom>
          <a:solidFill>
            <a:srgbClr val="0F5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26617" y="4498848"/>
            <a:ext cx="109728" cy="109728"/>
          </a:xfrm>
          <a:prstGeom prst="ellipse">
            <a:avLst/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92454" y="4498848"/>
            <a:ext cx="109728" cy="109728"/>
          </a:xfrm>
          <a:prstGeom prst="ellipse">
            <a:avLst/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79576" y="4187952"/>
            <a:ext cx="196596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000000"/>
                </a:solidFill>
                <a:latin typeface="Aptos"/>
              </a:rPr>
              <a:t>Agentic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91840" y="4187952"/>
            <a:ext cx="3749039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ptos"/>
              </a:rPr>
              <a:t>Multi-step reasoning and dynamic decisioning across systems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23759" y="4187952"/>
            <a:ext cx="4279392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8291A0"/>
                </a:solidFill>
                <a:latin typeface="Aptos"/>
              </a:rPr>
              <a:t>Exception triage &amp; resolution, dispute investigation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94360" y="4919472"/>
            <a:ext cx="11000232" cy="731520"/>
          </a:xfrm>
          <a:prstGeom prst="rect">
            <a:avLst/>
          </a:prstGeom>
          <a:solidFill>
            <a:srgbClr val="E6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740664" y="5111496"/>
            <a:ext cx="347472" cy="347472"/>
          </a:xfrm>
          <a:prstGeom prst="ellipse">
            <a:avLst/>
          </a:prstGeom>
          <a:solidFill>
            <a:srgbClr val="5F1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Diamond 38"/>
          <p:cNvSpPr/>
          <p:nvPr/>
        </p:nvSpPr>
        <p:spPr>
          <a:xfrm>
            <a:off x="833932" y="5206593"/>
            <a:ext cx="160934" cy="47548"/>
          </a:xfrm>
          <a:prstGeom prst="diamond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Diamond 39"/>
          <p:cNvSpPr/>
          <p:nvPr/>
        </p:nvSpPr>
        <p:spPr>
          <a:xfrm>
            <a:off x="833932" y="5257800"/>
            <a:ext cx="160934" cy="47548"/>
          </a:xfrm>
          <a:prstGeom prst="diamond">
            <a:avLst/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Diamond 40"/>
          <p:cNvSpPr/>
          <p:nvPr/>
        </p:nvSpPr>
        <p:spPr>
          <a:xfrm>
            <a:off x="833932" y="5309006"/>
            <a:ext cx="160934" cy="47548"/>
          </a:xfrm>
          <a:prstGeom prst="diamond">
            <a:avLst/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79576" y="4919472"/>
            <a:ext cx="196596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000000"/>
                </a:solidFill>
                <a:latin typeface="Aptos"/>
              </a:rPr>
              <a:t>BPM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291840" y="4919472"/>
            <a:ext cx="3749039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ptos"/>
              </a:rPr>
              <a:t>Cross-functional workflow with human handoffs and approvals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223759" y="4919472"/>
            <a:ext cx="4279392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8291A0"/>
                </a:solidFill>
                <a:latin typeface="Aptos"/>
              </a:rPr>
              <a:t>Case management, approval routing, onboarding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94360" y="5797296"/>
            <a:ext cx="11000232" cy="475488"/>
          </a:xfrm>
          <a:prstGeom prst="roundRect">
            <a:avLst>
              <a:gd name="adj" fmla="val 20000"/>
            </a:avLst>
          </a:prstGeom>
          <a:solidFill>
            <a:srgbClr val="EFEAFB"/>
          </a:solidFill>
          <a:ln w="12700">
            <a:solidFill>
              <a:srgbClr val="5F1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740664" y="5888736"/>
            <a:ext cx="292608" cy="292608"/>
          </a:xfrm>
          <a:prstGeom prst="ellipse">
            <a:avLst/>
          </a:prstGeom>
          <a:solidFill>
            <a:srgbClr val="411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804672" y="5952744"/>
            <a:ext cx="164592" cy="164592"/>
          </a:xfrm>
          <a:prstGeom prst="ellipse">
            <a:avLst/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845819" y="5993892"/>
            <a:ext cx="82296" cy="82296"/>
          </a:xfrm>
          <a:prstGeom prst="ellipse">
            <a:avLst/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873800" y="6021872"/>
            <a:ext cx="26334" cy="2633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61288" y="5797296"/>
            <a:ext cx="1024128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411482"/>
                </a:solidFill>
                <a:latin typeface="Aptos"/>
              </a:rPr>
              <a:t>Process broken beyond repair? </a:t>
            </a:r>
            <a:r>
              <a:rPr sz="1100" b="0">
                <a:solidFill>
                  <a:srgbClr val="000000"/>
                </a:solidFill>
                <a:latin typeface="Aptos"/>
              </a:rPr>
              <a:t>Fix it first. None of the five archetypes rescue a process nobody can explain consistently.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" y="6547104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A5AFBE"/>
                </a:solidFill>
                <a:latin typeface="Aptos"/>
              </a:rPr>
              <a:t>Choosing the technology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881360" y="6547104"/>
            <a:ext cx="7132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A5AFBE"/>
                </a:solidFill>
                <a:latin typeface="Aptos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9184"/>
            <a:ext cx="10058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F5FDC"/>
                </a:solidFill>
                <a:latin typeface="Aptos"/>
              </a:rPr>
              <a:t>SECTION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48640"/>
            <a:ext cx="1100023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000000"/>
                </a:solidFill>
                <a:latin typeface="Aptos"/>
              </a:rPr>
              <a:t>Business case </a:t>
            </a:r>
            <a:r>
              <a:rPr sz="2600" b="1">
                <a:solidFill>
                  <a:srgbClr val="0F5FDC"/>
                </a:solidFill>
                <a:latin typeface="Aptos"/>
              </a:rPr>
              <a:t>mechanics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078992"/>
            <a:ext cx="11000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8291A0"/>
                </a:solidFill>
                <a:latin typeface="Aptos"/>
              </a:rPr>
              <a:t>Three benefit streams, weighed against total cost of ownership — in terms you can explain without a whiteboard.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664208"/>
            <a:ext cx="11000232" cy="210312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C8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1847088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5F1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8000"/>
              </a:lnSpc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ptos"/>
              </a:rPr>
              <a:t>BENEFIT FORMULA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33172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1">
                <a:solidFill>
                  <a:srgbClr val="000000"/>
                </a:solidFill>
                <a:latin typeface="Aptos"/>
              </a:rPr>
              <a:t>Annual FTE Savings  </a:t>
            </a:r>
            <a:r>
              <a:rPr sz="1200" b="0">
                <a:solidFill>
                  <a:srgbClr val="8291A0"/>
                </a:solidFill>
                <a:latin typeface="Aptos"/>
              </a:rPr>
              <a:t>=  (Volume × AHT ÷ productive hours per FTE)  ×  Automation Coverage %  ×  Fully Loaded FTE Cost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8803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0000"/>
                </a:solidFill>
                <a:latin typeface="Aptos"/>
              </a:rPr>
              <a:t>Error / Rework Savings  </a:t>
            </a:r>
            <a:r>
              <a:rPr sz="1150" b="0">
                <a:solidFill>
                  <a:srgbClr val="8291A0"/>
                </a:solidFill>
                <a:latin typeface="Aptos"/>
              </a:rPr>
              <a:t>=  Annual Error Incidents × Average Cost per Correction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246120"/>
            <a:ext cx="105156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0000"/>
                </a:solidFill>
                <a:latin typeface="Aptos"/>
              </a:rPr>
              <a:t>Working Capital / SLA Gains  </a:t>
            </a:r>
            <a:r>
              <a:rPr sz="1150" b="0">
                <a:solidFill>
                  <a:srgbClr val="8291A0"/>
                </a:solidFill>
                <a:latin typeface="Aptos"/>
              </a:rPr>
              <a:t>=  Early-payment discounts captured + SLA penalties avoided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3968496"/>
            <a:ext cx="5394960" cy="1700784"/>
          </a:xfrm>
          <a:prstGeom prst="roundRect">
            <a:avLst>
              <a:gd name="adj" fmla="val 3500"/>
            </a:avLst>
          </a:prstGeom>
          <a:solidFill>
            <a:srgbClr val="DCE6F0"/>
          </a:solidFill>
          <a:ln w="9525">
            <a:solidFill>
              <a:srgbClr val="5F1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22960" y="4151376"/>
            <a:ext cx="2651760" cy="329184"/>
          </a:xfrm>
          <a:prstGeom prst="roundRect">
            <a:avLst>
              <a:gd name="adj" fmla="val 50000"/>
            </a:avLst>
          </a:prstGeom>
          <a:solidFill>
            <a:srgbClr val="5F1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8000"/>
              </a:lnSpc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ptos"/>
              </a:rPr>
              <a:t>ONE-TIME BUILD COST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608576"/>
            <a:ext cx="49377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ptos"/>
              </a:rPr>
              <a:t>•  Discovery &amp; solution architecture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864608"/>
            <a:ext cx="49377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ptos"/>
              </a:rPr>
              <a:t>•  Build &amp; test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120640"/>
            <a:ext cx="49377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ptos"/>
              </a:rPr>
              <a:t>•  Change management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376672"/>
            <a:ext cx="49377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ptos"/>
              </a:rPr>
              <a:t>•  Deployment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9632" y="3968496"/>
            <a:ext cx="5394960" cy="1700784"/>
          </a:xfrm>
          <a:prstGeom prst="roundRect">
            <a:avLst>
              <a:gd name="adj" fmla="val 3500"/>
            </a:avLst>
          </a:prstGeom>
          <a:solidFill>
            <a:srgbClr val="DCE6F0"/>
          </a:solidFill>
          <a:ln w="9525">
            <a:solidFill>
              <a:srgbClr val="0F5F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28232" y="4151376"/>
            <a:ext cx="2651760" cy="329184"/>
          </a:xfrm>
          <a:prstGeom prst="roundRect">
            <a:avLst>
              <a:gd name="adj" fmla="val 50000"/>
            </a:avLst>
          </a:prstGeom>
          <a:solidFill>
            <a:srgbClr val="0F5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8000"/>
              </a:lnSpc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ptos"/>
              </a:rPr>
              <a:t>ANNUAL RUN COST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28232" y="4608576"/>
            <a:ext cx="49377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ptos"/>
              </a:rPr>
              <a:t>•  Platform licensing (bot, IDP credits, LLM tokens)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8232" y="4864608"/>
            <a:ext cx="49377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ptos"/>
              </a:rPr>
              <a:t>•  Cloud infrastructure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28232" y="5120640"/>
            <a:ext cx="49377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ptos"/>
              </a:rPr>
              <a:t>•  L2/L3 support &amp; maintenance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8232" y="5376672"/>
            <a:ext cx="49377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ptos"/>
              </a:rPr>
              <a:t>•  ~ typically 15–20% of build cost, per year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6547104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A5AFBE"/>
                </a:solidFill>
                <a:latin typeface="Aptos"/>
              </a:rPr>
              <a:t>Building the business case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0" y="6547104"/>
            <a:ext cx="7132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A5AFBE"/>
                </a:solidFill>
                <a:latin typeface="Aptos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9184"/>
            <a:ext cx="10058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F5FDC"/>
                </a:solidFill>
                <a:latin typeface="Aptos"/>
              </a:rPr>
              <a:t>SECTION 7 · WORKED EXAMPLE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48640"/>
            <a:ext cx="1100023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000000"/>
                </a:solidFill>
                <a:latin typeface="Aptos"/>
              </a:rPr>
              <a:t>Order-to-Cash: </a:t>
            </a:r>
            <a:r>
              <a:rPr sz="2600" b="1">
                <a:solidFill>
                  <a:srgbClr val="0F5FDC"/>
                </a:solidFill>
                <a:latin typeface="Aptos"/>
              </a:rPr>
              <a:t>cash application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078992"/>
            <a:ext cx="11000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8291A0"/>
                </a:solidFill>
                <a:latin typeface="Aptos"/>
              </a:rPr>
              <a:t>Order-to-Cash spans order, credit, fulfillment, billing, collections and cash application — we zoom into one L4 activity: matching incoming payments to open invoices.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47104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A5AFBE"/>
                </a:solidFill>
                <a:latin typeface="Aptos"/>
              </a:rPr>
              <a:t>Worked example — Order-to-Cash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547104"/>
            <a:ext cx="7132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A5AFBE"/>
                </a:solidFill>
                <a:latin typeface="Aptos"/>
              </a:rPr>
              <a:t>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1743" y="2011680"/>
            <a:ext cx="1956816" cy="1874519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C8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95831" y="2212848"/>
            <a:ext cx="548640" cy="548640"/>
          </a:xfrm>
          <a:prstGeom prst="ellipse">
            <a:avLst/>
          </a:prstGeom>
          <a:solidFill>
            <a:srgbClr val="411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576882" y="2360980"/>
            <a:ext cx="186537" cy="252374"/>
          </a:xfrm>
          <a:prstGeom prst="roundRect">
            <a:avLst>
              <a:gd name="adj" fmla="val 12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620774" y="2437790"/>
            <a:ext cx="98755" cy="0"/>
          </a:xfrm>
          <a:custGeom>
            <a:avLst/>
            <a:gdLst/>
            <a:ahLst/>
            <a:cxnLst/>
            <a:rect l="l" t="t" r="r" b="b"/>
            <a:pathLst>
              <a:path w="98755" h="0">
                <a:moveTo>
                  <a:pt x="0" y="0"/>
                </a:moveTo>
                <a:lnTo>
                  <a:pt x="98755" y="0"/>
                </a:lnTo>
              </a:path>
            </a:pathLst>
          </a:custGeom>
          <a:noFill/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620774" y="2492654"/>
            <a:ext cx="98755" cy="0"/>
          </a:xfrm>
          <a:custGeom>
            <a:avLst/>
            <a:gdLst/>
            <a:ahLst/>
            <a:cxnLst/>
            <a:rect l="l" t="t" r="r" b="b"/>
            <a:pathLst>
              <a:path w="98755" h="0">
                <a:moveTo>
                  <a:pt x="0" y="0"/>
                </a:moveTo>
                <a:lnTo>
                  <a:pt x="98755" y="0"/>
                </a:lnTo>
              </a:path>
            </a:pathLst>
          </a:custGeom>
          <a:noFill/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620774" y="2547518"/>
            <a:ext cx="98755" cy="0"/>
          </a:xfrm>
          <a:custGeom>
            <a:avLst/>
            <a:gdLst/>
            <a:ahLst/>
            <a:cxnLst/>
            <a:rect l="l" t="t" r="r" b="b"/>
            <a:pathLst>
              <a:path w="98755" h="0">
                <a:moveTo>
                  <a:pt x="0" y="0"/>
                </a:moveTo>
                <a:lnTo>
                  <a:pt x="98755" y="0"/>
                </a:lnTo>
              </a:path>
            </a:pathLst>
          </a:custGeom>
          <a:noFill/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1471" y="2871216"/>
            <a:ext cx="1737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000000"/>
                </a:solidFill>
                <a:latin typeface="Aptos"/>
              </a:rPr>
              <a:t>Remittance received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1471" y="3328416"/>
            <a:ext cx="173736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8291A0"/>
                </a:solidFill>
                <a:latin typeface="Aptos"/>
              </a:rPr>
              <a:t>Bank lockbox file or emailed advice</a:t>
            </a:r>
          </a:p>
        </p:txBody>
      </p:sp>
      <p:sp>
        <p:nvSpPr>
          <p:cNvPr id="15" name="Freeform 14"/>
          <p:cNvSpPr/>
          <p:nvPr/>
        </p:nvSpPr>
        <p:spPr>
          <a:xfrm>
            <a:off x="2714853" y="2880360"/>
            <a:ext cx="61722" cy="137160"/>
          </a:xfrm>
          <a:custGeom>
            <a:avLst/>
            <a:gdLst/>
            <a:ahLst/>
            <a:cxnLst/>
            <a:rect l="l" t="t" r="r" b="b"/>
            <a:pathLst>
              <a:path w="61722" h="137160">
                <a:moveTo>
                  <a:pt x="0" y="0"/>
                </a:moveTo>
                <a:lnTo>
                  <a:pt x="61722" y="68580"/>
                </a:lnTo>
                <a:lnTo>
                  <a:pt x="0" y="137160"/>
                </a:lnTo>
                <a:close/>
              </a:path>
            </a:pathLst>
          </a:custGeom>
          <a:solidFill>
            <a:srgbClr val="A5AFBE"/>
          </a:solidFill>
          <a:ln w="15240">
            <a:solidFill>
              <a:srgbClr val="A5A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904591" y="2011680"/>
            <a:ext cx="1956816" cy="1874519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C8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608679" y="2212848"/>
            <a:ext cx="548640" cy="548640"/>
          </a:xfrm>
          <a:prstGeom prst="ellipse">
            <a:avLst/>
          </a:prstGeom>
          <a:solidFill>
            <a:srgbClr val="3426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762298" y="2366467"/>
            <a:ext cx="175564" cy="175564"/>
          </a:xfrm>
          <a:prstGeom prst="ellipse">
            <a:avLst/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3926890" y="2531059"/>
            <a:ext cx="82296" cy="82296"/>
          </a:xfrm>
          <a:custGeom>
            <a:avLst/>
            <a:gdLst/>
            <a:ahLst/>
            <a:cxnLst/>
            <a:rect l="l" t="t" r="r" b="b"/>
            <a:pathLst>
              <a:path w="82296" h="82296">
                <a:moveTo>
                  <a:pt x="0" y="0"/>
                </a:moveTo>
                <a:lnTo>
                  <a:pt x="82296" y="82296"/>
                </a:lnTo>
              </a:path>
            </a:pathLst>
          </a:custGeom>
          <a:noFill/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14319" y="2871216"/>
            <a:ext cx="1737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000000"/>
                </a:solidFill>
                <a:latin typeface="Aptos"/>
              </a:rPr>
              <a:t>Match to open invoices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14319" y="3328416"/>
            <a:ext cx="173736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8291A0"/>
                </a:solidFill>
                <a:latin typeface="Aptos"/>
              </a:rPr>
              <a:t>Invoice #, PO #, amount, customer</a:t>
            </a:r>
          </a:p>
        </p:txBody>
      </p:sp>
      <p:sp>
        <p:nvSpPr>
          <p:cNvPr id="22" name="Freeform 21"/>
          <p:cNvSpPr/>
          <p:nvPr/>
        </p:nvSpPr>
        <p:spPr>
          <a:xfrm>
            <a:off x="4927701" y="2880360"/>
            <a:ext cx="61722" cy="137160"/>
          </a:xfrm>
          <a:custGeom>
            <a:avLst/>
            <a:gdLst/>
            <a:ahLst/>
            <a:cxnLst/>
            <a:rect l="l" t="t" r="r" b="b"/>
            <a:pathLst>
              <a:path w="61722" h="137160">
                <a:moveTo>
                  <a:pt x="0" y="0"/>
                </a:moveTo>
                <a:lnTo>
                  <a:pt x="61722" y="68580"/>
                </a:lnTo>
                <a:lnTo>
                  <a:pt x="0" y="137160"/>
                </a:lnTo>
                <a:close/>
              </a:path>
            </a:pathLst>
          </a:custGeom>
          <a:solidFill>
            <a:srgbClr val="A5AFBE"/>
          </a:solidFill>
          <a:ln w="15240">
            <a:solidFill>
              <a:srgbClr val="A5A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117439" y="2011680"/>
            <a:ext cx="1956816" cy="1874519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C8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821527" y="2212848"/>
            <a:ext cx="548640" cy="548640"/>
          </a:xfrm>
          <a:prstGeom prst="ellipse">
            <a:avLst/>
          </a:prstGeom>
          <a:solidFill>
            <a:srgbClr val="2839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964174" y="2509113"/>
            <a:ext cx="54864" cy="87782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051956" y="2454249"/>
            <a:ext cx="54864" cy="142646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139738" y="2393899"/>
            <a:ext cx="54864" cy="202996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27167" y="2871216"/>
            <a:ext cx="1737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000000"/>
                </a:solidFill>
                <a:latin typeface="Aptos"/>
              </a:rPr>
              <a:t>Apply cash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27167" y="3328416"/>
            <a:ext cx="173736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8291A0"/>
                </a:solidFill>
                <a:latin typeface="Aptos"/>
              </a:rPr>
              <a:t>Post matched payments in SAP</a:t>
            </a:r>
          </a:p>
        </p:txBody>
      </p:sp>
      <p:sp>
        <p:nvSpPr>
          <p:cNvPr id="30" name="Freeform 29"/>
          <p:cNvSpPr/>
          <p:nvPr/>
        </p:nvSpPr>
        <p:spPr>
          <a:xfrm>
            <a:off x="7140549" y="2880360"/>
            <a:ext cx="61722" cy="137160"/>
          </a:xfrm>
          <a:custGeom>
            <a:avLst/>
            <a:gdLst/>
            <a:ahLst/>
            <a:cxnLst/>
            <a:rect l="l" t="t" r="r" b="b"/>
            <a:pathLst>
              <a:path w="61722" h="137160">
                <a:moveTo>
                  <a:pt x="0" y="0"/>
                </a:moveTo>
                <a:lnTo>
                  <a:pt x="61722" y="68580"/>
                </a:lnTo>
                <a:lnTo>
                  <a:pt x="0" y="137160"/>
                </a:lnTo>
                <a:close/>
              </a:path>
            </a:pathLst>
          </a:custGeom>
          <a:solidFill>
            <a:srgbClr val="A5AFBE"/>
          </a:solidFill>
          <a:ln w="15240">
            <a:solidFill>
              <a:srgbClr val="A5A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7330287" y="2011680"/>
            <a:ext cx="1956816" cy="1874519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C8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034375" y="2212848"/>
            <a:ext cx="548640" cy="548640"/>
          </a:xfrm>
          <a:prstGeom prst="ellipse">
            <a:avLst/>
          </a:prstGeom>
          <a:solidFill>
            <a:srgbClr val="1B4C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171535" y="2350008"/>
            <a:ext cx="274320" cy="274320"/>
          </a:xfrm>
          <a:prstGeom prst="ellipse">
            <a:avLst/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240115" y="2418588"/>
            <a:ext cx="137160" cy="137160"/>
          </a:xfrm>
          <a:prstGeom prst="ellipse">
            <a:avLst/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286750" y="2465222"/>
            <a:ext cx="43891" cy="43891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440015" y="2871216"/>
            <a:ext cx="1737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000000"/>
                </a:solidFill>
                <a:latin typeface="Aptos"/>
              </a:rPr>
              <a:t>Flag exceptions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40015" y="3328416"/>
            <a:ext cx="173736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8291A0"/>
                </a:solidFill>
                <a:latin typeface="Aptos"/>
              </a:rPr>
              <a:t>Short pay, unapplied, disputed</a:t>
            </a:r>
          </a:p>
        </p:txBody>
      </p:sp>
      <p:sp>
        <p:nvSpPr>
          <p:cNvPr id="38" name="Freeform 37"/>
          <p:cNvSpPr/>
          <p:nvPr/>
        </p:nvSpPr>
        <p:spPr>
          <a:xfrm>
            <a:off x="9353397" y="2880360"/>
            <a:ext cx="61722" cy="137160"/>
          </a:xfrm>
          <a:custGeom>
            <a:avLst/>
            <a:gdLst/>
            <a:ahLst/>
            <a:cxnLst/>
            <a:rect l="l" t="t" r="r" b="b"/>
            <a:pathLst>
              <a:path w="61722" h="137160">
                <a:moveTo>
                  <a:pt x="0" y="0"/>
                </a:moveTo>
                <a:lnTo>
                  <a:pt x="61722" y="68580"/>
                </a:lnTo>
                <a:lnTo>
                  <a:pt x="0" y="137160"/>
                </a:lnTo>
                <a:close/>
              </a:path>
            </a:pathLst>
          </a:custGeom>
          <a:solidFill>
            <a:srgbClr val="A5AFBE"/>
          </a:solidFill>
          <a:ln w="15240">
            <a:solidFill>
              <a:srgbClr val="A5A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9543135" y="2011680"/>
            <a:ext cx="1956816" cy="1874519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C8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0247223" y="2212848"/>
            <a:ext cx="548640" cy="548640"/>
          </a:xfrm>
          <a:prstGeom prst="ellipse">
            <a:avLst/>
          </a:prstGeom>
          <a:solidFill>
            <a:srgbClr val="0F5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0389869" y="2404872"/>
            <a:ext cx="164592" cy="164592"/>
          </a:xfrm>
          <a:prstGeom prst="ellipse">
            <a:avLst/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0488625" y="2404872"/>
            <a:ext cx="164592" cy="164592"/>
          </a:xfrm>
          <a:prstGeom prst="ellipse">
            <a:avLst/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52863" y="2871216"/>
            <a:ext cx="1737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000000"/>
                </a:solidFill>
                <a:latin typeface="Aptos"/>
              </a:rPr>
              <a:t>Route exception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52863" y="3328416"/>
            <a:ext cx="173736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8291A0"/>
                </a:solidFill>
                <a:latin typeface="Aptos"/>
              </a:rPr>
              <a:t>To collections or deductions team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91743" y="4297680"/>
            <a:ext cx="10808208" cy="914400"/>
          </a:xfrm>
          <a:prstGeom prst="roundRect">
            <a:avLst>
              <a:gd name="adj" fmla="val 3500"/>
            </a:avLst>
          </a:prstGeom>
          <a:solidFill>
            <a:srgbClr val="E6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91743" y="4425696"/>
            <a:ext cx="270205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5F1EBE"/>
                </a:solidFill>
                <a:latin typeface="Aptos"/>
              </a:rPr>
              <a:t>9,000 / mo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1743" y="4846320"/>
            <a:ext cx="27020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>
                <a:solidFill>
                  <a:srgbClr val="8291A0"/>
                </a:solidFill>
                <a:latin typeface="Aptos"/>
              </a:rPr>
              <a:t>Remittance volume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393795" y="4425696"/>
            <a:ext cx="270205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5F1EBE"/>
                </a:solidFill>
                <a:latin typeface="Aptos"/>
              </a:rPr>
              <a:t>7 min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393795" y="4846320"/>
            <a:ext cx="27020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>
                <a:solidFill>
                  <a:srgbClr val="8291A0"/>
                </a:solidFill>
                <a:latin typeface="Aptos"/>
              </a:rPr>
              <a:t>Manual AHT per item</a:t>
            </a:r>
          </a:p>
        </p:txBody>
      </p:sp>
      <p:sp>
        <p:nvSpPr>
          <p:cNvPr id="50" name="Freeform 49"/>
          <p:cNvSpPr/>
          <p:nvPr/>
        </p:nvSpPr>
        <p:spPr>
          <a:xfrm>
            <a:off x="3393795" y="4443984"/>
            <a:ext cx="0" cy="621792"/>
          </a:xfrm>
          <a:custGeom>
            <a:avLst/>
            <a:gdLst/>
            <a:ahLst/>
            <a:cxnLst/>
            <a:rect l="l" t="t" r="r" b="b"/>
            <a:pathLst>
              <a:path w="0" h="621792">
                <a:moveTo>
                  <a:pt x="0" y="0"/>
                </a:moveTo>
                <a:lnTo>
                  <a:pt x="0" y="621792"/>
                </a:lnTo>
              </a:path>
            </a:pathLst>
          </a:custGeom>
          <a:noFill/>
          <a:ln w="9525">
            <a:solidFill>
              <a:srgbClr val="C8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95847" y="4425696"/>
            <a:ext cx="270205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5F1EBE"/>
                </a:solidFill>
                <a:latin typeface="Aptos"/>
              </a:rPr>
              <a:t>22%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095847" y="4846320"/>
            <a:ext cx="27020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>
                <a:solidFill>
                  <a:srgbClr val="8291A0"/>
                </a:solidFill>
                <a:latin typeface="Aptos"/>
              </a:rPr>
              <a:t>Require manual matching</a:t>
            </a:r>
          </a:p>
        </p:txBody>
      </p:sp>
      <p:sp>
        <p:nvSpPr>
          <p:cNvPr id="53" name="Freeform 52"/>
          <p:cNvSpPr/>
          <p:nvPr/>
        </p:nvSpPr>
        <p:spPr>
          <a:xfrm>
            <a:off x="6095847" y="4443984"/>
            <a:ext cx="0" cy="621792"/>
          </a:xfrm>
          <a:custGeom>
            <a:avLst/>
            <a:gdLst/>
            <a:ahLst/>
            <a:cxnLst/>
            <a:rect l="l" t="t" r="r" b="b"/>
            <a:pathLst>
              <a:path w="0" h="621792">
                <a:moveTo>
                  <a:pt x="0" y="0"/>
                </a:moveTo>
                <a:lnTo>
                  <a:pt x="0" y="621792"/>
                </a:lnTo>
              </a:path>
            </a:pathLst>
          </a:custGeom>
          <a:noFill/>
          <a:ln w="9525">
            <a:solidFill>
              <a:srgbClr val="C8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797899" y="4425696"/>
            <a:ext cx="270205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5F1EBE"/>
                </a:solidFill>
                <a:latin typeface="Aptos"/>
              </a:rPr>
              <a:t>~7 FTE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797899" y="4846320"/>
            <a:ext cx="27020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>
                <a:solidFill>
                  <a:srgbClr val="8291A0"/>
                </a:solidFill>
                <a:latin typeface="Aptos"/>
              </a:rPr>
              <a:t>Current cash app team</a:t>
            </a:r>
          </a:p>
        </p:txBody>
      </p:sp>
      <p:sp>
        <p:nvSpPr>
          <p:cNvPr id="56" name="Freeform 55"/>
          <p:cNvSpPr/>
          <p:nvPr/>
        </p:nvSpPr>
        <p:spPr>
          <a:xfrm>
            <a:off x="8797899" y="4443984"/>
            <a:ext cx="0" cy="621792"/>
          </a:xfrm>
          <a:custGeom>
            <a:avLst/>
            <a:gdLst/>
            <a:ahLst/>
            <a:cxnLst/>
            <a:rect l="l" t="t" r="r" b="b"/>
            <a:pathLst>
              <a:path w="0" h="621792">
                <a:moveTo>
                  <a:pt x="0" y="0"/>
                </a:moveTo>
                <a:lnTo>
                  <a:pt x="0" y="621792"/>
                </a:lnTo>
              </a:path>
            </a:pathLst>
          </a:custGeom>
          <a:noFill/>
          <a:ln w="9525">
            <a:solidFill>
              <a:srgbClr val="C8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91743" y="5394960"/>
            <a:ext cx="1080820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A5AFBE"/>
                </a:solidFill>
                <a:latin typeface="Aptos"/>
              </a:rPr>
              <a:t>Illustrative figures for training purposes — replace with live workshop data.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9184"/>
            <a:ext cx="10058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F5FDC"/>
                </a:solidFill>
                <a:latin typeface="Aptos"/>
              </a:rPr>
              <a:t>SECTION 7 · WORKED EXAMPLE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48640"/>
            <a:ext cx="1100023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000000"/>
                </a:solidFill>
                <a:latin typeface="Aptos"/>
              </a:rPr>
              <a:t>Order-to-Cash: </a:t>
            </a:r>
            <a:r>
              <a:rPr sz="2600" b="1">
                <a:solidFill>
                  <a:srgbClr val="0F5FDC"/>
                </a:solidFill>
                <a:latin typeface="Aptos"/>
              </a:rPr>
              <a:t>scored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078992"/>
            <a:ext cx="11000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8291A0"/>
                </a:solidFill>
                <a:latin typeface="Aptos"/>
              </a:rPr>
              <a:t>Same two frameworks from Section 4, applied to this process.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47104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A5AFBE"/>
                </a:solidFill>
                <a:latin typeface="Aptos"/>
              </a:rPr>
              <a:t>Worked example — Order-to-Cash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547104"/>
            <a:ext cx="7132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A5AFBE"/>
                </a:solidFill>
                <a:latin typeface="Aptos"/>
              </a:rPr>
              <a:t>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645920"/>
            <a:ext cx="5349240" cy="42062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C8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0" y="1828800"/>
            <a:ext cx="2651760" cy="310896"/>
          </a:xfrm>
          <a:prstGeom prst="roundRect">
            <a:avLst>
              <a:gd name="adj" fmla="val 50000"/>
            </a:avLst>
          </a:prstGeom>
          <a:solidFill>
            <a:srgbClr val="5F1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8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ptos"/>
              </a:rPr>
              <a:t>COMPLEXITY  ·  WEIGHTED 2.70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40864"/>
            <a:ext cx="4023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00000"/>
                </a:solidFill>
                <a:latin typeface="Aptos"/>
              </a:rPr>
              <a:t>Data &amp; Input (35%)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651760"/>
            <a:ext cx="3977639" cy="182880"/>
          </a:xfrm>
          <a:prstGeom prst="roundRect">
            <a:avLst>
              <a:gd name="adj" fmla="val 50000"/>
            </a:avLst>
          </a:prstGeom>
          <a:solidFill>
            <a:srgbClr val="E6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22960" y="2651760"/>
            <a:ext cx="2386584" cy="182880"/>
          </a:xfrm>
          <a:prstGeom prst="roundRect">
            <a:avLst>
              <a:gd name="adj" fmla="val 50000"/>
            </a:avLst>
          </a:prstGeom>
          <a:solidFill>
            <a:srgbClr val="5F1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92040" y="2624328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5F1EBE"/>
                </a:solidFill>
                <a:latin typeface="Aptos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182112"/>
            <a:ext cx="4023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00000"/>
                </a:solidFill>
                <a:latin typeface="Aptos"/>
              </a:rPr>
              <a:t>Process Logic (35%)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493008"/>
            <a:ext cx="3977639" cy="182880"/>
          </a:xfrm>
          <a:prstGeom prst="roundRect">
            <a:avLst>
              <a:gd name="adj" fmla="val 50000"/>
            </a:avLst>
          </a:prstGeom>
          <a:solidFill>
            <a:srgbClr val="E6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2960" y="3493008"/>
            <a:ext cx="2386584" cy="182880"/>
          </a:xfrm>
          <a:prstGeom prst="roundRect">
            <a:avLst>
              <a:gd name="adj" fmla="val 50000"/>
            </a:avLst>
          </a:prstGeom>
          <a:solidFill>
            <a:srgbClr val="5F1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92040" y="3465576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5F1EBE"/>
                </a:solidFill>
                <a:latin typeface="Apto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023360"/>
            <a:ext cx="4023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00000"/>
                </a:solidFill>
                <a:latin typeface="Aptos"/>
              </a:rPr>
              <a:t>Technical &amp; System (30%)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334256"/>
            <a:ext cx="3977639" cy="182880"/>
          </a:xfrm>
          <a:prstGeom prst="roundRect">
            <a:avLst>
              <a:gd name="adj" fmla="val 50000"/>
            </a:avLst>
          </a:prstGeom>
          <a:solidFill>
            <a:srgbClr val="E6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22960" y="4334256"/>
            <a:ext cx="1591056" cy="182880"/>
          </a:xfrm>
          <a:prstGeom prst="roundRect">
            <a:avLst>
              <a:gd name="adj" fmla="val 50000"/>
            </a:avLst>
          </a:prstGeom>
          <a:solidFill>
            <a:srgbClr val="0F5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92040" y="4306824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F5FDC"/>
                </a:solidFill>
                <a:latin typeface="Aptos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175504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8291A0"/>
                </a:solidFill>
                <a:latin typeface="Aptos"/>
              </a:rPr>
              <a:t>Remittance emails + scanned lockbox images; matching rules with 22% needing judgment; SAP + bank portal, stable.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5352" y="1645920"/>
            <a:ext cx="5349240" cy="42062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C8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473952" y="1828800"/>
            <a:ext cx="2651760" cy="310896"/>
          </a:xfrm>
          <a:prstGeom prst="roundRect">
            <a:avLst>
              <a:gd name="adj" fmla="val 50000"/>
            </a:avLst>
          </a:prstGeom>
          <a:solidFill>
            <a:srgbClr val="0F5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8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ptos"/>
              </a:rPr>
              <a:t>IMPACT  ·  WEIGHTED 4.50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73952" y="2340864"/>
            <a:ext cx="4023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00000"/>
                </a:solidFill>
                <a:latin typeface="Aptos"/>
              </a:rPr>
              <a:t>Productivity (50%)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73952" y="2651760"/>
            <a:ext cx="3977639" cy="182880"/>
          </a:xfrm>
          <a:prstGeom prst="roundRect">
            <a:avLst>
              <a:gd name="adj" fmla="val 50000"/>
            </a:avLst>
          </a:prstGeom>
          <a:solidFill>
            <a:srgbClr val="E6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473952" y="2651760"/>
            <a:ext cx="3977639" cy="182880"/>
          </a:xfrm>
          <a:prstGeom prst="roundRect">
            <a:avLst>
              <a:gd name="adj" fmla="val 50000"/>
            </a:avLst>
          </a:prstGeom>
          <a:solidFill>
            <a:srgbClr val="5F1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543032" y="2624328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5F1EBE"/>
                </a:solidFill>
                <a:latin typeface="Apto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73952" y="3182112"/>
            <a:ext cx="4023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00000"/>
                </a:solidFill>
                <a:latin typeface="Aptos"/>
              </a:rPr>
              <a:t>Business Outcome (50%)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73952" y="3493008"/>
            <a:ext cx="3977639" cy="182880"/>
          </a:xfrm>
          <a:prstGeom prst="roundRect">
            <a:avLst>
              <a:gd name="adj" fmla="val 50000"/>
            </a:avLst>
          </a:prstGeom>
          <a:solidFill>
            <a:srgbClr val="E6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473952" y="3493008"/>
            <a:ext cx="3182112" cy="182880"/>
          </a:xfrm>
          <a:prstGeom prst="roundRect">
            <a:avLst>
              <a:gd name="adj" fmla="val 50000"/>
            </a:avLst>
          </a:prstGeom>
          <a:solidFill>
            <a:srgbClr val="0F5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543032" y="3465576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F5FDC"/>
                </a:solidFill>
                <a:latin typeface="Aptos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73952" y="4041648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8291A0"/>
                </a:solidFill>
                <a:latin typeface="Aptos"/>
              </a:rPr>
              <a:t>~4 FTE released; faster cash recognition improves DSO and working capital, though no direct revenue capture.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73952" y="4846320"/>
            <a:ext cx="3931920" cy="384048"/>
          </a:xfrm>
          <a:prstGeom prst="roundRect">
            <a:avLst>
              <a:gd name="adj" fmla="val 50000"/>
            </a:avLst>
          </a:prstGeom>
          <a:solidFill>
            <a:srgbClr val="411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8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ptos"/>
              </a:rPr>
              <a:t>PLACEMENT → QUICK WIN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73952" y="5303520"/>
            <a:ext cx="48463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8291A0"/>
                </a:solidFill>
                <a:latin typeface="Aptos"/>
              </a:rPr>
              <a:t>High impact, low-medium complexity — Wave 1 candidate.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9184"/>
            <a:ext cx="10058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F5FDC"/>
                </a:solidFill>
                <a:latin typeface="Aptos"/>
              </a:rPr>
              <a:t>SECTION 7 · WORKED EXAMPLE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48640"/>
            <a:ext cx="1100023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000000"/>
                </a:solidFill>
                <a:latin typeface="Aptos"/>
              </a:rPr>
              <a:t>Order-to-Cash: </a:t>
            </a:r>
            <a:r>
              <a:rPr sz="2600" b="1">
                <a:solidFill>
                  <a:srgbClr val="0F5FDC"/>
                </a:solidFill>
                <a:latin typeface="Aptos"/>
              </a:rPr>
              <a:t>archetype &amp; ROI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078992"/>
            <a:ext cx="11000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8291A0"/>
                </a:solidFill>
                <a:latin typeface="Aptos"/>
              </a:rPr>
              <a:t>Four levers combine — no single archetype covers the whole process end to end.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47104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A5AFBE"/>
                </a:solidFill>
                <a:latin typeface="Aptos"/>
              </a:rPr>
              <a:t>Worked example — Order-to-Cash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547104"/>
            <a:ext cx="7132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A5AFBE"/>
                </a:solidFill>
                <a:latin typeface="Aptos"/>
              </a:rPr>
              <a:t>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645920"/>
            <a:ext cx="2606040" cy="141732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C8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77240" y="1810512"/>
            <a:ext cx="420624" cy="420624"/>
          </a:xfrm>
          <a:prstGeom prst="ellipse">
            <a:avLst/>
          </a:prstGeom>
          <a:solidFill>
            <a:srgbClr val="0F5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12936" y="1919874"/>
            <a:ext cx="149230" cy="201899"/>
          </a:xfrm>
          <a:prstGeom prst="roundRect">
            <a:avLst>
              <a:gd name="adj" fmla="val 12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948049" y="1981321"/>
            <a:ext cx="79005" cy="0"/>
          </a:xfrm>
          <a:custGeom>
            <a:avLst/>
            <a:gdLst/>
            <a:ahLst/>
            <a:cxnLst/>
            <a:rect l="l" t="t" r="r" b="b"/>
            <a:pathLst>
              <a:path w="79005" h="0">
                <a:moveTo>
                  <a:pt x="0" y="0"/>
                </a:moveTo>
                <a:lnTo>
                  <a:pt x="79005" y="0"/>
                </a:lnTo>
              </a:path>
            </a:pathLst>
          </a:custGeom>
          <a:noFill/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948049" y="2025213"/>
            <a:ext cx="79005" cy="0"/>
          </a:xfrm>
          <a:custGeom>
            <a:avLst/>
            <a:gdLst/>
            <a:ahLst/>
            <a:cxnLst/>
            <a:rect l="l" t="t" r="r" b="b"/>
            <a:pathLst>
              <a:path w="79005" h="0">
                <a:moveTo>
                  <a:pt x="0" y="0"/>
                </a:moveTo>
                <a:lnTo>
                  <a:pt x="79005" y="0"/>
                </a:lnTo>
              </a:path>
            </a:pathLst>
          </a:custGeom>
          <a:noFill/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948049" y="2069104"/>
            <a:ext cx="79005" cy="0"/>
          </a:xfrm>
          <a:custGeom>
            <a:avLst/>
            <a:gdLst/>
            <a:ahLst/>
            <a:cxnLst/>
            <a:rect l="l" t="t" r="r" b="b"/>
            <a:pathLst>
              <a:path w="79005" h="0">
                <a:moveTo>
                  <a:pt x="0" y="0"/>
                </a:moveTo>
                <a:lnTo>
                  <a:pt x="79005" y="0"/>
                </a:lnTo>
              </a:path>
            </a:pathLst>
          </a:custGeom>
          <a:noFill/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304288"/>
            <a:ext cx="22402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000000"/>
                </a:solidFill>
                <a:latin typeface="Aptos"/>
              </a:rPr>
              <a:t>IDP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542032"/>
            <a:ext cx="224028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8291A0"/>
                </a:solidFill>
                <a:latin typeface="Aptos"/>
              </a:rPr>
              <a:t>Extract remittance data from PDFs / scans</a:t>
            </a:r>
          </a:p>
        </p:txBody>
      </p:sp>
      <p:sp>
        <p:nvSpPr>
          <p:cNvPr id="15" name="Freeform 14"/>
          <p:cNvSpPr/>
          <p:nvPr/>
        </p:nvSpPr>
        <p:spPr>
          <a:xfrm>
            <a:off x="3233318" y="2295144"/>
            <a:ext cx="49378" cy="109728"/>
          </a:xfrm>
          <a:custGeom>
            <a:avLst/>
            <a:gdLst/>
            <a:ahLst/>
            <a:cxnLst/>
            <a:rect l="l" t="t" r="r" b="b"/>
            <a:pathLst>
              <a:path w="49378" h="109728">
                <a:moveTo>
                  <a:pt x="0" y="0"/>
                </a:moveTo>
                <a:lnTo>
                  <a:pt x="49378" y="54864"/>
                </a:lnTo>
                <a:lnTo>
                  <a:pt x="0" y="109728"/>
                </a:lnTo>
                <a:close/>
              </a:path>
            </a:pathLst>
          </a:custGeom>
          <a:solidFill>
            <a:srgbClr val="A5AFBE"/>
          </a:solidFill>
          <a:ln w="15240">
            <a:solidFill>
              <a:srgbClr val="A5A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364992" y="1645920"/>
            <a:ext cx="2606040" cy="141732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C8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547872" y="1810512"/>
            <a:ext cx="420624" cy="420624"/>
          </a:xfrm>
          <a:prstGeom prst="ellipse">
            <a:avLst/>
          </a:prstGeom>
          <a:solidFill>
            <a:srgbClr val="5F1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692347" y="1919874"/>
            <a:ext cx="131673" cy="131673"/>
          </a:xfrm>
          <a:prstGeom prst="ellipse">
            <a:avLst/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729654" y="2055936"/>
            <a:ext cx="57058" cy="65836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47872" y="2304288"/>
            <a:ext cx="22402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000000"/>
                </a:solidFill>
                <a:latin typeface="Aptos"/>
              </a:rPr>
              <a:t>AI-Enabled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47872" y="2542032"/>
            <a:ext cx="224028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8291A0"/>
                </a:solidFill>
                <a:latin typeface="Aptos"/>
              </a:rPr>
              <a:t>Fuzzy-match remittance lines to invoices</a:t>
            </a:r>
          </a:p>
        </p:txBody>
      </p:sp>
      <p:sp>
        <p:nvSpPr>
          <p:cNvPr id="22" name="Freeform 21"/>
          <p:cNvSpPr/>
          <p:nvPr/>
        </p:nvSpPr>
        <p:spPr>
          <a:xfrm>
            <a:off x="6003950" y="2295144"/>
            <a:ext cx="49378" cy="109728"/>
          </a:xfrm>
          <a:custGeom>
            <a:avLst/>
            <a:gdLst/>
            <a:ahLst/>
            <a:cxnLst/>
            <a:rect l="l" t="t" r="r" b="b"/>
            <a:pathLst>
              <a:path w="49378" h="109728">
                <a:moveTo>
                  <a:pt x="0" y="0"/>
                </a:moveTo>
                <a:lnTo>
                  <a:pt x="49378" y="54864"/>
                </a:lnTo>
                <a:lnTo>
                  <a:pt x="0" y="109728"/>
                </a:lnTo>
                <a:close/>
              </a:path>
            </a:pathLst>
          </a:custGeom>
          <a:solidFill>
            <a:srgbClr val="A5AFBE"/>
          </a:solidFill>
          <a:ln w="15240">
            <a:solidFill>
              <a:srgbClr val="A5A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135624" y="1645920"/>
            <a:ext cx="2606040" cy="141732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C8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318504" y="1810512"/>
            <a:ext cx="420624" cy="420624"/>
          </a:xfrm>
          <a:prstGeom prst="ellipse">
            <a:avLst/>
          </a:prstGeom>
          <a:solidFill>
            <a:srgbClr val="0F5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23477" y="1954987"/>
            <a:ext cx="131673" cy="131673"/>
          </a:xfrm>
          <a:prstGeom prst="ellipse">
            <a:avLst/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502481" y="1954987"/>
            <a:ext cx="131673" cy="131673"/>
          </a:xfrm>
          <a:prstGeom prst="ellipse">
            <a:avLst/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18504" y="2304288"/>
            <a:ext cx="22402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000000"/>
                </a:solidFill>
                <a:latin typeface="Aptos"/>
              </a:rPr>
              <a:t>Agentic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18504" y="2542032"/>
            <a:ext cx="224028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8291A0"/>
                </a:solidFill>
                <a:latin typeface="Aptos"/>
              </a:rPr>
              <a:t>Triage the 22% exceptions, recommend action</a:t>
            </a:r>
          </a:p>
        </p:txBody>
      </p:sp>
      <p:sp>
        <p:nvSpPr>
          <p:cNvPr id="29" name="Freeform 28"/>
          <p:cNvSpPr/>
          <p:nvPr/>
        </p:nvSpPr>
        <p:spPr>
          <a:xfrm>
            <a:off x="8774582" y="2295144"/>
            <a:ext cx="49378" cy="109728"/>
          </a:xfrm>
          <a:custGeom>
            <a:avLst/>
            <a:gdLst/>
            <a:ahLst/>
            <a:cxnLst/>
            <a:rect l="l" t="t" r="r" b="b"/>
            <a:pathLst>
              <a:path w="49378" h="109728">
                <a:moveTo>
                  <a:pt x="0" y="0"/>
                </a:moveTo>
                <a:lnTo>
                  <a:pt x="49378" y="54864"/>
                </a:lnTo>
                <a:lnTo>
                  <a:pt x="0" y="109728"/>
                </a:lnTo>
                <a:close/>
              </a:path>
            </a:pathLst>
          </a:custGeom>
          <a:solidFill>
            <a:srgbClr val="A5AFBE"/>
          </a:solidFill>
          <a:ln w="15240">
            <a:solidFill>
              <a:srgbClr val="A5A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906256" y="1645920"/>
            <a:ext cx="2606040" cy="141732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C8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9089136" y="1810512"/>
            <a:ext cx="420624" cy="420624"/>
          </a:xfrm>
          <a:prstGeom prst="ellipse">
            <a:avLst/>
          </a:prstGeom>
          <a:solidFill>
            <a:srgbClr val="5F1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Gear 6 31"/>
          <p:cNvSpPr/>
          <p:nvPr/>
        </p:nvSpPr>
        <p:spPr>
          <a:xfrm>
            <a:off x="9198498" y="1919874"/>
            <a:ext cx="201899" cy="201899"/>
          </a:xfrm>
          <a:prstGeom prst="gear6">
            <a:avLst/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264335" y="1985711"/>
            <a:ext cx="70225" cy="70225"/>
          </a:xfrm>
          <a:prstGeom prst="ellipse">
            <a:avLst/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089136" y="2304288"/>
            <a:ext cx="22402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000000"/>
                </a:solidFill>
                <a:latin typeface="Aptos"/>
              </a:rPr>
              <a:t>RPA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89136" y="2542032"/>
            <a:ext cx="224028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8291A0"/>
                </a:solidFill>
                <a:latin typeface="Aptos"/>
              </a:rPr>
              <a:t>Post matched cash into SAP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94360" y="3346704"/>
            <a:ext cx="11000232" cy="2487168"/>
          </a:xfrm>
          <a:prstGeom prst="roundRect">
            <a:avLst>
              <a:gd name="adj" fmla="val 3500"/>
            </a:avLst>
          </a:prstGeom>
          <a:solidFill>
            <a:srgbClr val="DCE6F0"/>
          </a:solidFill>
          <a:ln w="9525">
            <a:solidFill>
              <a:srgbClr val="5F1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22960" y="3529584"/>
            <a:ext cx="2743200" cy="329184"/>
          </a:xfrm>
          <a:prstGeom prst="roundRect">
            <a:avLst>
              <a:gd name="adj" fmla="val 50000"/>
            </a:avLst>
          </a:prstGeom>
          <a:solidFill>
            <a:srgbClr val="5F1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8000"/>
              </a:lnSpc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ptos"/>
              </a:rPr>
              <a:t>ILLUSTRATIVE ROI SUMMARY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3986784"/>
            <a:ext cx="24460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5F1EBE"/>
                </a:solidFill>
                <a:latin typeface="Aptos"/>
              </a:rPr>
              <a:t>$95K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" y="4553712"/>
            <a:ext cx="24460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8291A0"/>
                </a:solidFill>
                <a:latin typeface="Aptos"/>
              </a:rPr>
              <a:t>Build cost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51860" y="3986784"/>
            <a:ext cx="24460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5F1EBE"/>
                </a:solidFill>
                <a:latin typeface="Aptos"/>
              </a:rPr>
              <a:t>$148K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451860" y="4553712"/>
            <a:ext cx="24460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8291A0"/>
                </a:solidFill>
                <a:latin typeface="Aptos"/>
              </a:rPr>
              <a:t>Year-1 net benefit</a:t>
            </a:r>
          </a:p>
        </p:txBody>
      </p:sp>
      <p:sp>
        <p:nvSpPr>
          <p:cNvPr id="42" name="Freeform 41"/>
          <p:cNvSpPr/>
          <p:nvPr/>
        </p:nvSpPr>
        <p:spPr>
          <a:xfrm>
            <a:off x="3323844" y="4023360"/>
            <a:ext cx="0" cy="822960"/>
          </a:xfrm>
          <a:custGeom>
            <a:avLst/>
            <a:gdLst/>
            <a:ahLst/>
            <a:cxnLst/>
            <a:rect l="l" t="t" r="r" b="b"/>
            <a:pathLst>
              <a:path w="0" h="822960">
                <a:moveTo>
                  <a:pt x="0" y="0"/>
                </a:moveTo>
                <a:lnTo>
                  <a:pt x="0" y="822960"/>
                </a:lnTo>
              </a:path>
            </a:pathLst>
          </a:custGeom>
          <a:noFill/>
          <a:ln w="9525">
            <a:solidFill>
              <a:srgbClr val="C8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080760" y="3986784"/>
            <a:ext cx="24460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5F1EBE"/>
                </a:solidFill>
                <a:latin typeface="Aptos"/>
              </a:rPr>
              <a:t>~8 mo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80760" y="4553712"/>
            <a:ext cx="24460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8291A0"/>
                </a:solidFill>
                <a:latin typeface="Aptos"/>
              </a:rPr>
              <a:t>Payback from go-live</a:t>
            </a:r>
          </a:p>
        </p:txBody>
      </p:sp>
      <p:sp>
        <p:nvSpPr>
          <p:cNvPr id="45" name="Freeform 44"/>
          <p:cNvSpPr/>
          <p:nvPr/>
        </p:nvSpPr>
        <p:spPr>
          <a:xfrm>
            <a:off x="5952744" y="4023360"/>
            <a:ext cx="0" cy="822960"/>
          </a:xfrm>
          <a:custGeom>
            <a:avLst/>
            <a:gdLst/>
            <a:ahLst/>
            <a:cxnLst/>
            <a:rect l="l" t="t" r="r" b="b"/>
            <a:pathLst>
              <a:path w="0" h="822960">
                <a:moveTo>
                  <a:pt x="0" y="0"/>
                </a:moveTo>
                <a:lnTo>
                  <a:pt x="0" y="822960"/>
                </a:lnTo>
              </a:path>
            </a:pathLst>
          </a:custGeom>
          <a:noFill/>
          <a:ln w="9525">
            <a:solidFill>
              <a:srgbClr val="C8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709660" y="3986784"/>
            <a:ext cx="24460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5F1EBE"/>
                </a:solidFill>
                <a:latin typeface="Aptos"/>
              </a:rPr>
              <a:t>$590K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709660" y="4553712"/>
            <a:ext cx="24460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8291A0"/>
                </a:solidFill>
                <a:latin typeface="Aptos"/>
              </a:rPr>
              <a:t>3-yr cumulative net value</a:t>
            </a:r>
          </a:p>
        </p:txBody>
      </p:sp>
      <p:sp>
        <p:nvSpPr>
          <p:cNvPr id="48" name="Freeform 47"/>
          <p:cNvSpPr/>
          <p:nvPr/>
        </p:nvSpPr>
        <p:spPr>
          <a:xfrm>
            <a:off x="8581644" y="4023360"/>
            <a:ext cx="0" cy="822960"/>
          </a:xfrm>
          <a:custGeom>
            <a:avLst/>
            <a:gdLst/>
            <a:ahLst/>
            <a:cxnLst/>
            <a:rect l="l" t="t" r="r" b="b"/>
            <a:pathLst>
              <a:path w="0" h="822960">
                <a:moveTo>
                  <a:pt x="0" y="0"/>
                </a:moveTo>
                <a:lnTo>
                  <a:pt x="0" y="822960"/>
                </a:lnTo>
              </a:path>
            </a:pathLst>
          </a:custGeom>
          <a:noFill/>
          <a:ln w="9525">
            <a:solidFill>
              <a:srgbClr val="C8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22960" y="5029200"/>
            <a:ext cx="10515600" cy="0"/>
          </a:xfrm>
          <a:custGeom>
            <a:avLst/>
            <a:gdLst/>
            <a:ahLst/>
            <a:cxnLst/>
            <a:rect l="l" t="t" r="r" b="b"/>
            <a:pathLst>
              <a:path w="10515600" h="0">
                <a:moveTo>
                  <a:pt x="0" y="0"/>
                </a:moveTo>
                <a:lnTo>
                  <a:pt x="10515600" y="0"/>
                </a:lnTo>
              </a:path>
            </a:pathLst>
          </a:custGeom>
          <a:noFill/>
          <a:ln w="9525">
            <a:solidFill>
              <a:srgbClr val="C8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22960" y="5138928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8291A0"/>
                </a:solidFill>
                <a:latin typeface="Aptos"/>
              </a:rPr>
              <a:t>Numbers are illustrative, built from the formulas in Section 6 (full derivation in the companion workbook) — not a substitute for the live workshop model.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9184"/>
            <a:ext cx="10058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F5FDC"/>
                </a:solidFill>
                <a:latin typeface="Aptos"/>
              </a:rPr>
              <a:t>SECTION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48640"/>
            <a:ext cx="1100023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000000"/>
                </a:solidFill>
                <a:latin typeface="Aptos"/>
              </a:rPr>
              <a:t>Getting to </a:t>
            </a:r>
            <a:r>
              <a:rPr sz="2600" b="1">
                <a:solidFill>
                  <a:srgbClr val="0F5FDC"/>
                </a:solidFill>
                <a:latin typeface="Aptos"/>
              </a:rPr>
              <a:t>sign-off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078992"/>
            <a:ext cx="11000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8291A0"/>
                </a:solidFill>
                <a:latin typeface="Aptos"/>
              </a:rPr>
              <a:t>Three internal gates before the room ever sees an executive deck.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664208"/>
            <a:ext cx="5257800" cy="416052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C8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1847088"/>
            <a:ext cx="2926080" cy="329184"/>
          </a:xfrm>
          <a:prstGeom prst="roundRect">
            <a:avLst>
              <a:gd name="adj" fmla="val 50000"/>
            </a:avLst>
          </a:prstGeom>
          <a:solidFill>
            <a:srgbClr val="5F1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8000"/>
              </a:lnSpc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ptos"/>
              </a:rPr>
              <a:t>THREE STAGE GATES</a:t>
            </a:r>
          </a:p>
        </p:txBody>
      </p:sp>
      <p:sp>
        <p:nvSpPr>
          <p:cNvPr id="7" name="Oval 6"/>
          <p:cNvSpPr/>
          <p:nvPr/>
        </p:nvSpPr>
        <p:spPr>
          <a:xfrm>
            <a:off x="822960" y="2359152"/>
            <a:ext cx="329184" cy="329184"/>
          </a:xfrm>
          <a:prstGeom prst="ellipse">
            <a:avLst/>
          </a:prstGeom>
          <a:solidFill>
            <a:srgbClr val="5F1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8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98448" y="2322576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000000"/>
                </a:solidFill>
                <a:latin typeface="Aptos"/>
              </a:rPr>
              <a:t>Tech &amp; architecture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8448" y="2633472"/>
            <a:ext cx="4389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8291A0"/>
                </a:solidFill>
                <a:latin typeface="Aptos"/>
              </a:rPr>
              <a:t>Lead architect verifies VDI, API and credential access</a:t>
            </a:r>
          </a:p>
        </p:txBody>
      </p:sp>
      <p:sp>
        <p:nvSpPr>
          <p:cNvPr id="10" name="Oval 9"/>
          <p:cNvSpPr/>
          <p:nvPr/>
        </p:nvSpPr>
        <p:spPr>
          <a:xfrm>
            <a:off x="822960" y="3456432"/>
            <a:ext cx="329184" cy="329184"/>
          </a:xfrm>
          <a:prstGeom prst="ellipse">
            <a:avLst/>
          </a:prstGeom>
          <a:solidFill>
            <a:srgbClr val="5F1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8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98448" y="3419856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000000"/>
                </a:solidFill>
                <a:latin typeface="Aptos"/>
              </a:rPr>
              <a:t>Security &amp; compliance audit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8448" y="3730752"/>
            <a:ext cx="4389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8291A0"/>
                </a:solidFill>
                <a:latin typeface="Aptos"/>
              </a:rPr>
              <a:t>Data privacy officer clears PII handling, token usage</a:t>
            </a:r>
          </a:p>
        </p:txBody>
      </p:sp>
      <p:sp>
        <p:nvSpPr>
          <p:cNvPr id="13" name="Oval 12"/>
          <p:cNvSpPr/>
          <p:nvPr/>
        </p:nvSpPr>
        <p:spPr>
          <a:xfrm>
            <a:off x="822960" y="4553712"/>
            <a:ext cx="329184" cy="329184"/>
          </a:xfrm>
          <a:prstGeom prst="ellipse">
            <a:avLst/>
          </a:prstGeom>
          <a:solidFill>
            <a:srgbClr val="5F1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8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98448" y="4517136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000000"/>
                </a:solidFill>
                <a:latin typeface="Aptos"/>
              </a:rPr>
              <a:t>SME playback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8448" y="4828032"/>
            <a:ext cx="4389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8291A0"/>
                </a:solidFill>
                <a:latin typeface="Aptos"/>
              </a:rPr>
              <a:t>Ops validates baseline AHT, volume and exception rates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45352" y="1664208"/>
            <a:ext cx="5349240" cy="4160520"/>
          </a:xfrm>
          <a:prstGeom prst="roundRect">
            <a:avLst>
              <a:gd name="adj" fmla="val 3500"/>
            </a:avLst>
          </a:prstGeom>
          <a:solidFill>
            <a:srgbClr val="DCE6F0"/>
          </a:solidFill>
          <a:ln w="9525">
            <a:solidFill>
              <a:srgbClr val="0F5F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73952" y="1847088"/>
            <a:ext cx="3200400" cy="329184"/>
          </a:xfrm>
          <a:prstGeom prst="roundRect">
            <a:avLst>
              <a:gd name="adj" fmla="val 50000"/>
            </a:avLst>
          </a:prstGeom>
          <a:solidFill>
            <a:srgbClr val="0F5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8000"/>
              </a:lnSpc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ptos"/>
              </a:rPr>
              <a:t>EXECUTIVE DECK STRUCTURE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3952" y="2359152"/>
            <a:ext cx="29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F5FDC"/>
                </a:solidFill>
                <a:latin typeface="Aptos"/>
              </a:rPr>
              <a:t>1.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0" y="2359152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ptos"/>
              </a:rPr>
              <a:t>Executive summary — pipeline size, FTE release, 3-yr value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3952" y="2871216"/>
            <a:ext cx="29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F5FDC"/>
                </a:solidFill>
                <a:latin typeface="Aptos"/>
              </a:rPr>
              <a:t>2.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0" y="2871216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ptos"/>
              </a:rPr>
              <a:t>Current-state bottlenecks — heatmap of pain points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73952" y="3383280"/>
            <a:ext cx="29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F5FDC"/>
                </a:solidFill>
                <a:latin typeface="Aptos"/>
              </a:rPr>
              <a:t>3.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338328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ptos"/>
              </a:rPr>
              <a:t>Target-state solution blueprint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73952" y="3895344"/>
            <a:ext cx="29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F5FDC"/>
                </a:solidFill>
                <a:latin typeface="Aptos"/>
              </a:rPr>
              <a:t>4.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6560" y="3895344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ptos"/>
              </a:rPr>
              <a:t>Opportunity matrix &amp; prioritization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3952" y="4407408"/>
            <a:ext cx="29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F5FDC"/>
                </a:solidFill>
                <a:latin typeface="Aptos"/>
              </a:rPr>
              <a:t>5.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66560" y="4407408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ptos"/>
              </a:rPr>
              <a:t>Implementation roadmap &amp; pilot phase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73952" y="4919472"/>
            <a:ext cx="29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F5FDC"/>
                </a:solidFill>
                <a:latin typeface="Aptos"/>
              </a:rPr>
              <a:t>6.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66560" y="4919472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ptos"/>
              </a:rPr>
              <a:t>Commercial business case &amp; ROI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73952" y="5431536"/>
            <a:ext cx="29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F5FDC"/>
                </a:solidFill>
                <a:latin typeface="Aptos"/>
              </a:rPr>
              <a:t>7.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66560" y="5431536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ptos"/>
              </a:rPr>
              <a:t>Governance &amp; operating model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" y="6547104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A5AFBE"/>
                </a:solidFill>
                <a:latin typeface="Aptos"/>
              </a:rPr>
              <a:t>Getting to sign-off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81360" y="6547104"/>
            <a:ext cx="7132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A5AFBE"/>
                </a:solidFill>
                <a:latin typeface="Aptos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9184"/>
            <a:ext cx="10058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F5FDC"/>
                </a:solidFill>
                <a:latin typeface="Aptos"/>
              </a:rPr>
              <a:t>KEEP THIS AT YOUR DESK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48640"/>
            <a:ext cx="1100023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000000"/>
                </a:solidFill>
                <a:latin typeface="Aptos"/>
              </a:rPr>
              <a:t>The one-page </a:t>
            </a:r>
            <a:r>
              <a:rPr sz="2600" b="1">
                <a:solidFill>
                  <a:srgbClr val="0F5FDC"/>
                </a:solidFill>
                <a:latin typeface="Aptos"/>
              </a:rPr>
              <a:t>cheat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078992"/>
            <a:ext cx="11000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8291A0"/>
                </a:solidFill>
                <a:latin typeface="Aptos"/>
              </a:rPr>
              <a:t>Everything above, compressed for the field.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627632"/>
            <a:ext cx="3520440" cy="42062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C8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1810512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5F1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8000"/>
              </a:lnSpc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ptos"/>
              </a:rPr>
              <a:t>LIFECYCLE</a:t>
            </a:r>
          </a:p>
        </p:txBody>
      </p:sp>
      <p:sp>
        <p:nvSpPr>
          <p:cNvPr id="7" name="Oval 6"/>
          <p:cNvSpPr/>
          <p:nvPr/>
        </p:nvSpPr>
        <p:spPr>
          <a:xfrm>
            <a:off x="822960" y="2231136"/>
            <a:ext cx="219456" cy="219456"/>
          </a:xfrm>
          <a:prstGeom prst="ellipse">
            <a:avLst/>
          </a:prstGeom>
          <a:solidFill>
            <a:srgbClr val="5F1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8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" y="2203704"/>
            <a:ext cx="28803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ptos"/>
              </a:rPr>
              <a:t>Pre-DD Prep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2615184"/>
            <a:ext cx="219456" cy="219456"/>
          </a:xfrm>
          <a:prstGeom prst="ellipse">
            <a:avLst/>
          </a:prstGeom>
          <a:solidFill>
            <a:srgbClr val="5F1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8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" y="2587752"/>
            <a:ext cx="28803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ptos"/>
              </a:rPr>
              <a:t>Workshop &amp; Shadowing</a:t>
            </a:r>
          </a:p>
        </p:txBody>
      </p:sp>
      <p:sp>
        <p:nvSpPr>
          <p:cNvPr id="11" name="Oval 10"/>
          <p:cNvSpPr/>
          <p:nvPr/>
        </p:nvSpPr>
        <p:spPr>
          <a:xfrm>
            <a:off x="822960" y="2999232"/>
            <a:ext cx="219456" cy="219456"/>
          </a:xfrm>
          <a:prstGeom prst="ellipse">
            <a:avLst/>
          </a:prstGeom>
          <a:solidFill>
            <a:srgbClr val="5F1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8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" y="2971800"/>
            <a:ext cx="28803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ptos"/>
              </a:rPr>
              <a:t>Feasibility &amp; Archetyping</a:t>
            </a:r>
          </a:p>
        </p:txBody>
      </p:sp>
      <p:sp>
        <p:nvSpPr>
          <p:cNvPr id="13" name="Oval 12"/>
          <p:cNvSpPr/>
          <p:nvPr/>
        </p:nvSpPr>
        <p:spPr>
          <a:xfrm>
            <a:off x="822960" y="3383280"/>
            <a:ext cx="219456" cy="219456"/>
          </a:xfrm>
          <a:prstGeom prst="ellipse">
            <a:avLst/>
          </a:prstGeom>
          <a:solidFill>
            <a:srgbClr val="5F1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8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" y="3355848"/>
            <a:ext cx="28803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ptos"/>
              </a:rPr>
              <a:t>Business Case</a:t>
            </a:r>
          </a:p>
        </p:txBody>
      </p:sp>
      <p:sp>
        <p:nvSpPr>
          <p:cNvPr id="15" name="Oval 14"/>
          <p:cNvSpPr/>
          <p:nvPr/>
        </p:nvSpPr>
        <p:spPr>
          <a:xfrm>
            <a:off x="822960" y="3767328"/>
            <a:ext cx="219456" cy="219456"/>
          </a:xfrm>
          <a:prstGeom prst="ellipse">
            <a:avLst/>
          </a:prstGeom>
          <a:solidFill>
            <a:srgbClr val="5F1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8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" y="3739896"/>
            <a:ext cx="28803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ptos"/>
              </a:rPr>
              <a:t>Playback &amp; Sign-off</a:t>
            </a:r>
          </a:p>
        </p:txBody>
      </p:sp>
      <p:sp>
        <p:nvSpPr>
          <p:cNvPr id="17" name="Freeform 16"/>
          <p:cNvSpPr/>
          <p:nvPr/>
        </p:nvSpPr>
        <p:spPr>
          <a:xfrm>
            <a:off x="822960" y="4279392"/>
            <a:ext cx="3063240" cy="0"/>
          </a:xfrm>
          <a:custGeom>
            <a:avLst/>
            <a:gdLst/>
            <a:ahLst/>
            <a:cxnLst/>
            <a:rect l="l" t="t" r="r" b="b"/>
            <a:pathLst>
              <a:path w="3063240" h="0">
                <a:moveTo>
                  <a:pt x="0" y="0"/>
                </a:moveTo>
                <a:lnTo>
                  <a:pt x="3063240" y="0"/>
                </a:lnTo>
              </a:path>
            </a:pathLst>
          </a:custGeom>
          <a:noFill/>
          <a:ln w="9525">
            <a:solidFill>
              <a:srgbClr val="C8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22960" y="4389120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0F5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8000"/>
              </a:lnSpc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ptos"/>
              </a:rPr>
              <a:t>SCORING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809744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Aptos"/>
              </a:rPr>
              <a:t>•  Complexity: Data · Logic · Systems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102352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Aptos"/>
              </a:rPr>
              <a:t>•  Impact: Productivity · Outcome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79392" y="1627632"/>
            <a:ext cx="3520440" cy="42062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C8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507992" y="1810512"/>
            <a:ext cx="2286000" cy="292608"/>
          </a:xfrm>
          <a:prstGeom prst="roundRect">
            <a:avLst>
              <a:gd name="adj" fmla="val 50000"/>
            </a:avLst>
          </a:prstGeom>
          <a:solidFill>
            <a:srgbClr val="5F1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8000"/>
              </a:lnSpc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ptos"/>
              </a:rPr>
              <a:t>TECHNOLOGY ARCHETYPES</a:t>
            </a:r>
          </a:p>
        </p:txBody>
      </p:sp>
      <p:sp>
        <p:nvSpPr>
          <p:cNvPr id="23" name="Oval 22"/>
          <p:cNvSpPr/>
          <p:nvPr/>
        </p:nvSpPr>
        <p:spPr>
          <a:xfrm>
            <a:off x="4507992" y="2249424"/>
            <a:ext cx="329184" cy="329184"/>
          </a:xfrm>
          <a:prstGeom prst="ellipse">
            <a:avLst/>
          </a:prstGeom>
          <a:solidFill>
            <a:srgbClr val="0F5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Gear 6 23"/>
          <p:cNvSpPr/>
          <p:nvPr/>
        </p:nvSpPr>
        <p:spPr>
          <a:xfrm>
            <a:off x="4588459" y="2329891"/>
            <a:ext cx="168249" cy="168249"/>
          </a:xfrm>
          <a:prstGeom prst="gear6">
            <a:avLst/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643323" y="2384755"/>
            <a:ext cx="58521" cy="58521"/>
          </a:xfrm>
          <a:prstGeom prst="ellipse">
            <a:avLst/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56048" y="2249424"/>
            <a:ext cx="26974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ptos"/>
              </a:rPr>
              <a:t>RPA</a:t>
            </a:r>
          </a:p>
        </p:txBody>
      </p:sp>
      <p:sp>
        <p:nvSpPr>
          <p:cNvPr id="27" name="Oval 26"/>
          <p:cNvSpPr/>
          <p:nvPr/>
        </p:nvSpPr>
        <p:spPr>
          <a:xfrm>
            <a:off x="4507992" y="2798064"/>
            <a:ext cx="329184" cy="329184"/>
          </a:xfrm>
          <a:prstGeom prst="ellipse">
            <a:avLst/>
          </a:prstGeom>
          <a:solidFill>
            <a:srgbClr val="0F5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610404" y="2878531"/>
            <a:ext cx="124358" cy="168249"/>
          </a:xfrm>
          <a:prstGeom prst="roundRect">
            <a:avLst>
              <a:gd name="adj" fmla="val 12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639665" y="2929737"/>
            <a:ext cx="65837" cy="0"/>
          </a:xfrm>
          <a:custGeom>
            <a:avLst/>
            <a:gdLst/>
            <a:ahLst/>
            <a:cxnLst/>
            <a:rect l="l" t="t" r="r" b="b"/>
            <a:pathLst>
              <a:path w="65837" h="0">
                <a:moveTo>
                  <a:pt x="0" y="0"/>
                </a:moveTo>
                <a:lnTo>
                  <a:pt x="65837" y="0"/>
                </a:lnTo>
              </a:path>
            </a:pathLst>
          </a:custGeom>
          <a:noFill/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4639665" y="2966313"/>
            <a:ext cx="65837" cy="0"/>
          </a:xfrm>
          <a:custGeom>
            <a:avLst/>
            <a:gdLst/>
            <a:ahLst/>
            <a:cxnLst/>
            <a:rect l="l" t="t" r="r" b="b"/>
            <a:pathLst>
              <a:path w="65837" h="0">
                <a:moveTo>
                  <a:pt x="0" y="0"/>
                </a:moveTo>
                <a:lnTo>
                  <a:pt x="65837" y="0"/>
                </a:lnTo>
              </a:path>
            </a:pathLst>
          </a:custGeom>
          <a:noFill/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4639665" y="3002889"/>
            <a:ext cx="65837" cy="0"/>
          </a:xfrm>
          <a:custGeom>
            <a:avLst/>
            <a:gdLst/>
            <a:ahLst/>
            <a:cxnLst/>
            <a:rect l="l" t="t" r="r" b="b"/>
            <a:pathLst>
              <a:path w="65837" h="0">
                <a:moveTo>
                  <a:pt x="0" y="0"/>
                </a:moveTo>
                <a:lnTo>
                  <a:pt x="65837" y="0"/>
                </a:lnTo>
              </a:path>
            </a:pathLst>
          </a:custGeom>
          <a:noFill/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56048" y="2798064"/>
            <a:ext cx="26974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ptos"/>
              </a:rPr>
              <a:t>IDP</a:t>
            </a:r>
          </a:p>
        </p:txBody>
      </p:sp>
      <p:sp>
        <p:nvSpPr>
          <p:cNvPr id="33" name="Oval 32"/>
          <p:cNvSpPr/>
          <p:nvPr/>
        </p:nvSpPr>
        <p:spPr>
          <a:xfrm>
            <a:off x="4507992" y="3346704"/>
            <a:ext cx="329184" cy="329184"/>
          </a:xfrm>
          <a:prstGeom prst="ellipse">
            <a:avLst/>
          </a:prstGeom>
          <a:solidFill>
            <a:srgbClr val="0F5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4617720" y="3427171"/>
            <a:ext cx="109728" cy="109728"/>
          </a:xfrm>
          <a:prstGeom prst="ellipse">
            <a:avLst/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4648809" y="3540556"/>
            <a:ext cx="47548" cy="54864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956048" y="3346704"/>
            <a:ext cx="26974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ptos"/>
              </a:rPr>
              <a:t>AI-Enabled Automation</a:t>
            </a:r>
          </a:p>
        </p:txBody>
      </p:sp>
      <p:sp>
        <p:nvSpPr>
          <p:cNvPr id="37" name="Oval 36"/>
          <p:cNvSpPr/>
          <p:nvPr/>
        </p:nvSpPr>
        <p:spPr>
          <a:xfrm>
            <a:off x="4507992" y="3895344"/>
            <a:ext cx="329184" cy="329184"/>
          </a:xfrm>
          <a:prstGeom prst="ellipse">
            <a:avLst/>
          </a:prstGeom>
          <a:solidFill>
            <a:srgbClr val="0F5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4584801" y="4005072"/>
            <a:ext cx="109728" cy="109728"/>
          </a:xfrm>
          <a:prstGeom prst="ellipse">
            <a:avLst/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4650638" y="4005072"/>
            <a:ext cx="109728" cy="109728"/>
          </a:xfrm>
          <a:prstGeom prst="ellipse">
            <a:avLst/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956048" y="3895344"/>
            <a:ext cx="26974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ptos"/>
              </a:rPr>
              <a:t>Agentic</a:t>
            </a:r>
          </a:p>
        </p:txBody>
      </p:sp>
      <p:sp>
        <p:nvSpPr>
          <p:cNvPr id="41" name="Oval 40"/>
          <p:cNvSpPr/>
          <p:nvPr/>
        </p:nvSpPr>
        <p:spPr>
          <a:xfrm>
            <a:off x="4507992" y="4443983"/>
            <a:ext cx="329184" cy="329184"/>
          </a:xfrm>
          <a:prstGeom prst="ellipse">
            <a:avLst/>
          </a:prstGeom>
          <a:solidFill>
            <a:srgbClr val="0F5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Diamond 41"/>
          <p:cNvSpPr/>
          <p:nvPr/>
        </p:nvSpPr>
        <p:spPr>
          <a:xfrm>
            <a:off x="4592116" y="4529937"/>
            <a:ext cx="160934" cy="47548"/>
          </a:xfrm>
          <a:prstGeom prst="diamond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Diamond 42"/>
          <p:cNvSpPr/>
          <p:nvPr/>
        </p:nvSpPr>
        <p:spPr>
          <a:xfrm>
            <a:off x="4592116" y="4581144"/>
            <a:ext cx="160934" cy="47548"/>
          </a:xfrm>
          <a:prstGeom prst="diamond">
            <a:avLst/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Diamond 43"/>
          <p:cNvSpPr/>
          <p:nvPr/>
        </p:nvSpPr>
        <p:spPr>
          <a:xfrm>
            <a:off x="4592116" y="4632350"/>
            <a:ext cx="160934" cy="47548"/>
          </a:xfrm>
          <a:prstGeom prst="diamond">
            <a:avLst/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956048" y="4443983"/>
            <a:ext cx="26974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ptos"/>
              </a:rPr>
              <a:t>BPM</a:t>
            </a:r>
          </a:p>
        </p:txBody>
      </p:sp>
      <p:sp>
        <p:nvSpPr>
          <p:cNvPr id="46" name="Freeform 45"/>
          <p:cNvSpPr/>
          <p:nvPr/>
        </p:nvSpPr>
        <p:spPr>
          <a:xfrm>
            <a:off x="4507992" y="5074920"/>
            <a:ext cx="3063239" cy="0"/>
          </a:xfrm>
          <a:custGeom>
            <a:avLst/>
            <a:gdLst/>
            <a:ahLst/>
            <a:cxnLst/>
            <a:rect l="l" t="t" r="r" b="b"/>
            <a:pathLst>
              <a:path w="3063239" h="0">
                <a:moveTo>
                  <a:pt x="0" y="0"/>
                </a:moveTo>
                <a:lnTo>
                  <a:pt x="3063239" y="0"/>
                </a:lnTo>
              </a:path>
            </a:pathLst>
          </a:custGeom>
          <a:noFill/>
          <a:ln w="9525">
            <a:solidFill>
              <a:srgbClr val="C8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507992" y="5193792"/>
            <a:ext cx="3063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411482"/>
                </a:solidFill>
                <a:latin typeface="Aptos"/>
              </a:rPr>
              <a:t>Broken process? Fix it first — don’t automate chaos.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964424" y="1627632"/>
            <a:ext cx="3630168" cy="4206240"/>
          </a:xfrm>
          <a:prstGeom prst="roundRect">
            <a:avLst>
              <a:gd name="adj" fmla="val 3500"/>
            </a:avLst>
          </a:prstGeom>
          <a:solidFill>
            <a:srgbClr val="DCE6F0"/>
          </a:solidFill>
          <a:ln w="9525">
            <a:solidFill>
              <a:srgbClr val="5F1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8193024" y="1810512"/>
            <a:ext cx="2377440" cy="292608"/>
          </a:xfrm>
          <a:prstGeom prst="roundRect">
            <a:avLst>
              <a:gd name="adj" fmla="val 50000"/>
            </a:avLst>
          </a:prstGeom>
          <a:solidFill>
            <a:srgbClr val="5F1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8000"/>
              </a:lnSpc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ptos"/>
              </a:rPr>
              <a:t>THE FORMULA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193024" y="2231136"/>
            <a:ext cx="32461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Aptos"/>
              </a:rPr>
              <a:t>FTE Savings =</a:t>
            </a:r>
            <a:r>
              <a:rPr sz="950" b="0">
                <a:solidFill>
                  <a:srgbClr val="000000"/>
                </a:solidFill>
                <a:latin typeface="Aptos"/>
              </a:rPr>
              <a:t>(Volume × AHT ÷ productive hrs)</a:t>
            </a:r>
            <a:r>
              <a:rPr sz="950" b="0">
                <a:solidFill>
                  <a:srgbClr val="000000"/>
                </a:solidFill>
                <a:latin typeface="Aptos"/>
              </a:rPr>
              <a:t>× Automation Coverage %</a:t>
            </a:r>
            <a:r>
              <a:rPr sz="950" b="0">
                <a:solidFill>
                  <a:srgbClr val="000000"/>
                </a:solidFill>
                <a:latin typeface="Aptos"/>
              </a:rPr>
              <a:t>× Fully Loaded FTE Cost</a:t>
            </a:r>
          </a:p>
        </p:txBody>
      </p:sp>
      <p:sp>
        <p:nvSpPr>
          <p:cNvPr id="51" name="Freeform 50"/>
          <p:cNvSpPr/>
          <p:nvPr/>
        </p:nvSpPr>
        <p:spPr>
          <a:xfrm>
            <a:off x="8193024" y="3529584"/>
            <a:ext cx="3200400" cy="0"/>
          </a:xfrm>
          <a:custGeom>
            <a:avLst/>
            <a:gdLst/>
            <a:ahLst/>
            <a:cxnLst/>
            <a:rect l="l" t="t" r="r" b="b"/>
            <a:pathLst>
              <a:path w="3200400" h="0">
                <a:moveTo>
                  <a:pt x="0" y="0"/>
                </a:moveTo>
                <a:lnTo>
                  <a:pt x="3200400" y="0"/>
                </a:lnTo>
              </a:path>
            </a:pathLst>
          </a:custGeom>
          <a:noFill/>
          <a:ln w="9525">
            <a:solidFill>
              <a:srgbClr val="C8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8193024" y="3639312"/>
            <a:ext cx="2377440" cy="292608"/>
          </a:xfrm>
          <a:prstGeom prst="roundRect">
            <a:avLst>
              <a:gd name="adj" fmla="val 50000"/>
            </a:avLst>
          </a:prstGeom>
          <a:solidFill>
            <a:srgbClr val="0F5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8000"/>
              </a:lnSpc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ptos"/>
              </a:rPr>
              <a:t>ASK ABOUT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93024" y="3986784"/>
            <a:ext cx="3246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0F5FDC"/>
                </a:solidFill>
                <a:latin typeface="Aptos"/>
              </a:rPr>
              <a:t>KPI vs. benchmark </a:t>
            </a:r>
            <a:r>
              <a:rPr sz="950" b="0">
                <a:solidFill>
                  <a:srgbClr val="000000"/>
                </a:solidFill>
                <a:latin typeface="Aptos"/>
              </a:rPr>
              <a:t>— current state vs. market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93024" y="4315968"/>
            <a:ext cx="3246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0F5FDC"/>
                </a:solidFill>
                <a:latin typeface="Aptos"/>
              </a:rPr>
              <a:t>Top-line linkage </a:t>
            </a:r>
            <a:r>
              <a:rPr sz="950" b="0">
                <a:solidFill>
                  <a:srgbClr val="000000"/>
                </a:solidFill>
                <a:latin typeface="Aptos"/>
              </a:rPr>
              <a:t>— does the fix move the P&amp;L?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94360" y="6547104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A5AFBE"/>
                </a:solidFill>
                <a:latin typeface="Aptos"/>
              </a:rPr>
              <a:t>Cheat sheet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881360" y="6547104"/>
            <a:ext cx="7132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A5AFBE"/>
                </a:solidFill>
                <a:latin typeface="Aptos"/>
              </a:rPr>
              <a:t>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HCLTech Theme 4.1">
  <a:themeElements>
    <a:clrScheme name="HCLTech">
      <a:dk1>
        <a:srgbClr val="000000"/>
      </a:dk1>
      <a:lt1>
        <a:srgbClr val="FFFFFF"/>
      </a:lt1>
      <a:dk2>
        <a:srgbClr val="5F1EBE"/>
      </a:dk2>
      <a:lt2>
        <a:srgbClr val="411482"/>
      </a:lt2>
      <a:accent1>
        <a:srgbClr val="8C69F0"/>
      </a:accent1>
      <a:accent2>
        <a:srgbClr val="B9C8FF"/>
      </a:accent2>
      <a:accent3>
        <a:srgbClr val="0F5FDC"/>
      </a:accent3>
      <a:accent4>
        <a:srgbClr val="3C91FF"/>
      </a:accent4>
      <a:accent5>
        <a:srgbClr val="8CC8FA"/>
      </a:accent5>
      <a:accent6>
        <a:srgbClr val="DCE6F0"/>
      </a:accent6>
      <a:hlink>
        <a:srgbClr val="0F5FDC"/>
      </a:hlink>
      <a:folHlink>
        <a:srgbClr val="292929"/>
      </a:folHlink>
    </a:clrScheme>
    <a:fontScheme name="Aptos">
      <a:majorFont>
        <a:latin typeface="Aptos Display"/>
        <a:ea typeface=""/>
        <a:cs typeface=""/>
      </a:majorFont>
      <a:minorFont>
        <a:latin typeface="Apto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E6EBF5"/>
        </a:solidFill>
        <a:ln>
          <a:noFill/>
        </a:ln>
      </a:spPr>
      <a:bodyPr lIns="288000" tIns="252000" rIns="288000" bIns="288000" rtlCol="0" anchor="t" anchorCtr="0"/>
      <a:lstStyle>
        <a:defPPr algn="l">
          <a:defRPr dirty="0" err="1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rgbClr val="C8D2DD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0" tIns="0" rIns="0" bIns="0" rtlCol="0">
        <a:spAutoFit/>
      </a:bodyPr>
      <a:lstStyle>
        <a:defPPr algn="l">
          <a:defRPr dirty="0" err="1" smtClean="0">
            <a:solidFill>
              <a:schemeClr val="tx1"/>
            </a:solidFill>
          </a:defRPr>
        </a:defPPr>
      </a:lstStyle>
    </a:txDef>
  </a:objectDefaults>
  <a:extraClrSchemeLst/>
  <a:custClrLst>
    <a:custClr name="Dark Teal">
      <a:srgbClr val="007873"/>
    </a:custClr>
    <a:custClr name="Teal">
      <a:srgbClr val="4BC3AF"/>
    </a:custClr>
    <a:custClr name="Teal 80% Tint">
      <a:srgbClr val="6FCFBF"/>
    </a:custClr>
    <a:custClr name="Light Teal">
      <a:srgbClr val="A5E6DC"/>
    </a:custClr>
    <a:custClr name="Dark green">
      <a:srgbClr val="0FA069"/>
    </a:custClr>
    <a:custClr name="Green">
      <a:srgbClr val="82DC73"/>
    </a:custClr>
    <a:custClr name="Green 80% Tint">
      <a:srgbClr val="9BE38F"/>
    </a:custClr>
    <a:custClr name="Light Green">
      <a:srgbClr val="BEEBB4"/>
    </a:custClr>
    <a:custClr name="Dark Yellow">
      <a:srgbClr val="C8870A"/>
    </a:custClr>
    <a:custClr name="Yellow">
      <a:srgbClr val="FFCD41"/>
    </a:custClr>
    <a:custClr name="Yellow 80% Tint">
      <a:srgbClr val="FFD767"/>
    </a:custClr>
    <a:custClr name="Light Yellow">
      <a:srgbClr val="FFECC7"/>
    </a:custClr>
    <a:custClr name="Dark Coral">
      <a:srgbClr val="C3325F"/>
    </a:custClr>
    <a:custClr name="Coral">
      <a:srgbClr val="FF789B"/>
    </a:custClr>
    <a:custClr name="Coral 80% Tint">
      <a:srgbClr val="FF93AF"/>
    </a:custClr>
    <a:custClr name="Light Coral">
      <a:srgbClr val="FFBED7"/>
    </a:custClr>
    <a:custClr name="Bronze">
      <a:srgbClr val="D7BEB4"/>
    </a:custClr>
    <a:custClr name="Cream">
      <a:srgbClr val="FAF0E6"/>
    </a:custClr>
    <a:custClr name="Grey 1">
      <a:srgbClr val="8291A0"/>
    </a:custClr>
    <a:custClr name="Grey 2">
      <a:srgbClr val="A5AFBE"/>
    </a:custClr>
    <a:custClr name="Grey 3">
      <a:srgbClr val="C8D2DD"/>
    </a:custClr>
    <a:custClr name="Grey 4">
      <a:srgbClr val="E6EBF5"/>
    </a:custClr>
  </a:custClrLst>
  <a:extLst>
    <a:ext uri="{05A4C25C-085E-4340-85A3-A5531E510DB2}">
      <thm15:themeFamily xmlns:thm15="http://schemas.microsoft.com/office/thememl/2012/main" name="Essential Version 4.1.potx" id="{348EEFF9-F705-4BDC-9AF7-D3FA7C421DF6}" vid="{8CF5B234-82B5-43E0-82FB-4C124FBCA66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490</Words>
  <Application>Microsoft Office PowerPoint</Application>
  <PresentationFormat>Widescreen</PresentationFormat>
  <Paragraphs>56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9" baseType="lpstr">
      <vt:lpstr>Aptos</vt:lpstr>
      <vt:lpstr>Aptos Light</vt:lpstr>
      <vt:lpstr>Arial</vt:lpstr>
      <vt:lpstr>Calibri</vt:lpstr>
      <vt:lpstr>Aptos</vt:lpstr>
      <vt:lpstr>Aptos Display</vt:lpstr>
      <vt:lpstr>Aptos Light</vt:lpstr>
      <vt:lpstr>1_HCLTech Theme 4.1</vt:lpstr>
      <vt:lpstr>CFO Operations Landscape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Rathish s</dc:creator>
  <cp:lastModifiedBy>Rathish s</cp:lastModifiedBy>
  <cp:revision>1</cp:revision>
  <dcterms:created xsi:type="dcterms:W3CDTF">2026-04-24T04:45:14Z</dcterms:created>
  <dcterms:modified xsi:type="dcterms:W3CDTF">2026-04-24T04:52:42Z</dcterms:modified>
</cp:coreProperties>
</file>