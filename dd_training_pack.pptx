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4285C"/>
              </a:gs>
              <a:gs pos="100000">
                <a:srgbClr val="1E3A8A"/>
              </a:gs>
            </a:gsLst>
            <a:lin scaled="0" ang="19500000"/>
          </a:gra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554480"/>
            <a:ext cx="3931920" cy="3931920"/>
          </a:xfrm>
          <a:prstGeom prst="ellipse">
            <a:avLst/>
          </a:prstGeom>
          <a:solidFill>
            <a:srgbClr val="2E4EC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4572000"/>
            <a:ext cx="3108960" cy="3108960"/>
          </a:xfrm>
          <a:prstGeom prst="ellipse">
            <a:avLst/>
          </a:prstGeom>
          <a:noFill/>
          <a:ln w="15875">
            <a:solidFill>
              <a:srgbClr val="608B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2E4EC7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INTERNAL TRAINING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3327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Process Automation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608BE8"/>
                </a:solidFill>
                <a:latin typeface="Calibri"/>
              </a:rPr>
              <a:t>Due Diligence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>
                <a:solidFill>
                  <a:srgbClr val="C7D6F5"/>
                </a:solidFill>
                <a:latin typeface="Calibri"/>
              </a:rPr>
              <a:t>A field playbook for running the DD workshop, scoring what you hear, and building a case that survives review.</a:t>
            </a:r>
          </a:p>
        </p:txBody>
      </p:sp>
      <p:sp>
        <p:nvSpPr>
          <p:cNvPr id="8" name="Freeform 7"/>
          <p:cNvSpPr/>
          <p:nvPr/>
        </p:nvSpPr>
        <p:spPr>
          <a:xfrm>
            <a:off x="822960" y="4160520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 h="0">
                <a:moveTo>
                  <a:pt x="0" y="0"/>
                </a:moveTo>
                <a:lnTo>
                  <a:pt x="2011680" y="0"/>
                </a:lnTo>
              </a:path>
            </a:pathLst>
          </a:custGeom>
          <a:noFill/>
          <a:ln w="19050">
            <a:solidFill>
              <a:srgbClr val="608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CB3E8"/>
                </a:solidFill>
                <a:latin typeface="Calibri"/>
              </a:rPr>
              <a:t>Prepared for internal upskilling  ·  adapt before client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TRAINING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What we’ll cover </a:t>
            </a:r>
            <a:r>
              <a:rPr sz="2600" b="1">
                <a:solidFill>
                  <a:srgbClr val="0D9488"/>
                </a:solidFill>
                <a:latin typeface="Calibri"/>
              </a:rPr>
              <a:t>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Seven sections, one worked example, one cheat sheet to keep.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11000232" cy="60350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91640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72768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72768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The cost of skipping DD, and what good DD buys you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The DD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7627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Five stages, start to sign-off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79776"/>
            <a:ext cx="11000232" cy="60350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898648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9776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Preparing &amp; running the workshop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79776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What to gather, what to ask, what to listen for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502152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83280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Scoring what you heard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383280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Complexity and impact, simplified for the field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986784"/>
            <a:ext cx="11000232" cy="60350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105656"/>
            <a:ext cx="365760" cy="36576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4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Choosing the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986784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Five archetypes and when each one fits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709160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90288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Building the business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90288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ROI mechanics in plain terms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193792"/>
            <a:ext cx="11000232" cy="60350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8680" y="5312664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93792"/>
            <a:ext cx="32461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Worked example: Order-to-Cash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19379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One process, scored, archetyped, priced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Agenda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Why we do this </a:t>
            </a:r>
            <a:r>
              <a:rPr sz="2600" b="1">
                <a:solidFill>
                  <a:srgbClr val="0D9488"/>
                </a:solidFill>
                <a:latin typeface="Calibri"/>
              </a:rPr>
              <a:t>properly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Skipped or shallow DD is the single biggest cause of automation write-offs.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52578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F3C6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IF YOU SKIP IT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04288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194560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Bots built against SOPs nobody actually follows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962656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852927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Exception rate discovered after go-live, not before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511296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Wrong technology picked — RPA thrown at a judgment call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279392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169664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ROI case falls apart under finance scrutiny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937759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82803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Security or compliance surprise late in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1645920"/>
            <a:ext cx="52578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9FD9C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164592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IF YOU DO IT RIGHT</a:t>
            </a:r>
          </a:p>
        </p:txBody>
      </p:sp>
      <p:sp>
        <p:nvSpPr>
          <p:cNvPr id="19" name="Oval 18"/>
          <p:cNvSpPr/>
          <p:nvPr/>
        </p:nvSpPr>
        <p:spPr>
          <a:xfrm>
            <a:off x="6611112" y="2304288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2194560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L4 ground truth — the process as it’s actually run</a:t>
            </a:r>
          </a:p>
        </p:txBody>
      </p:sp>
      <p:sp>
        <p:nvSpPr>
          <p:cNvPr id="21" name="Oval 20"/>
          <p:cNvSpPr/>
          <p:nvPr/>
        </p:nvSpPr>
        <p:spPr>
          <a:xfrm>
            <a:off x="6611112" y="2962656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852927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Right-fit technology, not a default one</a:t>
            </a:r>
          </a:p>
        </p:txBody>
      </p:sp>
      <p:sp>
        <p:nvSpPr>
          <p:cNvPr id="23" name="Oval 22"/>
          <p:cNvSpPr/>
          <p:nvPr/>
        </p:nvSpPr>
        <p:spPr>
          <a:xfrm>
            <a:off x="6611112" y="3621024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3511296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Realistic FTE, cycle-time and error baselines</a:t>
            </a:r>
          </a:p>
        </p:txBody>
      </p:sp>
      <p:sp>
        <p:nvSpPr>
          <p:cNvPr id="25" name="Oval 24"/>
          <p:cNvSpPr/>
          <p:nvPr/>
        </p:nvSpPr>
        <p:spPr>
          <a:xfrm>
            <a:off x="6611112" y="4279392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169664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A business case finance and ops both sign off on</a:t>
            </a:r>
          </a:p>
        </p:txBody>
      </p:sp>
      <p:sp>
        <p:nvSpPr>
          <p:cNvPr id="27" name="Oval 26"/>
          <p:cNvSpPr/>
          <p:nvPr/>
        </p:nvSpPr>
        <p:spPr>
          <a:xfrm>
            <a:off x="6611112" y="4937759"/>
            <a:ext cx="164592" cy="1645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4828032"/>
            <a:ext cx="4434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Executive confidence to fund Wave 2 and beyond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Why this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The DD lifecycle — </a:t>
            </a:r>
            <a:r>
              <a:rPr sz="2600" b="1">
                <a:solidFill>
                  <a:srgbClr val="0D9488"/>
                </a:solidFill>
                <a:latin typeface="Calibri"/>
              </a:rPr>
              <a:t>five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Every workshop you run moves a candidate process through this same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0031" y="2377440"/>
            <a:ext cx="192024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0031" y="237744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59255" y="2633472"/>
            <a:ext cx="621792" cy="62179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4446" y="2801355"/>
            <a:ext cx="211409" cy="286024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614190" y="2888406"/>
            <a:ext cx="111922" cy="0"/>
          </a:xfrm>
          <a:custGeom>
            <a:avLst/>
            <a:gdLst/>
            <a:ahLst/>
            <a:cxnLst/>
            <a:rect l="l" t="t" r="r" b="b"/>
            <a:pathLst>
              <a:path w="111922" h="0">
                <a:moveTo>
                  <a:pt x="0" y="0"/>
                </a:moveTo>
                <a:lnTo>
                  <a:pt x="111922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614190" y="2950585"/>
            <a:ext cx="111922" cy="0"/>
          </a:xfrm>
          <a:custGeom>
            <a:avLst/>
            <a:gdLst/>
            <a:ahLst/>
            <a:cxnLst/>
            <a:rect l="l" t="t" r="r" b="b"/>
            <a:pathLst>
              <a:path w="111922" h="0">
                <a:moveTo>
                  <a:pt x="0" y="0"/>
                </a:moveTo>
                <a:lnTo>
                  <a:pt x="111922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14190" y="3012765"/>
            <a:ext cx="111922" cy="0"/>
          </a:xfrm>
          <a:custGeom>
            <a:avLst/>
            <a:gdLst/>
            <a:ahLst/>
            <a:cxnLst/>
            <a:rect l="l" t="t" r="r" b="b"/>
            <a:pathLst>
              <a:path w="111922" h="0">
                <a:moveTo>
                  <a:pt x="0" y="0"/>
                </a:moveTo>
                <a:lnTo>
                  <a:pt x="111922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1471" y="2505456"/>
            <a:ext cx="292608" cy="292608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3383280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Pre-DD Prep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" y="389534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Collect SOPs, volumes, app inventory</a:t>
            </a:r>
          </a:p>
        </p:txBody>
      </p:sp>
      <p:sp>
        <p:nvSpPr>
          <p:cNvPr id="15" name="Freeform 14"/>
          <p:cNvSpPr/>
          <p:nvPr/>
        </p:nvSpPr>
        <p:spPr>
          <a:xfrm>
            <a:off x="2710738" y="3378708"/>
            <a:ext cx="65837" cy="146304"/>
          </a:xfrm>
          <a:custGeom>
            <a:avLst/>
            <a:gdLst/>
            <a:ahLst/>
            <a:cxnLst/>
            <a:rect l="l" t="t" r="r" b="b"/>
            <a:pathLst>
              <a:path w="65837" h="146304">
                <a:moveTo>
                  <a:pt x="0" y="0"/>
                </a:moveTo>
                <a:lnTo>
                  <a:pt x="65837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2879" y="2377440"/>
            <a:ext cx="192024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2879" y="237744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1950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2103" y="2633472"/>
            <a:ext cx="621792" cy="621792"/>
          </a:xfrm>
          <a:prstGeom prst="ellipse">
            <a:avLst/>
          </a:prstGeom>
          <a:solidFill>
            <a:srgbClr val="1950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46205" y="2807573"/>
            <a:ext cx="198973" cy="198973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932742" y="2994111"/>
            <a:ext cx="93269" cy="93269"/>
          </a:xfrm>
          <a:custGeom>
            <a:avLst/>
            <a:gdLst/>
            <a:ahLst/>
            <a:cxnLst/>
            <a:rect l="l" t="t" r="r" b="b"/>
            <a:pathLst>
              <a:path w="93269" h="93269">
                <a:moveTo>
                  <a:pt x="0" y="0"/>
                </a:moveTo>
                <a:lnTo>
                  <a:pt x="93269" y="93269"/>
                </a:lnTo>
              </a:path>
            </a:pathLst>
          </a:cu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14319" y="2505456"/>
            <a:ext cx="292608" cy="292608"/>
          </a:xfrm>
          <a:prstGeom prst="ellipse">
            <a:avLst/>
          </a:prstGeom>
          <a:solidFill>
            <a:srgbClr val="195089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0895" y="3383280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Workshop &amp; Shadowing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0895" y="389534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Walk the process, watch it live</a:t>
            </a:r>
          </a:p>
        </p:txBody>
      </p:sp>
      <p:sp>
        <p:nvSpPr>
          <p:cNvPr id="24" name="Freeform 23"/>
          <p:cNvSpPr/>
          <p:nvPr/>
        </p:nvSpPr>
        <p:spPr>
          <a:xfrm>
            <a:off x="4923586" y="3378708"/>
            <a:ext cx="65837" cy="146304"/>
          </a:xfrm>
          <a:custGeom>
            <a:avLst/>
            <a:gdLst/>
            <a:ahLst/>
            <a:cxnLst/>
            <a:rect l="l" t="t" r="r" b="b"/>
            <a:pathLst>
              <a:path w="65837" h="146304">
                <a:moveTo>
                  <a:pt x="0" y="0"/>
                </a:moveTo>
                <a:lnTo>
                  <a:pt x="65837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35727" y="2377440"/>
            <a:ext cx="192024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135727" y="237744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84951" y="2633472"/>
            <a:ext cx="621792" cy="621792"/>
          </a:xfrm>
          <a:prstGeom prst="ellipse">
            <a:avLst/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0399" y="2788920"/>
            <a:ext cx="310896" cy="3108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18123" y="2866644"/>
            <a:ext cx="155448" cy="15544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70975" y="2919496"/>
            <a:ext cx="49743" cy="4974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27167" y="2505456"/>
            <a:ext cx="292608" cy="292608"/>
          </a:xfrm>
          <a:prstGeom prst="ellipse">
            <a:avLst/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3743" y="3383280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Feasibility &amp; Archetyping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3743" y="389534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Score complexity, pick the technology</a:t>
            </a:r>
          </a:p>
        </p:txBody>
      </p:sp>
      <p:sp>
        <p:nvSpPr>
          <p:cNvPr id="34" name="Freeform 33"/>
          <p:cNvSpPr/>
          <p:nvPr/>
        </p:nvSpPr>
        <p:spPr>
          <a:xfrm>
            <a:off x="7136434" y="3378708"/>
            <a:ext cx="65837" cy="146304"/>
          </a:xfrm>
          <a:custGeom>
            <a:avLst/>
            <a:gdLst/>
            <a:ahLst/>
            <a:cxnLst/>
            <a:rect l="l" t="t" r="r" b="b"/>
            <a:pathLst>
              <a:path w="65837" h="146304">
                <a:moveTo>
                  <a:pt x="0" y="0"/>
                </a:moveTo>
                <a:lnTo>
                  <a:pt x="65837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48575" y="2377440"/>
            <a:ext cx="192024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48575" y="237744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117D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97799" y="2633472"/>
            <a:ext cx="621792" cy="621792"/>
          </a:xfrm>
          <a:prstGeom prst="ellipse">
            <a:avLst/>
          </a:prstGeom>
          <a:solidFill>
            <a:srgbClr val="117D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59465" y="2969239"/>
            <a:ext cx="62179" cy="9948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8952" y="2907060"/>
            <a:ext cx="62179" cy="161665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58438" y="2838663"/>
            <a:ext cx="62179" cy="230063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40015" y="2505456"/>
            <a:ext cx="292608" cy="292608"/>
          </a:xfrm>
          <a:prstGeom prst="ellipse">
            <a:avLst/>
          </a:prstGeom>
          <a:solidFill>
            <a:srgbClr val="117D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6591" y="3383280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Business Case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6591" y="389534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Baseline cost, savings, ROI, payback</a:t>
            </a:r>
          </a:p>
        </p:txBody>
      </p:sp>
      <p:sp>
        <p:nvSpPr>
          <p:cNvPr id="44" name="Freeform 43"/>
          <p:cNvSpPr/>
          <p:nvPr/>
        </p:nvSpPr>
        <p:spPr>
          <a:xfrm>
            <a:off x="9349282" y="3378708"/>
            <a:ext cx="65837" cy="146304"/>
          </a:xfrm>
          <a:custGeom>
            <a:avLst/>
            <a:gdLst/>
            <a:ahLst/>
            <a:cxnLst/>
            <a:rect l="l" t="t" r="r" b="b"/>
            <a:pathLst>
              <a:path w="65837" h="146304">
                <a:moveTo>
                  <a:pt x="0" y="0"/>
                </a:moveTo>
                <a:lnTo>
                  <a:pt x="65837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61423" y="2377440"/>
            <a:ext cx="1920240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561423" y="2377440"/>
            <a:ext cx="1920240" cy="5486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10647" y="2633472"/>
            <a:ext cx="621792" cy="62179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0397185" y="2795137"/>
            <a:ext cx="248717" cy="310896"/>
          </a:xfrm>
          <a:custGeom>
            <a:avLst/>
            <a:gdLst/>
            <a:ahLst/>
            <a:cxnLst/>
            <a:rect l="l" t="t" r="r" b="b"/>
            <a:pathLst>
              <a:path w="248717" h="310896">
                <a:moveTo>
                  <a:pt x="0" y="0"/>
                </a:moveTo>
                <a:lnTo>
                  <a:pt x="248717" y="0"/>
                </a:lnTo>
                <a:lnTo>
                  <a:pt x="248717" y="167884"/>
                </a:lnTo>
                <a:lnTo>
                  <a:pt x="124358" y="310896"/>
                </a:lnTo>
                <a:lnTo>
                  <a:pt x="0" y="167884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652863" y="2505456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89439" y="3383280"/>
            <a:ext cx="166420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Playback &amp; Sign-off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9439" y="3895344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Validate, present, get the green light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0031" y="4846320"/>
            <a:ext cx="10771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You are training on Stages 2–4 today — where most DD leads either earn or lose credibility.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The DD lifecycle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Before you walk in: </a:t>
            </a:r>
            <a:r>
              <a:rPr sz="2600" b="1">
                <a:solidFill>
                  <a:srgbClr val="0D9488"/>
                </a:solidFill>
                <a:latin typeface="Calibri"/>
              </a:rPr>
              <a:t>the prep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Request these eight artifacts before the workshop — arriving without them wastes the room’s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1810512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6221" y="1930481"/>
            <a:ext cx="174101" cy="235549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87186" y="2002170"/>
            <a:ext cx="92171" cy="0"/>
          </a:xfrm>
          <a:custGeom>
            <a:avLst/>
            <a:gdLst/>
            <a:ahLst/>
            <a:cxnLst/>
            <a:rect l="l" t="t" r="r" b="b"/>
            <a:pathLst>
              <a:path w="92171" h="0">
                <a:moveTo>
                  <a:pt x="0" y="0"/>
                </a:moveTo>
                <a:lnTo>
                  <a:pt x="92171" y="0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87186" y="2053376"/>
            <a:ext cx="92171" cy="0"/>
          </a:xfrm>
          <a:custGeom>
            <a:avLst/>
            <a:gdLst/>
            <a:ahLst/>
            <a:cxnLst/>
            <a:rect l="l" t="t" r="r" b="b"/>
            <a:pathLst>
              <a:path w="92171" h="0">
                <a:moveTo>
                  <a:pt x="0" y="0"/>
                </a:moveTo>
                <a:lnTo>
                  <a:pt x="92171" y="0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87186" y="2104583"/>
            <a:ext cx="92171" cy="0"/>
          </a:xfrm>
          <a:custGeom>
            <a:avLst/>
            <a:gdLst/>
            <a:ahLst/>
            <a:cxnLst/>
            <a:rect l="l" t="t" r="r" b="b"/>
            <a:pathLst>
              <a:path w="92171" h="0">
                <a:moveTo>
                  <a:pt x="0" y="0"/>
                </a:moveTo>
                <a:lnTo>
                  <a:pt x="92171" y="0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0662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Latest version, step-by-step, business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27632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810512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39748" y="1930481"/>
            <a:ext cx="56327" cy="56327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65499" y="2099462"/>
            <a:ext cx="56327" cy="56327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13997" y="2099462"/>
            <a:ext cx="56327" cy="56327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793662" y="1997049"/>
            <a:ext cx="74250" cy="107534"/>
          </a:xfrm>
          <a:custGeom>
            <a:avLst/>
            <a:gdLst/>
            <a:ahLst/>
            <a:cxnLst/>
            <a:rect l="l" t="t" r="r" b="b"/>
            <a:pathLst>
              <a:path w="74250" h="107534">
                <a:moveTo>
                  <a:pt x="74250" y="0"/>
                </a:moveTo>
                <a:lnTo>
                  <a:pt x="0" y="107534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867912" y="1997049"/>
            <a:ext cx="74249" cy="107534"/>
          </a:xfrm>
          <a:custGeom>
            <a:avLst/>
            <a:gdLst/>
            <a:ahLst/>
            <a:cxnLst/>
            <a:rect l="l" t="t" r="r" b="b"/>
            <a:pathLst>
              <a:path w="74249" h="107534">
                <a:moveTo>
                  <a:pt x="0" y="0"/>
                </a:moveTo>
                <a:lnTo>
                  <a:pt x="74249" y="107534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793662" y="2125065"/>
            <a:ext cx="148499" cy="0"/>
          </a:xfrm>
          <a:custGeom>
            <a:avLst/>
            <a:gdLst/>
            <a:ahLst/>
            <a:cxnLst/>
            <a:rect l="l" t="t" r="r" b="b"/>
            <a:pathLst>
              <a:path w="148499" h="0">
                <a:moveTo>
                  <a:pt x="0" y="0"/>
                </a:moveTo>
                <a:lnTo>
                  <a:pt x="148499" y="0"/>
                </a:lnTo>
              </a:path>
            </a:pathLst>
          </a:custGeom>
          <a:noFill/>
          <a:ln w="1016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395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L4 process maps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70662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Granular steps, system handoffs, decisions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627632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4808" y="1810512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79656" y="2068738"/>
            <a:ext cx="51206" cy="81930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61586" y="2017532"/>
            <a:ext cx="51206" cy="133136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43517" y="1961205"/>
            <a:ext cx="51206" cy="189463"/>
          </a:xfrm>
          <a:prstGeom prst="roundRect">
            <a:avLst>
              <a:gd name="adj" fmla="val 28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395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Volume &amp; seasonality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70662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12 months, incl. peak intra-day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1627632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99448" y="1810512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09176" y="1920240"/>
            <a:ext cx="256032" cy="256032"/>
          </a:xfrm>
          <a:prstGeom prst="ellipse">
            <a:avLst/>
          </a:prstGeom>
          <a:noFill/>
          <a:ln w="12700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73184" y="1984248"/>
            <a:ext cx="128016" cy="128016"/>
          </a:xfrm>
          <a:prstGeom prst="ellipse">
            <a:avLst/>
          </a:prstGeom>
          <a:noFill/>
          <a:ln w="12700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516709" y="2027773"/>
            <a:ext cx="40965" cy="40965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395728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AHT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270662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Mean, median, 90th percentile per sub-process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511296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5528" y="3694176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94867" y="3809024"/>
            <a:ext cx="76809" cy="76809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35979" y="3942161"/>
            <a:ext cx="76809" cy="76809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53754" y="3942161"/>
            <a:ext cx="76809" cy="76809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2793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App &amp; systems inventory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5902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Names, versions, hosting type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3511296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630168" y="3694176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745016" y="3855110"/>
            <a:ext cx="153619" cy="153619"/>
          </a:xfrm>
          <a:prstGeom prst="ellipse">
            <a:avLst/>
          </a:prstGeom>
          <a:noFill/>
          <a:ln w="12700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837188" y="3855110"/>
            <a:ext cx="153619" cy="153619"/>
          </a:xfrm>
          <a:prstGeom prst="ellipse">
            <a:avLst/>
          </a:prstGeom>
          <a:noFill/>
          <a:ln w="12700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42793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Process variations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45902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Country, entity, currency, language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3511296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64808" y="3694176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6600139" y="3809024"/>
            <a:ext cx="204825" cy="256032"/>
          </a:xfrm>
          <a:custGeom>
            <a:avLst/>
            <a:gdLst/>
            <a:ahLst/>
            <a:cxnLst/>
            <a:rect l="l" t="t" r="r" b="b"/>
            <a:pathLst>
              <a:path w="204825" h="256032">
                <a:moveTo>
                  <a:pt x="0" y="0"/>
                </a:moveTo>
                <a:lnTo>
                  <a:pt x="204825" y="0"/>
                </a:lnTo>
                <a:lnTo>
                  <a:pt x="204825" y="138257"/>
                </a:lnTo>
                <a:lnTo>
                  <a:pt x="102413" y="256032"/>
                </a:lnTo>
                <a:lnTo>
                  <a:pt x="0" y="138257"/>
                </a:lnTo>
                <a:close/>
              </a:path>
            </a:pathLst>
          </a:custGeom>
          <a:noFill/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2793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Error &amp; exception logs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5902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Top 10 reasons, rework loops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280" y="3511296"/>
            <a:ext cx="2651760" cy="170078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99448" y="3694176"/>
            <a:ext cx="475488" cy="475488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Gear 6 56"/>
          <p:cNvSpPr/>
          <p:nvPr/>
        </p:nvSpPr>
        <p:spPr>
          <a:xfrm>
            <a:off x="9419417" y="3814145"/>
            <a:ext cx="235549" cy="235549"/>
          </a:xfrm>
          <a:prstGeom prst="gear6">
            <a:avLst/>
          </a:prstGeom>
          <a:noFill/>
          <a:ln w="12700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96226" y="3890954"/>
            <a:ext cx="81930" cy="81930"/>
          </a:xfrm>
          <a:prstGeom prst="ellipse">
            <a:avLst/>
          </a:prstGeom>
          <a:noFill/>
          <a:ln w="12700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81160" y="427939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Security mandates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81160" y="45902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PII, PCI-DSS, GDPR, cross-border limits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Preparing for the workshop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Ask this: </a:t>
            </a:r>
            <a:r>
              <a:rPr sz="2600" b="1">
                <a:solidFill>
                  <a:srgbClr val="0D9488"/>
                </a:solidFill>
                <a:latin typeface="Calibri"/>
              </a:rPr>
              <a:t>process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Facilitation guide, part 1 — ask a handful of anchor questions per category, then dig where the answer is soft.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544068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" y="181051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PROCESS &amp; OPERATING LOGIC</a:t>
            </a:r>
          </a:p>
        </p:txBody>
      </p:sp>
      <p:sp>
        <p:nvSpPr>
          <p:cNvPr id="7" name="Oval 6"/>
          <p:cNvSpPr/>
          <p:nvPr/>
        </p:nvSpPr>
        <p:spPr>
          <a:xfrm>
            <a:off x="813816" y="2331720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2768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 triggers the process — batch, inbox, webhook, manual push?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2990087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9900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935223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 % follows the happy path vs. exceptions?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" y="3648456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648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3591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Is it subject to month-end or seasonal spikes (e.g. 5x volume)?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4398264"/>
            <a:ext cx="5001768" cy="1353312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489703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E3A8A"/>
                </a:solidFill>
                <a:latin typeface="Calibri"/>
              </a:rPr>
              <a:t>LISTEN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690872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A trigger nobody can name cleanly, or a happy-path % given with false confidence, means the SOP and reality have drifted apart.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627632"/>
            <a:ext cx="544068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181051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DATA &amp; INPUT CHARACTERISTICS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2331720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2768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 format do inputs arrive in — structured, semi-, unstructured?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2990087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9900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935223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If scanned: resolution, image quality, handwriting incidence?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3648456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648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593591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Are templates standardized, or do they vary by vendor/region?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398264"/>
            <a:ext cx="5001768" cy="1353312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4489703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D9488"/>
                </a:solidFill>
                <a:latin typeface="Calibri"/>
              </a:rPr>
              <a:t>LISTEN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4690872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Vague answers on input format almost always mean nobody has actually opened a sample of 20 real transactions recently.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Running the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Ask this: </a:t>
            </a:r>
            <a:r>
              <a:rPr sz="2600" b="1">
                <a:solidFill>
                  <a:srgbClr val="0D9488"/>
                </a:solidFill>
                <a:latin typeface="Calibri"/>
              </a:rPr>
              <a:t>systems &amp;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Facilitation guide, part 2 — this is where feasibility gets decided, not the process walkthrough.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544068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3816" y="181051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SYSTEMS, ARCHITECTURE &amp; ACCESS</a:t>
            </a:r>
          </a:p>
        </p:txBody>
      </p:sp>
      <p:sp>
        <p:nvSpPr>
          <p:cNvPr id="7" name="Oval 6"/>
          <p:cNvSpPr/>
          <p:nvPr/>
        </p:nvSpPr>
        <p:spPr>
          <a:xfrm>
            <a:off x="813816" y="2331720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2768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Native access, or Citrix/VDI? Are modern APIs available?</a:t>
            </a:r>
          </a:p>
        </p:txBody>
      </p:sp>
      <p:sp>
        <p:nvSpPr>
          <p:cNvPr id="10" name="Oval 9"/>
          <p:cNvSpPr/>
          <p:nvPr/>
        </p:nvSpPr>
        <p:spPr>
          <a:xfrm>
            <a:off x="813816" y="2990087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9900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935223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Any migration, major upgrade or decommission in 6–12 months?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" y="3648456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3648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E3A8A"/>
                </a:solidFill>
                <a:latin typeface="Calibri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3591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 authentication exists — SSO, MFA, RSA tokens, CAPTCHA?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" y="4398264"/>
            <a:ext cx="5001768" cy="1353312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489703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E3A8A"/>
                </a:solidFill>
                <a:latin typeface="Calibri"/>
              </a:rPr>
              <a:t>LISTEN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690872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A “yes” to APIs that turns out to mean “someone mentioned it once” is the most common false-positive in a DD workshop.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627632"/>
            <a:ext cx="5440680" cy="4343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73952" y="1810512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EXCEPTIONS, QUALITY &amp; FALLBACK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2331720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3317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276856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 are the standard business and technical exceptions?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2990087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990087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935223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How are exceptions routed today — dedicated tier-2 queue?</a:t>
            </a:r>
          </a:p>
        </p:txBody>
      </p:sp>
      <p:sp>
        <p:nvSpPr>
          <p:cNvPr id="27" name="Oval 26"/>
          <p:cNvSpPr/>
          <p:nvPr/>
        </p:nvSpPr>
        <p:spPr>
          <a:xfrm>
            <a:off x="6473952" y="3648456"/>
            <a:ext cx="274320" cy="274320"/>
          </a:xfrm>
          <a:prstGeom prst="ellipse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6484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593591"/>
            <a:ext cx="4617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Calibri"/>
              </a:rPr>
              <a:t>What’s the acceptable human-in-the-loop threshold?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398264"/>
            <a:ext cx="5001768" cy="1353312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4489703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D9488"/>
                </a:solidFill>
                <a:latin typeface="Calibri"/>
              </a:rPr>
              <a:t>LISTEN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8544" y="4690872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If nobody can quote an exception rate — only “not that many” — assume it’s higher than stated until you’ve seen the log.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Running the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Green flags, </a:t>
            </a:r>
            <a:r>
              <a:rPr sz="2600" b="1">
                <a:solidFill>
                  <a:srgbClr val="0D9488"/>
                </a:solidFill>
                <a:latin typeface="Calibri"/>
              </a:rPr>
              <a:t>red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What good and bad answers sound like, across the four areas that matter most.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00784"/>
            <a:ext cx="11000232" cy="42062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700784"/>
            <a:ext cx="1965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9504" y="1700784"/>
            <a:ext cx="42428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GREEN FLAG — PROCEED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00784"/>
            <a:ext cx="424281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RED FLAG — DIG DEEPER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121408"/>
            <a:ext cx="11000232" cy="89611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121408"/>
            <a:ext cx="200253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Volume</a:t>
            </a:r>
          </a:p>
        </p:txBody>
      </p:sp>
      <p:sp>
        <p:nvSpPr>
          <p:cNvPr id="11" name="Oval 10"/>
          <p:cNvSpPr/>
          <p:nvPr/>
        </p:nvSpPr>
        <p:spPr>
          <a:xfrm>
            <a:off x="2871216" y="2432304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121408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Documented, stable seasonality with real numbers</a:t>
            </a:r>
          </a:p>
        </p:txBody>
      </p:sp>
      <p:sp>
        <p:nvSpPr>
          <p:cNvPr id="13" name="Oval 12"/>
          <p:cNvSpPr/>
          <p:nvPr/>
        </p:nvSpPr>
        <p:spPr>
          <a:xfrm>
            <a:off x="7296912" y="2432304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6096" y="2121408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Nobody can quote peak volume without guessing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017520"/>
            <a:ext cx="200253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Business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2871216" y="332841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017520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Clear IF-THEN logic, exceptions are named</a:t>
            </a:r>
          </a:p>
        </p:txBody>
      </p:sp>
      <p:sp>
        <p:nvSpPr>
          <p:cNvPr id="18" name="Oval 17"/>
          <p:cNvSpPr/>
          <p:nvPr/>
        </p:nvSpPr>
        <p:spPr>
          <a:xfrm>
            <a:off x="7296912" y="3328416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3017520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“Depends who’s doing it” or “ask Priya”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913632"/>
            <a:ext cx="11000232" cy="89611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913632"/>
            <a:ext cx="200253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Systems access</a:t>
            </a:r>
          </a:p>
        </p:txBody>
      </p:sp>
      <p:sp>
        <p:nvSpPr>
          <p:cNvPr id="22" name="Oval 21"/>
          <p:cNvSpPr/>
          <p:nvPr/>
        </p:nvSpPr>
        <p:spPr>
          <a:xfrm>
            <a:off x="2871216" y="4224528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913632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Modern APIs confirmed, not just mentioned</a:t>
            </a:r>
          </a:p>
        </p:txBody>
      </p:sp>
      <p:sp>
        <p:nvSpPr>
          <p:cNvPr id="24" name="Oval 23"/>
          <p:cNvSpPr/>
          <p:nvPr/>
        </p:nvSpPr>
        <p:spPr>
          <a:xfrm>
            <a:off x="7296912" y="4224528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3913632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Screen-scrape only, Citrix, CAPTCHA, shared logins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" y="4809744"/>
            <a:ext cx="2002536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Roadmap stability</a:t>
            </a:r>
          </a:p>
        </p:txBody>
      </p:sp>
      <p:sp>
        <p:nvSpPr>
          <p:cNvPr id="27" name="Oval 26"/>
          <p:cNvSpPr/>
          <p:nvPr/>
        </p:nvSpPr>
        <p:spPr>
          <a:xfrm>
            <a:off x="2871216" y="5120640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809744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Systems stable for 12+ months, confirmed with IT</a:t>
            </a:r>
          </a:p>
        </p:txBody>
      </p:sp>
      <p:sp>
        <p:nvSpPr>
          <p:cNvPr id="29" name="Oval 28"/>
          <p:cNvSpPr/>
          <p:nvPr/>
        </p:nvSpPr>
        <p:spPr>
          <a:xfrm>
            <a:off x="7296912" y="5120640"/>
            <a:ext cx="219456" cy="21945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6096" y="4809744"/>
            <a:ext cx="384048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ERP migration or redesign planned within 6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Running the workshop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Scoring complexity — </a:t>
            </a:r>
            <a:r>
              <a:rPr sz="2600" b="1">
                <a:solidFill>
                  <a:srgbClr val="0D9488"/>
                </a:solidFill>
                <a:latin typeface="Calibri"/>
              </a:rPr>
              <a:t>three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The source model uses five; in the field, three is enough to route a decision and easy enough to score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0784"/>
            <a:ext cx="11000232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0195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8366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Data &amp; Input 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2487168"/>
            <a:ext cx="8595360" cy="14630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7360" y="2487168"/>
            <a:ext cx="2578608" cy="14630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670048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Structured digital (API, DB, fixed CSV)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5504" y="2670048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Unstructured — scans, handwriting, free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00400"/>
            <a:ext cx="11000232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40156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83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Process Logic 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986784"/>
            <a:ext cx="8595360" cy="14630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37360" y="3986784"/>
            <a:ext cx="4727448" cy="146304"/>
          </a:xfrm>
          <a:prstGeom prst="roundRect">
            <a:avLst>
              <a:gd name="adj" fmla="val 50000"/>
            </a:avLst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4169664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Deterministic rules, &lt;5% exceptions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4169664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Subjective judgment, &gt;15% exceptions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700016"/>
            <a:ext cx="11000232" cy="12984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901183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8289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Technical &amp; System Complexity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5486400"/>
            <a:ext cx="8595360" cy="14630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37360" y="5486400"/>
            <a:ext cx="6016752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5669280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1–2 modern apps, API access, stable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5669280"/>
            <a:ext cx="51572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5+ apps, Citrix/VDI/MFA, migration 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126480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Weighted Complexity Score  </a:t>
            </a:r>
            <a:r>
              <a:rPr sz="1100" b="0">
                <a:solidFill>
                  <a:srgbClr val="64748B"/>
                </a:solidFill>
                <a:latin typeface="Calibri"/>
              </a:rPr>
              <a:t>=  Σ (dimension score × weight), on a 1.0–5.0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Scoring what you heard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Scoring impact — </a:t>
            </a:r>
            <a:r>
              <a:rPr sz="2600" b="1">
                <a:solidFill>
                  <a:srgbClr val="0D9488"/>
                </a:solidFill>
                <a:latin typeface="Calibri"/>
              </a:rPr>
              <a:t>two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Everything the source model measures rolls up into one of two questions: does it free up people, or does it move the P&amp;L?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00784"/>
            <a:ext cx="5257800" cy="4160520"/>
          </a:xfrm>
          <a:prstGeom prst="roundRect">
            <a:avLst>
              <a:gd name="adj" fmla="val 3500"/>
            </a:avLst>
          </a:prstGeom>
          <a:solidFill>
            <a:srgbClr val="E8EFFC"/>
          </a:solidFill>
          <a:ln w="9525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38528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1E3A8A"/>
                </a:solidFill>
                <a:latin typeface="Calibri"/>
              </a:rPr>
              <a:t>50%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42615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42032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FTE capacity released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209544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08960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Cycle time / SLA reduction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76472"/>
            <a:ext cx="146304" cy="14630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75888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Rework and error elimination</a:t>
            </a:r>
          </a:p>
        </p:txBody>
      </p:sp>
      <p:sp>
        <p:nvSpPr>
          <p:cNvPr id="14" name="Freeform 13"/>
          <p:cNvSpPr/>
          <p:nvPr/>
        </p:nvSpPr>
        <p:spPr>
          <a:xfrm>
            <a:off x="868680" y="5257800"/>
            <a:ext cx="4709160" cy="0"/>
          </a:xfrm>
          <a:custGeom>
            <a:avLst/>
            <a:gdLst/>
            <a:ahLst/>
            <a:cxnLst/>
            <a:rect l="l" t="t" r="r" b="b"/>
            <a:pathLst>
              <a:path w="4709160" h="0">
                <a:moveTo>
                  <a:pt x="0" y="0"/>
                </a:moveTo>
                <a:lnTo>
                  <a:pt x="4709160" y="0"/>
                </a:lnTo>
              </a:path>
            </a:pathLst>
          </a:custGeom>
          <a:noFill/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5404104"/>
            <a:ext cx="4709160" cy="14630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5404104"/>
            <a:ext cx="2825496" cy="14630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586984"/>
            <a:ext cx="2825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&lt; 0.5 FTE, no P&amp;L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344" y="5586984"/>
            <a:ext cx="2825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&gt; 3 FTEs released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700784"/>
            <a:ext cx="5257800" cy="4160520"/>
          </a:xfrm>
          <a:prstGeom prst="roundRect">
            <a:avLst>
              <a:gd name="adj" fmla="val 3500"/>
            </a:avLst>
          </a:prstGeom>
          <a:solidFill>
            <a:srgbClr val="E3F3F1"/>
          </a:solidFill>
          <a:ln w="9525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11112" y="1938528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BUSINESS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88752" y="1938528"/>
            <a:ext cx="731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0D9488"/>
                </a:solidFill>
                <a:latin typeface="Calibri"/>
              </a:rPr>
              <a:t>50%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642615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2542032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Revenue protected or accelerated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209544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3108960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Margin improvement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776472"/>
            <a:ext cx="146304" cy="14630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3675888"/>
            <a:ext cx="4434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Calibri"/>
              </a:rPr>
              <a:t>Cash flow / working capital, compliance risk avoided</a:t>
            </a:r>
          </a:p>
        </p:txBody>
      </p:sp>
      <p:sp>
        <p:nvSpPr>
          <p:cNvPr id="28" name="Freeform 27"/>
          <p:cNvSpPr/>
          <p:nvPr/>
        </p:nvSpPr>
        <p:spPr>
          <a:xfrm>
            <a:off x="6611112" y="5257800"/>
            <a:ext cx="4709160" cy="0"/>
          </a:xfrm>
          <a:custGeom>
            <a:avLst/>
            <a:gdLst/>
            <a:ahLst/>
            <a:cxnLst/>
            <a:rect l="l" t="t" r="r" b="b"/>
            <a:pathLst>
              <a:path w="4709160" h="0">
                <a:moveTo>
                  <a:pt x="0" y="0"/>
                </a:moveTo>
                <a:lnTo>
                  <a:pt x="4709160" y="0"/>
                </a:lnTo>
              </a:path>
            </a:pathLst>
          </a:custGeom>
          <a:noFill/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11112" y="5404104"/>
            <a:ext cx="4709160" cy="146304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11112" y="5404104"/>
            <a:ext cx="3531870" cy="14630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5586984"/>
            <a:ext cx="2825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No direct revenue / margin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5586984"/>
            <a:ext cx="28254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Calibri"/>
              </a:rPr>
              <a:t>Direct revenue, margin or risk 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Scoring what you heard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Where it lands: </a:t>
            </a:r>
            <a:r>
              <a:rPr sz="2600" b="1">
                <a:solidFill>
                  <a:srgbClr val="0D9488"/>
                </a:solidFill>
                <a:latin typeface="Calibri"/>
              </a:rPr>
              <a:t>the prioritization 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Plot the two scores — impact on the vertical axis, complexity on the horizontal.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20240" y="1737360"/>
            <a:ext cx="3931920" cy="2103120"/>
          </a:xfrm>
          <a:prstGeom prst="rect">
            <a:avLst/>
          </a:prstGeom>
          <a:solidFill>
            <a:srgbClr val="E3F3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0" y="1737360"/>
            <a:ext cx="3931920" cy="2103120"/>
          </a:xfrm>
          <a:prstGeom prst="rect">
            <a:avLst/>
          </a:prstGeom>
          <a:solidFill>
            <a:srgbClr val="E8EF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0240" y="3840479"/>
            <a:ext cx="3931920" cy="2103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3840479"/>
            <a:ext cx="3931920" cy="2103120"/>
          </a:xfrm>
          <a:prstGeom prst="rect">
            <a:avLst/>
          </a:prstGeom>
          <a:solidFill>
            <a:srgbClr val="FBE4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20240" y="1737360"/>
            <a:ext cx="7863840" cy="4206240"/>
          </a:xfrm>
          <a:prstGeom prst="roundRect">
            <a:avLst>
              <a:gd name="adj" fmla="val 3500"/>
            </a:avLst>
          </a:prstGeom>
          <a:noFill/>
          <a:ln w="9525">
            <a:solidFill>
              <a:srgbClr val="94A3B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852160" y="1737360"/>
            <a:ext cx="0" cy="4206240"/>
          </a:xfrm>
          <a:custGeom>
            <a:avLst/>
            <a:gdLst/>
            <a:ahLst/>
            <a:cxnLst/>
            <a:rect l="l" t="t" r="r" b="b"/>
            <a:pathLst>
              <a:path w="0" h="4206240">
                <a:moveTo>
                  <a:pt x="0" y="0"/>
                </a:moveTo>
                <a:lnTo>
                  <a:pt x="0" y="420624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920240" y="3840479"/>
            <a:ext cx="7863840" cy="0"/>
          </a:xfrm>
          <a:custGeom>
            <a:avLst/>
            <a:gdLst/>
            <a:ahLst/>
            <a:cxnLst/>
            <a:rect l="l" t="t" r="r" b="b"/>
            <a:pathLst>
              <a:path w="7863840" h="0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8256" y="1865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A6B63"/>
                </a:solidFill>
                <a:latin typeface="Calibri"/>
              </a:rPr>
              <a:t>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21396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Priority Wave 1 · high ROI, fast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0176" y="186537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3A8A"/>
                </a:solidFill>
                <a:latin typeface="Calibri"/>
              </a:rPr>
              <a:t>STRATEGIC BETS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176" y="213969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Priority Wave 2 · high value, needs AI/architecture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3968495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Calibri"/>
              </a:rPr>
              <a:t>SCALE FILLERS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242815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Priority Wave 3 / backlog · low effort, minor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3968495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DEPRIORITIZE / RE-ENGINEER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4242815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Do NOT automate as-is — fix the process first</a:t>
            </a:r>
          </a:p>
        </p:txBody>
      </p:sp>
      <p:sp>
        <p:nvSpPr>
          <p:cNvPr id="20" name="Freeform 19"/>
          <p:cNvSpPr/>
          <p:nvPr/>
        </p:nvSpPr>
        <p:spPr>
          <a:xfrm>
            <a:off x="1645920" y="1883664"/>
            <a:ext cx="0" cy="3931919"/>
          </a:xfrm>
          <a:custGeom>
            <a:avLst/>
            <a:gdLst/>
            <a:ahLst/>
            <a:cxnLst/>
            <a:rect l="l" t="t" r="r" b="b"/>
            <a:pathLst>
              <a:path w="0" h="3931919">
                <a:moveTo>
                  <a:pt x="0" y="0"/>
                </a:moveTo>
                <a:lnTo>
                  <a:pt x="0" y="3931919"/>
                </a:lnTo>
              </a:path>
            </a:pathLst>
          </a:custGeom>
          <a:noFill/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77340" y="1828800"/>
            <a:ext cx="137160" cy="61722"/>
          </a:xfrm>
          <a:custGeom>
            <a:avLst/>
            <a:gdLst/>
            <a:ahLst/>
            <a:cxnLst/>
            <a:rect l="l" t="t" r="r" b="b"/>
            <a:pathLst>
              <a:path w="137160" h="61722">
                <a:moveTo>
                  <a:pt x="0" y="61722"/>
                </a:moveTo>
                <a:lnTo>
                  <a:pt x="68580" y="0"/>
                </a:lnTo>
                <a:lnTo>
                  <a:pt x="137160" y="61722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1682495"/>
            <a:ext cx="960120" cy="4206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6035040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4748B"/>
                </a:solidFill>
                <a:latin typeface="Calibri"/>
              </a:rPr>
              <a:t>COMPLEXITY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Scoring what you heard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Choosing the </a:t>
            </a:r>
            <a:r>
              <a:rPr sz="2600" b="1">
                <a:solidFill>
                  <a:srgbClr val="0D9488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Five archetypes cover almost everything you’ll see. Route the candidate to the lever that matches how it actually behaves.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27632"/>
            <a:ext cx="11000232" cy="365760"/>
          </a:xfrm>
          <a:prstGeom prst="rect">
            <a:avLst/>
          </a:prstGeom>
          <a:solidFill>
            <a:srgbClr val="14285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627632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ARCHETYPE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6704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WHEN TO USE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8624" y="1627632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TYPICAL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93392"/>
            <a:ext cx="11000232" cy="731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0664" y="2185416"/>
            <a:ext cx="347472" cy="3474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Gear 6 10"/>
          <p:cNvSpPr/>
          <p:nvPr/>
        </p:nvSpPr>
        <p:spPr>
          <a:xfrm>
            <a:off x="830275" y="2275027"/>
            <a:ext cx="168249" cy="168249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139" y="2329891"/>
            <a:ext cx="58521" cy="58521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199339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9339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Structured data, deterministic rules, repetitive UI keystrokes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993392"/>
            <a:ext cx="42793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Order entry, data migration, screen-to-screen re-keying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" y="2916936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2220" y="3006547"/>
            <a:ext cx="124358" cy="168249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81481" y="3057753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81481" y="3094329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81481" y="3130905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272491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IDP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72491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Semi-structured documents that need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724912"/>
            <a:ext cx="42793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Invoices, remittances, claims forms, IDs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456432"/>
            <a:ext cx="11000232" cy="731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0664" y="3648456"/>
            <a:ext cx="347472" cy="3474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" y="3738067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" y="3851452"/>
            <a:ext cx="47548" cy="548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79576" y="345643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AI-Enabled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45643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Classification, matching or prediction — with human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9" y="3456432"/>
            <a:ext cx="42793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Cash application matching, fraud scoring, demand forecasting</a:t>
            </a:r>
          </a:p>
        </p:txBody>
      </p:sp>
      <p:sp>
        <p:nvSpPr>
          <p:cNvPr id="31" name="Oval 30"/>
          <p:cNvSpPr/>
          <p:nvPr/>
        </p:nvSpPr>
        <p:spPr>
          <a:xfrm>
            <a:off x="740664" y="4379976"/>
            <a:ext cx="347472" cy="34747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6617" y="4498848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2454" y="4498848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9576" y="418795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Agentic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18795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Multi-step reasoning and dynamic decisioning across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4187952"/>
            <a:ext cx="42793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Exception triage &amp; resolution, dispute investigation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919472"/>
            <a:ext cx="11000232" cy="7315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0664" y="5111496"/>
            <a:ext cx="347472" cy="3474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Diamond 38"/>
          <p:cNvSpPr/>
          <p:nvPr/>
        </p:nvSpPr>
        <p:spPr>
          <a:xfrm>
            <a:off x="833932" y="5206593"/>
            <a:ext cx="160934" cy="47548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Diamond 39"/>
          <p:cNvSpPr/>
          <p:nvPr/>
        </p:nvSpPr>
        <p:spPr>
          <a:xfrm>
            <a:off x="833932" y="5257800"/>
            <a:ext cx="160934" cy="47548"/>
          </a:xfrm>
          <a:prstGeom prst="diamond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Diamond 40"/>
          <p:cNvSpPr/>
          <p:nvPr/>
        </p:nvSpPr>
        <p:spPr>
          <a:xfrm>
            <a:off x="833932" y="5309006"/>
            <a:ext cx="160934" cy="47548"/>
          </a:xfrm>
          <a:prstGeom prst="diamond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79576" y="4919472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BPM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91947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Cross-functional workflow with human handoffs and approvals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59" y="4919472"/>
            <a:ext cx="42793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Case management, approval routing, onboarding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797296"/>
            <a:ext cx="11000232" cy="475488"/>
          </a:xfrm>
          <a:prstGeom prst="roundRect">
            <a:avLst>
              <a:gd name="adj" fmla="val 20000"/>
            </a:avLst>
          </a:prstGeom>
          <a:solidFill>
            <a:srgbClr val="FBE4D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0664" y="5888736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4672" y="5952744"/>
            <a:ext cx="164592" cy="16459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5819" y="5993892"/>
            <a:ext cx="82296" cy="82296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3800" y="6021872"/>
            <a:ext cx="26334" cy="263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1288" y="5797296"/>
            <a:ext cx="10241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45309"/>
                </a:solidFill>
                <a:latin typeface="Calibri"/>
              </a:rPr>
              <a:t>Process broken beyond repair? </a:t>
            </a:r>
            <a:r>
              <a:rPr sz="1100" b="0">
                <a:solidFill>
                  <a:srgbClr val="0F172A"/>
                </a:solidFill>
                <a:latin typeface="Calibri"/>
              </a:rPr>
              <a:t>Fix it first. None of the five archetypes rescue a process nobody can explain consistently.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Choosing the technology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Business case </a:t>
            </a:r>
            <a:r>
              <a:rPr sz="2600" b="1">
                <a:solidFill>
                  <a:srgbClr val="0D9488"/>
                </a:solidFill>
                <a:latin typeface="Calibri"/>
              </a:rPr>
              <a:t>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Three benefit streams, weighed against total cost of ownership — in terms you can explain without a whiteboard.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11000232" cy="2103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BENEFIT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Annual FTE Savings  </a:t>
            </a:r>
            <a:r>
              <a:rPr sz="1200" b="0">
                <a:solidFill>
                  <a:srgbClr val="64748B"/>
                </a:solidFill>
                <a:latin typeface="Calibri"/>
              </a:rPr>
              <a:t>=  (Volume × AHT ÷ productive hours per FTE)  ×  Automation Coverage %  ×  Fully Loaded FTE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Error / Rework Savings  </a:t>
            </a:r>
            <a:r>
              <a:rPr sz="1150" b="0">
                <a:solidFill>
                  <a:srgbClr val="64748B"/>
                </a:solidFill>
                <a:latin typeface="Calibri"/>
              </a:rPr>
              <a:t>=  Annual Error Incidents × Average Cost per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Working Capital / SLA Gains  </a:t>
            </a:r>
            <a:r>
              <a:rPr sz="1150" b="0">
                <a:solidFill>
                  <a:srgbClr val="64748B"/>
                </a:solidFill>
                <a:latin typeface="Calibri"/>
              </a:rPr>
              <a:t>=  Early-payment discounts captured + SLA penalties avoided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68496"/>
            <a:ext cx="5394960" cy="1700784"/>
          </a:xfrm>
          <a:prstGeom prst="roundRect">
            <a:avLst>
              <a:gd name="adj" fmla="val 3500"/>
            </a:avLst>
          </a:prstGeom>
          <a:solidFill>
            <a:srgbClr val="E8EFFC"/>
          </a:solidFill>
          <a:ln w="9525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151376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ONE-TIME BUILD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085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Discovery &amp; solution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6460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Build &amp;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Change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667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968496"/>
            <a:ext cx="5394960" cy="1700784"/>
          </a:xfrm>
          <a:prstGeom prst="roundRect">
            <a:avLst>
              <a:gd name="adj" fmla="val 3500"/>
            </a:avLst>
          </a:prstGeom>
          <a:solidFill>
            <a:srgbClr val="E3F3F1"/>
          </a:solidFill>
          <a:ln w="9525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28232" y="4151376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ANNUAL RUN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6085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Platform licensing (bot, IDP credits, LLM tokens)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86460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5120640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L2/L3 support &amp;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37667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•  ~ typically 15–20% of build cost, per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Building the business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7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Order-to-Cash: </a:t>
            </a:r>
            <a:r>
              <a:rPr sz="2600" b="1">
                <a:solidFill>
                  <a:srgbClr val="0D9488"/>
                </a:solidFill>
                <a:latin typeface="Calibri"/>
              </a:rPr>
              <a:t>cash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Order-to-Cash spans order, credit, fulfillment, billing, collections and cash application — we zoom into one L4 activity: matching incoming payments to open invoices.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Worked example — Order-to-Cash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1743" y="2011680"/>
            <a:ext cx="1956816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95831" y="2212848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76882" y="2360980"/>
            <a:ext cx="186537" cy="252374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620774" y="2437790"/>
            <a:ext cx="98755" cy="0"/>
          </a:xfrm>
          <a:custGeom>
            <a:avLst/>
            <a:gdLst/>
            <a:ahLst/>
            <a:cxnLst/>
            <a:rect l="l" t="t" r="r" b="b"/>
            <a:pathLst>
              <a:path w="98755" h="0">
                <a:moveTo>
                  <a:pt x="0" y="0"/>
                </a:moveTo>
                <a:lnTo>
                  <a:pt x="9875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20774" y="2492654"/>
            <a:ext cx="98755" cy="0"/>
          </a:xfrm>
          <a:custGeom>
            <a:avLst/>
            <a:gdLst/>
            <a:ahLst/>
            <a:cxnLst/>
            <a:rect l="l" t="t" r="r" b="b"/>
            <a:pathLst>
              <a:path w="98755" h="0">
                <a:moveTo>
                  <a:pt x="0" y="0"/>
                </a:moveTo>
                <a:lnTo>
                  <a:pt x="9875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20774" y="2547518"/>
            <a:ext cx="98755" cy="0"/>
          </a:xfrm>
          <a:custGeom>
            <a:avLst/>
            <a:gdLst/>
            <a:ahLst/>
            <a:cxnLst/>
            <a:rect l="l" t="t" r="r" b="b"/>
            <a:pathLst>
              <a:path w="98755" h="0">
                <a:moveTo>
                  <a:pt x="0" y="0"/>
                </a:moveTo>
                <a:lnTo>
                  <a:pt x="9875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471" y="28712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Remittance received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471" y="33284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Bank lockbox file or emailed advice</a:t>
            </a:r>
          </a:p>
        </p:txBody>
      </p:sp>
      <p:sp>
        <p:nvSpPr>
          <p:cNvPr id="15" name="Freeform 14"/>
          <p:cNvSpPr/>
          <p:nvPr/>
        </p:nvSpPr>
        <p:spPr>
          <a:xfrm>
            <a:off x="2714853" y="2880360"/>
            <a:ext cx="61722" cy="137160"/>
          </a:xfrm>
          <a:custGeom>
            <a:avLst/>
            <a:gdLst/>
            <a:ahLst/>
            <a:cxnLst/>
            <a:rect l="l" t="t" r="r" b="b"/>
            <a:pathLst>
              <a:path w="61722" h="137160">
                <a:moveTo>
                  <a:pt x="0" y="0"/>
                </a:moveTo>
                <a:lnTo>
                  <a:pt x="61722" y="68580"/>
                </a:lnTo>
                <a:lnTo>
                  <a:pt x="0" y="137160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04591" y="2011680"/>
            <a:ext cx="1956816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8679" y="2212848"/>
            <a:ext cx="548640" cy="548640"/>
          </a:xfrm>
          <a:prstGeom prst="ellipse">
            <a:avLst/>
          </a:prstGeom>
          <a:solidFill>
            <a:srgbClr val="1950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62298" y="2366467"/>
            <a:ext cx="175564" cy="175564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926890" y="2531059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82296"/>
                </a:lnTo>
              </a:path>
            </a:pathLst>
          </a:cu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4319" y="28712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Match to open invoices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4319" y="33284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Invoice #, PO #, amount, customer</a:t>
            </a:r>
          </a:p>
        </p:txBody>
      </p:sp>
      <p:sp>
        <p:nvSpPr>
          <p:cNvPr id="22" name="Freeform 21"/>
          <p:cNvSpPr/>
          <p:nvPr/>
        </p:nvSpPr>
        <p:spPr>
          <a:xfrm>
            <a:off x="4927701" y="2880360"/>
            <a:ext cx="61722" cy="137160"/>
          </a:xfrm>
          <a:custGeom>
            <a:avLst/>
            <a:gdLst/>
            <a:ahLst/>
            <a:cxnLst/>
            <a:rect l="l" t="t" r="r" b="b"/>
            <a:pathLst>
              <a:path w="61722" h="137160">
                <a:moveTo>
                  <a:pt x="0" y="0"/>
                </a:moveTo>
                <a:lnTo>
                  <a:pt x="61722" y="68580"/>
                </a:lnTo>
                <a:lnTo>
                  <a:pt x="0" y="137160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7439" y="2011680"/>
            <a:ext cx="1956816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21527" y="2212848"/>
            <a:ext cx="548640" cy="548640"/>
          </a:xfrm>
          <a:prstGeom prst="ellipse">
            <a:avLst/>
          </a:prstGeom>
          <a:solidFill>
            <a:srgbClr val="15678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64174" y="2509113"/>
            <a:ext cx="54864" cy="8778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51956" y="2454249"/>
            <a:ext cx="54864" cy="14264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39738" y="2393899"/>
            <a:ext cx="54864" cy="20299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27167" y="28712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Apply cash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7167" y="33284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Post matched payments in SAP</a:t>
            </a:r>
          </a:p>
        </p:txBody>
      </p:sp>
      <p:sp>
        <p:nvSpPr>
          <p:cNvPr id="30" name="Freeform 29"/>
          <p:cNvSpPr/>
          <p:nvPr/>
        </p:nvSpPr>
        <p:spPr>
          <a:xfrm>
            <a:off x="7140549" y="2880360"/>
            <a:ext cx="61722" cy="137160"/>
          </a:xfrm>
          <a:custGeom>
            <a:avLst/>
            <a:gdLst/>
            <a:ahLst/>
            <a:cxnLst/>
            <a:rect l="l" t="t" r="r" b="b"/>
            <a:pathLst>
              <a:path w="61722" h="137160">
                <a:moveTo>
                  <a:pt x="0" y="0"/>
                </a:moveTo>
                <a:lnTo>
                  <a:pt x="61722" y="68580"/>
                </a:lnTo>
                <a:lnTo>
                  <a:pt x="0" y="137160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30287" y="2011680"/>
            <a:ext cx="1956816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34375" y="2212848"/>
            <a:ext cx="548640" cy="548640"/>
          </a:xfrm>
          <a:prstGeom prst="ellipse">
            <a:avLst/>
          </a:prstGeom>
          <a:solidFill>
            <a:srgbClr val="117D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71535" y="2350008"/>
            <a:ext cx="274320" cy="274320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40115" y="2418588"/>
            <a:ext cx="137160" cy="137160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86750" y="2465222"/>
            <a:ext cx="43891" cy="438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0015" y="28712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Flag exceptions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0015" y="33284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Short pay, unapplied, disputed</a:t>
            </a:r>
          </a:p>
        </p:txBody>
      </p:sp>
      <p:sp>
        <p:nvSpPr>
          <p:cNvPr id="38" name="Freeform 37"/>
          <p:cNvSpPr/>
          <p:nvPr/>
        </p:nvSpPr>
        <p:spPr>
          <a:xfrm>
            <a:off x="9353397" y="2880360"/>
            <a:ext cx="61722" cy="137160"/>
          </a:xfrm>
          <a:custGeom>
            <a:avLst/>
            <a:gdLst/>
            <a:ahLst/>
            <a:cxnLst/>
            <a:rect l="l" t="t" r="r" b="b"/>
            <a:pathLst>
              <a:path w="61722" h="137160">
                <a:moveTo>
                  <a:pt x="0" y="0"/>
                </a:moveTo>
                <a:lnTo>
                  <a:pt x="61722" y="68580"/>
                </a:lnTo>
                <a:lnTo>
                  <a:pt x="0" y="137160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543135" y="2011680"/>
            <a:ext cx="1956816" cy="187451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7223" y="2212848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89869" y="2404872"/>
            <a:ext cx="164592" cy="16459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488625" y="2404872"/>
            <a:ext cx="164592" cy="164592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52863" y="2871216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Route exception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2863" y="3328416"/>
            <a:ext cx="1737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To collections or deductions team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1743" y="4297680"/>
            <a:ext cx="10808208" cy="914400"/>
          </a:xfrm>
          <a:prstGeom prst="roundRect">
            <a:avLst>
              <a:gd name="adj" fmla="val 35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743" y="4425696"/>
            <a:ext cx="27020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E3A8A"/>
                </a:solidFill>
                <a:latin typeface="Calibri"/>
              </a:rPr>
              <a:t>9,000 / 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743" y="4846320"/>
            <a:ext cx="27020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Remittance volume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3795" y="4425696"/>
            <a:ext cx="27020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E3A8A"/>
                </a:solidFill>
                <a:latin typeface="Calibri"/>
              </a:rPr>
              <a:t>7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93795" y="4846320"/>
            <a:ext cx="27020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Manual AHT per item</a:t>
            </a:r>
          </a:p>
        </p:txBody>
      </p:sp>
      <p:sp>
        <p:nvSpPr>
          <p:cNvPr id="50" name="Freeform 49"/>
          <p:cNvSpPr/>
          <p:nvPr/>
        </p:nvSpPr>
        <p:spPr>
          <a:xfrm>
            <a:off x="3393795" y="4443984"/>
            <a:ext cx="0" cy="621792"/>
          </a:xfrm>
          <a:custGeom>
            <a:avLst/>
            <a:gdLst/>
            <a:ahLst/>
            <a:cxnLst/>
            <a:rect l="l" t="t" r="r" b="b"/>
            <a:pathLst>
              <a:path w="0" h="621792">
                <a:moveTo>
                  <a:pt x="0" y="0"/>
                </a:moveTo>
                <a:lnTo>
                  <a:pt x="0" y="621792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5847" y="4425696"/>
            <a:ext cx="27020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E3A8A"/>
                </a:solidFill>
                <a:latin typeface="Calibri"/>
              </a:rPr>
              <a:t>22%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5847" y="4846320"/>
            <a:ext cx="27020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Require manual matching</a:t>
            </a:r>
          </a:p>
        </p:txBody>
      </p:sp>
      <p:sp>
        <p:nvSpPr>
          <p:cNvPr id="53" name="Freeform 52"/>
          <p:cNvSpPr/>
          <p:nvPr/>
        </p:nvSpPr>
        <p:spPr>
          <a:xfrm>
            <a:off x="6095847" y="4443984"/>
            <a:ext cx="0" cy="621792"/>
          </a:xfrm>
          <a:custGeom>
            <a:avLst/>
            <a:gdLst/>
            <a:ahLst/>
            <a:cxnLst/>
            <a:rect l="l" t="t" r="r" b="b"/>
            <a:pathLst>
              <a:path w="0" h="621792">
                <a:moveTo>
                  <a:pt x="0" y="0"/>
                </a:moveTo>
                <a:lnTo>
                  <a:pt x="0" y="621792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7899" y="4425696"/>
            <a:ext cx="27020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E3A8A"/>
                </a:solidFill>
                <a:latin typeface="Calibri"/>
              </a:rPr>
              <a:t>~7 FTE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97899" y="4846320"/>
            <a:ext cx="27020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Current cash app team</a:t>
            </a:r>
          </a:p>
        </p:txBody>
      </p:sp>
      <p:sp>
        <p:nvSpPr>
          <p:cNvPr id="56" name="Freeform 55"/>
          <p:cNvSpPr/>
          <p:nvPr/>
        </p:nvSpPr>
        <p:spPr>
          <a:xfrm>
            <a:off x="8797899" y="4443984"/>
            <a:ext cx="0" cy="621792"/>
          </a:xfrm>
          <a:custGeom>
            <a:avLst/>
            <a:gdLst/>
            <a:ahLst/>
            <a:cxnLst/>
            <a:rect l="l" t="t" r="r" b="b"/>
            <a:pathLst>
              <a:path w="0" h="621792">
                <a:moveTo>
                  <a:pt x="0" y="0"/>
                </a:moveTo>
                <a:lnTo>
                  <a:pt x="0" y="621792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1743" y="5394960"/>
            <a:ext cx="10808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94A3B8"/>
                </a:solidFill>
                <a:latin typeface="Calibri"/>
              </a:rPr>
              <a:t>Illustrative figures for training purposes — replace with live workshop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7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Order-to-Cash: </a:t>
            </a:r>
            <a:r>
              <a:rPr sz="2600" b="1">
                <a:solidFill>
                  <a:srgbClr val="0D9488"/>
                </a:solidFill>
                <a:latin typeface="Calibri"/>
              </a:rPr>
              <a:t>scored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Same two frameworks from Section 4, applied to this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Worked example — Order-to-Cash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534924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COMPLEXITY  ·  WEIGHTED 2.70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Data &amp; Input (35%)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2386584" cy="18288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624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8211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Process Logic (35%)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93008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493008"/>
            <a:ext cx="2386584" cy="18288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4655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Technical &amp; System (30%)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34256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334256"/>
            <a:ext cx="1591056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306824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Remittance emails + scanned lockbox images; matching rules with 22% needing judgment; SAP + bank portal, stable.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1645920"/>
            <a:ext cx="534924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182880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IMPACT  ·  WEIGHTED 4.50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34086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Productivity (50%)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2651760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2651760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43032" y="262432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E3A8A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18211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Business Outcome (50%)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3952" y="3493008"/>
            <a:ext cx="3977639" cy="18288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3952" y="3493008"/>
            <a:ext cx="3182112" cy="1828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43032" y="34655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0416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~4 FTE released; faster cash recognition improves DSO and working capital, though no direct revenue capture.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73952" y="484632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0A6B63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PLACEMENT → QUICK 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303520"/>
            <a:ext cx="4846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High impact, low-medium complexity — Wave 1 candidate.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7 · 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Order-to-Cash: </a:t>
            </a:r>
            <a:r>
              <a:rPr sz="2600" b="1">
                <a:solidFill>
                  <a:srgbClr val="0D9488"/>
                </a:solidFill>
                <a:latin typeface="Calibri"/>
              </a:rPr>
              <a:t>archetype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Four levers combine — no single archetype covers the whole process end to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Worked example — Order-to-Cash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260604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810512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2936" y="1919874"/>
            <a:ext cx="149230" cy="201899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48049" y="1981321"/>
            <a:ext cx="79005" cy="0"/>
          </a:xfrm>
          <a:custGeom>
            <a:avLst/>
            <a:gdLst/>
            <a:ahLst/>
            <a:cxnLst/>
            <a:rect l="l" t="t" r="r" b="b"/>
            <a:pathLst>
              <a:path w="79005" h="0">
                <a:moveTo>
                  <a:pt x="0" y="0"/>
                </a:moveTo>
                <a:lnTo>
                  <a:pt x="7900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48049" y="2025213"/>
            <a:ext cx="79005" cy="0"/>
          </a:xfrm>
          <a:custGeom>
            <a:avLst/>
            <a:gdLst/>
            <a:ahLst/>
            <a:cxnLst/>
            <a:rect l="l" t="t" r="r" b="b"/>
            <a:pathLst>
              <a:path w="79005" h="0">
                <a:moveTo>
                  <a:pt x="0" y="0"/>
                </a:moveTo>
                <a:lnTo>
                  <a:pt x="7900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049" y="2069104"/>
            <a:ext cx="79005" cy="0"/>
          </a:xfrm>
          <a:custGeom>
            <a:avLst/>
            <a:gdLst/>
            <a:ahLst/>
            <a:cxnLst/>
            <a:rect l="l" t="t" r="r" b="b"/>
            <a:pathLst>
              <a:path w="79005" h="0">
                <a:moveTo>
                  <a:pt x="0" y="0"/>
                </a:moveTo>
                <a:lnTo>
                  <a:pt x="79005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IDP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4203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Extract remittance data from PDFs / scans</a:t>
            </a:r>
          </a:p>
        </p:txBody>
      </p:sp>
      <p:sp>
        <p:nvSpPr>
          <p:cNvPr id="15" name="Freeform 14"/>
          <p:cNvSpPr/>
          <p:nvPr/>
        </p:nvSpPr>
        <p:spPr>
          <a:xfrm>
            <a:off x="3233318" y="2295144"/>
            <a:ext cx="49378" cy="109728"/>
          </a:xfrm>
          <a:custGeom>
            <a:avLst/>
            <a:gdLst/>
            <a:ahLst/>
            <a:cxnLst/>
            <a:rect l="l" t="t" r="r" b="b"/>
            <a:pathLst>
              <a:path w="49378" h="109728">
                <a:moveTo>
                  <a:pt x="0" y="0"/>
                </a:moveTo>
                <a:lnTo>
                  <a:pt x="49378" y="54864"/>
                </a:lnTo>
                <a:lnTo>
                  <a:pt x="0" y="109728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1645920"/>
            <a:ext cx="260604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47872" y="1810512"/>
            <a:ext cx="420624" cy="42062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2347" y="1919874"/>
            <a:ext cx="131673" cy="131673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729654" y="2055936"/>
            <a:ext cx="57058" cy="65836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23042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AI-Enabled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254203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Fuzzy-match remittance lines to invoices</a:t>
            </a:r>
          </a:p>
        </p:txBody>
      </p:sp>
      <p:sp>
        <p:nvSpPr>
          <p:cNvPr id="22" name="Freeform 21"/>
          <p:cNvSpPr/>
          <p:nvPr/>
        </p:nvSpPr>
        <p:spPr>
          <a:xfrm>
            <a:off x="6003950" y="2295144"/>
            <a:ext cx="49378" cy="109728"/>
          </a:xfrm>
          <a:custGeom>
            <a:avLst/>
            <a:gdLst/>
            <a:ahLst/>
            <a:cxnLst/>
            <a:rect l="l" t="t" r="r" b="b"/>
            <a:pathLst>
              <a:path w="49378" h="109728">
                <a:moveTo>
                  <a:pt x="0" y="0"/>
                </a:moveTo>
                <a:lnTo>
                  <a:pt x="49378" y="54864"/>
                </a:lnTo>
                <a:lnTo>
                  <a:pt x="0" y="109728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35624" y="1645920"/>
            <a:ext cx="260604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18504" y="1810512"/>
            <a:ext cx="420624" cy="42062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3477" y="1954987"/>
            <a:ext cx="131673" cy="131673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02481" y="1954987"/>
            <a:ext cx="131673" cy="131673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23042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Agentic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254203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Triage the 22% exceptions, recommend action</a:t>
            </a:r>
          </a:p>
        </p:txBody>
      </p:sp>
      <p:sp>
        <p:nvSpPr>
          <p:cNvPr id="29" name="Freeform 28"/>
          <p:cNvSpPr/>
          <p:nvPr/>
        </p:nvSpPr>
        <p:spPr>
          <a:xfrm>
            <a:off x="8774582" y="2295144"/>
            <a:ext cx="49378" cy="109728"/>
          </a:xfrm>
          <a:custGeom>
            <a:avLst/>
            <a:gdLst/>
            <a:ahLst/>
            <a:cxnLst/>
            <a:rect l="l" t="t" r="r" b="b"/>
            <a:pathLst>
              <a:path w="49378" h="109728">
                <a:moveTo>
                  <a:pt x="0" y="0"/>
                </a:moveTo>
                <a:lnTo>
                  <a:pt x="49378" y="54864"/>
                </a:lnTo>
                <a:lnTo>
                  <a:pt x="0" y="109728"/>
                </a:lnTo>
                <a:close/>
              </a:path>
            </a:pathLst>
          </a:custGeom>
          <a:solidFill>
            <a:srgbClr val="94A3B8"/>
          </a:solidFill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06256" y="1645920"/>
            <a:ext cx="2606040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89136" y="1810512"/>
            <a:ext cx="420624" cy="42062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Gear 6 31"/>
          <p:cNvSpPr/>
          <p:nvPr/>
        </p:nvSpPr>
        <p:spPr>
          <a:xfrm>
            <a:off x="9198498" y="1919874"/>
            <a:ext cx="201899" cy="201899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64335" y="1985711"/>
            <a:ext cx="70225" cy="70225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9136" y="2304288"/>
            <a:ext cx="2240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RPA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2542032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Post matched cash into SAP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346704"/>
            <a:ext cx="11000232" cy="2487168"/>
          </a:xfrm>
          <a:prstGeom prst="roundRect">
            <a:avLst>
              <a:gd name="adj" fmla="val 3500"/>
            </a:avLst>
          </a:prstGeom>
          <a:solidFill>
            <a:srgbClr val="E8EFFC"/>
          </a:solidFill>
          <a:ln w="9525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2960" y="3529584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ILLUSTRATIVE ROI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986784"/>
            <a:ext cx="24460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Calibri"/>
              </a:rPr>
              <a:t>$95K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553712"/>
            <a:ext cx="244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Build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51860" y="3986784"/>
            <a:ext cx="24460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Calibri"/>
              </a:rPr>
              <a:t>$150K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1860" y="4553712"/>
            <a:ext cx="244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Year-1 net benefit</a:t>
            </a:r>
          </a:p>
        </p:txBody>
      </p:sp>
      <p:sp>
        <p:nvSpPr>
          <p:cNvPr id="42" name="Freeform 41"/>
          <p:cNvSpPr/>
          <p:nvPr/>
        </p:nvSpPr>
        <p:spPr>
          <a:xfrm>
            <a:off x="3323844" y="4023360"/>
            <a:ext cx="0" cy="822960"/>
          </a:xfrm>
          <a:custGeom>
            <a:avLst/>
            <a:gdLst/>
            <a:ahLst/>
            <a:cxnLst/>
            <a:rect l="l" t="t" r="r" b="b"/>
            <a:pathLst>
              <a:path w="0" h="822960">
                <a:moveTo>
                  <a:pt x="0" y="0"/>
                </a:moveTo>
                <a:lnTo>
                  <a:pt x="0" y="82296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986784"/>
            <a:ext cx="24460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Calibri"/>
              </a:rPr>
              <a:t>~8 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553712"/>
            <a:ext cx="244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Payback from go-live</a:t>
            </a:r>
          </a:p>
        </p:txBody>
      </p:sp>
      <p:sp>
        <p:nvSpPr>
          <p:cNvPr id="45" name="Freeform 44"/>
          <p:cNvSpPr/>
          <p:nvPr/>
        </p:nvSpPr>
        <p:spPr>
          <a:xfrm>
            <a:off x="5952744" y="4023360"/>
            <a:ext cx="0" cy="822960"/>
          </a:xfrm>
          <a:custGeom>
            <a:avLst/>
            <a:gdLst/>
            <a:ahLst/>
            <a:cxnLst/>
            <a:rect l="l" t="t" r="r" b="b"/>
            <a:pathLst>
              <a:path w="0" h="822960">
                <a:moveTo>
                  <a:pt x="0" y="0"/>
                </a:moveTo>
                <a:lnTo>
                  <a:pt x="0" y="82296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09660" y="3986784"/>
            <a:ext cx="24460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E3A8A"/>
                </a:solidFill>
                <a:latin typeface="Calibri"/>
              </a:rPr>
              <a:t>$390K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60" y="4553712"/>
            <a:ext cx="24460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3-yr cumulative net value</a:t>
            </a:r>
          </a:p>
        </p:txBody>
      </p:sp>
      <p:sp>
        <p:nvSpPr>
          <p:cNvPr id="48" name="Freeform 47"/>
          <p:cNvSpPr/>
          <p:nvPr/>
        </p:nvSpPr>
        <p:spPr>
          <a:xfrm>
            <a:off x="8581644" y="4023360"/>
            <a:ext cx="0" cy="822960"/>
          </a:xfrm>
          <a:custGeom>
            <a:avLst/>
            <a:gdLst/>
            <a:ahLst/>
            <a:cxnLst/>
            <a:rect l="l" t="t" r="r" b="b"/>
            <a:pathLst>
              <a:path w="0" h="822960">
                <a:moveTo>
                  <a:pt x="0" y="0"/>
                </a:moveTo>
                <a:lnTo>
                  <a:pt x="0" y="82296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22960" y="502920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13892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Calibri"/>
              </a:rPr>
              <a:t>Numbers are illustrative, built from the formulas in Section 6, to show the shape of the case — not a substitute for the live workshop model.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Getting to </a:t>
            </a:r>
            <a:r>
              <a:rPr sz="2600" b="1">
                <a:solidFill>
                  <a:srgbClr val="0D9488"/>
                </a:solidFill>
                <a:latin typeface="Calibri"/>
              </a:rPr>
              <a:t>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Three internal gates before the room ever sees an executive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5257800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THREE STAGE GATES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359152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3225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Tech &amp; architecture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63347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Lead architect verifies VDI, API and credential access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456432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4198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Security &amp; compliance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73075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Data privacy officer clears PII handling, token usage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553712"/>
            <a:ext cx="329184" cy="329184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5171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Calibri"/>
              </a:rPr>
              <a:t>SME playback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828032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Ops validates baseline AHT, volume and exception rates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64208"/>
            <a:ext cx="5349240" cy="4160520"/>
          </a:xfrm>
          <a:prstGeom prst="roundRect">
            <a:avLst>
              <a:gd name="adj" fmla="val 3500"/>
            </a:avLst>
          </a:prstGeom>
          <a:solidFill>
            <a:srgbClr val="E3F3F1"/>
          </a:solidFill>
          <a:ln w="9525">
            <a:solidFill>
              <a:srgbClr val="0D948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184708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EXECUTIVE DECK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35915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359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Executive summary — pipeline size, FTE release, 3-yr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871216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7121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Current-state bottlenecks — heatmap of pain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383280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Target-state solution blueprint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95344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89534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Opportunity matrix &amp; prioritization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07408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40740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Implementation roadmap &amp; pilot phase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919472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9194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Commercial business case &amp; 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431536"/>
            <a:ext cx="292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7.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3153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Governance &amp; operating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Getting to sign-off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D9488"/>
                </a:solidFill>
                <a:latin typeface="Calibri"/>
              </a:rPr>
              <a:t>KEEP THIS AT YOUR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48640"/>
            <a:ext cx="11000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The one-page </a:t>
            </a:r>
            <a:r>
              <a:rPr sz="2600" b="1">
                <a:solidFill>
                  <a:srgbClr val="0D9488"/>
                </a:solidFill>
                <a:latin typeface="Calibri"/>
              </a:rPr>
              <a:t>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1100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Calibri"/>
              </a:rPr>
              <a:t>Everything above, compressed for the field.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27632"/>
            <a:ext cx="352044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1051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LIFECYCLE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31136"/>
            <a:ext cx="219456" cy="219456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203704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Pre-DD Prep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15184"/>
            <a:ext cx="219456" cy="219456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258775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Workshop &amp; Shadowing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99232"/>
            <a:ext cx="219456" cy="219456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9718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Feasibility &amp; Archetyping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383280"/>
            <a:ext cx="219456" cy="219456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35584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Business Case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767328"/>
            <a:ext cx="219456" cy="219456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73989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Calibri"/>
              </a:rPr>
              <a:t>Playback &amp; Sign-off</a:t>
            </a:r>
          </a:p>
        </p:txBody>
      </p:sp>
      <p:sp>
        <p:nvSpPr>
          <p:cNvPr id="17" name="Freeform 16"/>
          <p:cNvSpPr/>
          <p:nvPr/>
        </p:nvSpPr>
        <p:spPr>
          <a:xfrm>
            <a:off x="822960" y="4279392"/>
            <a:ext cx="3063240" cy="0"/>
          </a:xfrm>
          <a:custGeom>
            <a:avLst/>
            <a:gdLst/>
            <a:ahLst/>
            <a:cxnLst/>
            <a:rect l="l" t="t" r="r" b="b"/>
            <a:pathLst>
              <a:path w="3063240" h="0">
                <a:moveTo>
                  <a:pt x="0" y="0"/>
                </a:moveTo>
                <a:lnTo>
                  <a:pt x="3063240" y="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•  Complexity: Data · Logic ·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0235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0F172A"/>
                </a:solidFill>
                <a:latin typeface="Calibri"/>
              </a:rPr>
              <a:t>•  Impact: Productivity · Outcome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1627632"/>
            <a:ext cx="352044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07992" y="1810512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TECHNOLOGY ARCHETYPES</a:t>
            </a:r>
          </a:p>
        </p:txBody>
      </p:sp>
      <p:sp>
        <p:nvSpPr>
          <p:cNvPr id="23" name="Oval 22"/>
          <p:cNvSpPr/>
          <p:nvPr/>
        </p:nvSpPr>
        <p:spPr>
          <a:xfrm>
            <a:off x="4507992" y="22494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Gear 6 23"/>
          <p:cNvSpPr/>
          <p:nvPr/>
        </p:nvSpPr>
        <p:spPr>
          <a:xfrm>
            <a:off x="4588459" y="2329891"/>
            <a:ext cx="168249" cy="168249"/>
          </a:xfrm>
          <a:prstGeom prst="gear6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3323" y="2384755"/>
            <a:ext cx="58521" cy="58521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224942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RPA</a:t>
            </a:r>
          </a:p>
        </p:txBody>
      </p:sp>
      <p:sp>
        <p:nvSpPr>
          <p:cNvPr id="27" name="Oval 26"/>
          <p:cNvSpPr/>
          <p:nvPr/>
        </p:nvSpPr>
        <p:spPr>
          <a:xfrm>
            <a:off x="4507992" y="279806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10404" y="2878531"/>
            <a:ext cx="124358" cy="168249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639665" y="2929737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639665" y="2966313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39665" y="3002889"/>
            <a:ext cx="65837" cy="0"/>
          </a:xfrm>
          <a:custGeom>
            <a:avLst/>
            <a:gdLst/>
            <a:ahLst/>
            <a:cxnLst/>
            <a:rect l="l" t="t" r="r" b="b"/>
            <a:pathLst>
              <a:path w="65837" h="0">
                <a:moveTo>
                  <a:pt x="0" y="0"/>
                </a:moveTo>
                <a:lnTo>
                  <a:pt x="65837" y="0"/>
                </a:lnTo>
              </a:path>
            </a:pathLst>
          </a:custGeom>
          <a:noFill/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6048" y="279806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IDP</a:t>
            </a:r>
          </a:p>
        </p:txBody>
      </p:sp>
      <p:sp>
        <p:nvSpPr>
          <p:cNvPr id="33" name="Oval 32"/>
          <p:cNvSpPr/>
          <p:nvPr/>
        </p:nvSpPr>
        <p:spPr>
          <a:xfrm>
            <a:off x="4507992" y="334670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17720" y="3427171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48809" y="3540556"/>
            <a:ext cx="47548" cy="54864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334670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AI-Enabled Automation</a:t>
            </a:r>
          </a:p>
        </p:txBody>
      </p:sp>
      <p:sp>
        <p:nvSpPr>
          <p:cNvPr id="37" name="Oval 36"/>
          <p:cNvSpPr/>
          <p:nvPr/>
        </p:nvSpPr>
        <p:spPr>
          <a:xfrm>
            <a:off x="4507992" y="389534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584801" y="4005072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50638" y="4005072"/>
            <a:ext cx="109728" cy="109728"/>
          </a:xfrm>
          <a:prstGeom prst="ellipse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3895344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Agentic</a:t>
            </a:r>
          </a:p>
        </p:txBody>
      </p:sp>
      <p:sp>
        <p:nvSpPr>
          <p:cNvPr id="41" name="Oval 40"/>
          <p:cNvSpPr/>
          <p:nvPr/>
        </p:nvSpPr>
        <p:spPr>
          <a:xfrm>
            <a:off x="4507992" y="4443983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Diamond 41"/>
          <p:cNvSpPr/>
          <p:nvPr/>
        </p:nvSpPr>
        <p:spPr>
          <a:xfrm>
            <a:off x="4592116" y="4529937"/>
            <a:ext cx="160934" cy="47548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Diamond 42"/>
          <p:cNvSpPr/>
          <p:nvPr/>
        </p:nvSpPr>
        <p:spPr>
          <a:xfrm>
            <a:off x="4592116" y="4581144"/>
            <a:ext cx="160934" cy="47548"/>
          </a:xfrm>
          <a:prstGeom prst="diamond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Diamond 43"/>
          <p:cNvSpPr/>
          <p:nvPr/>
        </p:nvSpPr>
        <p:spPr>
          <a:xfrm>
            <a:off x="4592116" y="4632350"/>
            <a:ext cx="160934" cy="47548"/>
          </a:xfrm>
          <a:prstGeom prst="diamond">
            <a:avLst/>
          </a:prstGeom>
          <a:noFill/>
          <a:ln w="12700">
            <a:solidFill>
              <a:srgbClr val="FFFFF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6048" y="4443983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Calibri"/>
              </a:rPr>
              <a:t>BPM</a:t>
            </a:r>
          </a:p>
        </p:txBody>
      </p:sp>
      <p:sp>
        <p:nvSpPr>
          <p:cNvPr id="46" name="Freeform 45"/>
          <p:cNvSpPr/>
          <p:nvPr/>
        </p:nvSpPr>
        <p:spPr>
          <a:xfrm>
            <a:off x="4507992" y="5074920"/>
            <a:ext cx="3063239" cy="0"/>
          </a:xfrm>
          <a:custGeom>
            <a:avLst/>
            <a:gdLst/>
            <a:ahLst/>
            <a:cxnLst/>
            <a:rect l="l" t="t" r="r" b="b"/>
            <a:pathLst>
              <a:path w="3063239" h="0">
                <a:moveTo>
                  <a:pt x="0" y="0"/>
                </a:moveTo>
                <a:lnTo>
                  <a:pt x="3063239" y="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5193792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D97706"/>
                </a:solidFill>
                <a:latin typeface="Calibri"/>
              </a:rPr>
              <a:t>Broken process? Fix it first — don’t automate chaos.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964424" y="1627632"/>
            <a:ext cx="3630168" cy="4206240"/>
          </a:xfrm>
          <a:prstGeom prst="roundRect">
            <a:avLst>
              <a:gd name="adj" fmla="val 3500"/>
            </a:avLst>
          </a:prstGeom>
          <a:solidFill>
            <a:srgbClr val="E8EFFC"/>
          </a:solidFill>
          <a:ln w="9525">
            <a:solidFill>
              <a:srgbClr val="1E3A8A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193024" y="181051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THE FORMULA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2231136"/>
            <a:ext cx="3246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Calibri"/>
              </a:rPr>
              <a:t>FTE Savings =</a:t>
            </a:r>
            <a:r>
              <a:rPr sz="950" b="0">
                <a:solidFill>
                  <a:srgbClr val="0F172A"/>
                </a:solidFill>
                <a:latin typeface="Calibri"/>
              </a:rPr>
              <a:t>(Volume × AHT ÷ productive hrs)</a:t>
            </a:r>
            <a:r>
              <a:rPr sz="950" b="0">
                <a:solidFill>
                  <a:srgbClr val="0F172A"/>
                </a:solidFill>
                <a:latin typeface="Calibri"/>
              </a:rPr>
              <a:t>× Automation Coverage %</a:t>
            </a:r>
            <a:r>
              <a:rPr sz="950" b="0">
                <a:solidFill>
                  <a:srgbClr val="0F172A"/>
                </a:solidFill>
                <a:latin typeface="Calibri"/>
              </a:rPr>
              <a:t>× Fully Loaded FTE Cost</a:t>
            </a:r>
          </a:p>
        </p:txBody>
      </p:sp>
      <p:sp>
        <p:nvSpPr>
          <p:cNvPr id="51" name="Freeform 50"/>
          <p:cNvSpPr/>
          <p:nvPr/>
        </p:nvSpPr>
        <p:spPr>
          <a:xfrm>
            <a:off x="8193024" y="3529584"/>
            <a:ext cx="3200400" cy="0"/>
          </a:xfrm>
          <a:custGeom>
            <a:avLst/>
            <a:gdLst/>
            <a:ahLst/>
            <a:cxnLst/>
            <a:rect l="l" t="t" r="r" b="b"/>
            <a:pathLst>
              <a:path w="3200400" h="0">
                <a:moveTo>
                  <a:pt x="0" y="0"/>
                </a:moveTo>
                <a:lnTo>
                  <a:pt x="3200400" y="0"/>
                </a:lnTo>
              </a:path>
            </a:pathLst>
          </a:custGeom>
          <a:noFill/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93024" y="363931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txBody>
          <a:bodyPr rtlCol="0" anchor="ctr" wrap="square" lIns="54864" rIns="54864" tIns="0" bIns="0"/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GREEN VS RED FLAGS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3986784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D9488"/>
                </a:solidFill>
                <a:latin typeface="Calibri"/>
              </a:rPr>
              <a:t>Green: </a:t>
            </a:r>
            <a:r>
              <a:rPr sz="950" b="0">
                <a:solidFill>
                  <a:srgbClr val="0F172A"/>
                </a:solidFill>
                <a:latin typeface="Calibri"/>
              </a:rPr>
              <a:t>APIs confirmed, stable roadmap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4315968"/>
            <a:ext cx="3246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Calibri"/>
              </a:rPr>
              <a:t>Red: </a:t>
            </a:r>
            <a:r>
              <a:rPr sz="950" b="0">
                <a:solidFill>
                  <a:srgbClr val="0F172A"/>
                </a:solidFill>
                <a:latin typeface="Calibri"/>
              </a:rPr>
              <a:t>“ask Priya”, migration in 6 months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47104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Cheat sheet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81360" y="65471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