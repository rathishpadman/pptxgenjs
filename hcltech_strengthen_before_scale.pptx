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00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5EA7A6-9703-439D-9860-421146C0496A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3207D-A882-40A9-8398-32F59628DE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450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9384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7" Type="http://schemas.openxmlformats.org/officeDocument/2006/relationships/slideLayout" Target="../slideLayouts/slideLayout17.xml"/><Relationship Id="rId1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7C2F9B-1B75-1D6F-DECD-AA527616B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66" y="421200"/>
            <a:ext cx="10968598" cy="52322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9EB0A9-F700-84AF-0327-18A849481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5017" y="1812555"/>
            <a:ext cx="10946748" cy="41469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level: Subhead</a:t>
            </a:r>
          </a:p>
          <a:p>
            <a:pPr lvl="1"/>
            <a:r>
              <a:rPr lang="en-US"/>
              <a:t>Second level: Body text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grpSp>
        <p:nvGrpSpPr>
          <p:cNvPr id="68" name="Columns Guides" hidden="1">
            <a:extLst>
              <a:ext uri="{FF2B5EF4-FFF2-40B4-BE49-F238E27FC236}">
                <a16:creationId xmlns:a16="http://schemas.microsoft.com/office/drawing/2014/main" id="{EFAC4366-2CF4-C5A9-31A8-6F9DECFE4E2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28651" y="-482750"/>
            <a:ext cx="10934825" cy="270781"/>
            <a:chOff x="628650" y="-708661"/>
            <a:chExt cx="10934825" cy="27078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C7F93F2-F654-4332-F215-0A3B672F9D7F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28650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F056A12-0E3D-624F-504F-6DE97A67C97C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255993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2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50B3FC0-A1BF-DD01-AC83-56CAA0EAB3D3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883336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3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2DC71EE-0C0B-F54C-6A2D-EDCE55842B9B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2510679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4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4910EEB-33EE-2A8B-7882-314F27D7F2DE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138022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5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4A08A2A-900E-CD04-5544-124CB7F0B3AA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765365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6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9FFA843-DF76-CE08-0766-D60499CC3323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4392708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93CBA17-0C95-42F3-A32C-8AFA9996B9D3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5020051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8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5F1624C-8BDC-798E-28B2-AA590ADC47E8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5647394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9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E6ACB19-6D3E-4F02-F268-97E802E82F44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274737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10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DE60CBC-8DDE-BC59-3E28-7D81EB0362DE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902080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4382D73-6C2A-3D3F-14DA-9EC80E156047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7529423" y="-708661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12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4B3B06D-B96D-49CC-81E4-D15E316CB618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8156766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13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E64E8E0-1325-6F0E-8900-F6E6306C6D4C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8784109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14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80BEEB7-FB77-E0B7-234E-F1C3D62D9348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9411452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15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4E8BFEF6-B6D0-D3B6-938B-FEBFD244E001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0038795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16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7113FA8-AE40-F16B-F5B6-020A3E94EC87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0666138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17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8A9647F-C0C5-B3CF-7646-72E25BE02F6C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1293475" y="-708661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18</a:t>
              </a:r>
            </a:p>
          </p:txBody>
        </p:sp>
      </p:grpSp>
      <p:sp>
        <p:nvSpPr>
          <p:cNvPr id="32" name="Slide Number Placeholder 1">
            <a:extLst>
              <a:ext uri="{FF2B5EF4-FFF2-40B4-BE49-F238E27FC236}">
                <a16:creationId xmlns:a16="http://schemas.microsoft.com/office/drawing/2014/main" id="{B62F0297-57AD-07EC-451E-0DBDD282712E}"/>
              </a:ext>
            </a:extLst>
          </p:cNvPr>
          <p:cNvSpPr txBox="1">
            <a:spLocks/>
          </p:cNvSpPr>
          <p:nvPr userDrawn="1"/>
        </p:nvSpPr>
        <p:spPr>
          <a:xfrm>
            <a:off x="410261" y="6465601"/>
            <a:ext cx="183187" cy="123111"/>
          </a:xfrm>
          <a:prstGeom prst="rect">
            <a:avLst/>
          </a:prstGeom>
        </p:spPr>
        <p:txBody>
          <a:bodyPr lIns="0" tIns="46788" rIns="0" anchor="ctr"/>
          <a:lstStyle>
            <a:defPPr>
              <a:defRPr lang="en-US"/>
            </a:defPPr>
            <a:lvl1pPr marL="0" algn="l" defTabSz="914400" rtl="0" eaLnBrk="1" latinLnBrk="0" hangingPunct="1">
              <a:spcBef>
                <a:spcPts val="1800"/>
              </a:spcBef>
              <a:spcAft>
                <a:spcPts val="900"/>
              </a:spcAft>
              <a:defRPr sz="2000" dirty="0"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sz="1600" dirty="0">
                <a:latin typeface="+mn-lt"/>
                <a:ea typeface="+mn-ea"/>
                <a:cs typeface="+mn-cs"/>
              </a:defRPr>
            </a:lvl2pPr>
            <a:lvl3pPr marL="180000" indent="-180000" algn="l" rtl="0" eaLnBrk="1" latinLnBrk="0" hangingPunct="1">
              <a:spcAft>
                <a:spcPts val="900"/>
              </a:spcAft>
              <a:buFont typeface="Aptos" panose="020B0504030202060203" pitchFamily="34" charset="0"/>
              <a:buChar char="•"/>
              <a:defRPr sz="1600" dirty="0"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spcAft>
                <a:spcPts val="600"/>
              </a:spcAft>
              <a:buFont typeface="Aptos" panose="020B0504030202060203" pitchFamily="34" charset="0"/>
              <a:buChar char="–"/>
              <a:defRPr sz="1400" dirty="0">
                <a:latin typeface="+mn-lt"/>
                <a:ea typeface="+mn-ea"/>
                <a:cs typeface="+mn-cs"/>
              </a:defRPr>
            </a:lvl4pPr>
            <a:lvl5pPr marL="540000" indent="-180000" rtl="0" eaLnBrk="1" latinLnBrk="0" hangingPunct="1">
              <a:spcAft>
                <a:spcPts val="600"/>
              </a:spcAft>
              <a:buFont typeface="Aptos" panose="020B0504030202060203" pitchFamily="34" charset="0"/>
              <a:buChar char="•"/>
              <a:defRPr sz="1400" dirty="0">
                <a:latin typeface="+mn-lt"/>
                <a:ea typeface="+mn-ea"/>
                <a:cs typeface="+mn-cs"/>
              </a:defRPr>
            </a:lvl5pPr>
            <a:lvl6pPr marL="540000" algn="l" defTabSz="914400" rtl="0" eaLnBrk="1" latinLnBrk="0" hangingPunct="1">
              <a:spcBef>
                <a:spcPts val="600"/>
              </a:spcBef>
              <a:spcAft>
                <a:spcPts val="600"/>
              </a:spcAft>
              <a:defRPr sz="1200" dirty="0">
                <a:latin typeface="+mn-lt"/>
                <a:ea typeface="+mn-ea"/>
                <a:cs typeface="+mn-cs"/>
              </a:defRPr>
            </a:lvl6pPr>
          </a:lstStyle>
          <a:p>
            <a:pPr algn="ctr"/>
            <a:fld id="{570547DA-62F2-46FF-A67E-24DBD4865419}" type="slidenum"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pPr algn="ctr"/>
              <a:t>‹#›</a:t>
            </a:fld>
            <a:endParaRPr lang="en-US" sz="800">
              <a:solidFill>
                <a:schemeClr val="tx1">
                  <a:lumMod val="50000"/>
                  <a:lumOff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11579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7"/>
  </p:sldLayoutIdLst>
  <p:hf hdr="0" dt="0"/>
  <p:txStyles>
    <p:titleStyle>
      <a:lvl1pPr algn="l" defTabSz="914128" rtl="0" eaLnBrk="1" latinLnBrk="0" hangingPunct="1">
        <a:lnSpc>
          <a:spcPct val="85000"/>
        </a:lnSpc>
        <a:spcBef>
          <a:spcPct val="0"/>
        </a:spcBef>
        <a:buNone/>
        <a:defRPr sz="3999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128" rtl="0" eaLnBrk="1" latinLnBrk="0" hangingPunct="1">
        <a:lnSpc>
          <a:spcPct val="100000"/>
        </a:lnSpc>
        <a:spcBef>
          <a:spcPts val="1799"/>
        </a:spcBef>
        <a:spcAft>
          <a:spcPts val="900"/>
        </a:spcAft>
        <a:buFont typeface="Aptos" panose="020B0504030202060203" pitchFamily="34" charset="0"/>
        <a:buNone/>
        <a:defRPr sz="1999" b="1" kern="120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128" rtl="0" eaLnBrk="1" latinLnBrk="0" hangingPunct="1">
        <a:lnSpc>
          <a:spcPct val="100000"/>
        </a:lnSpc>
        <a:spcBef>
          <a:spcPts val="0"/>
        </a:spcBef>
        <a:spcAft>
          <a:spcPts val="1399"/>
        </a:spcAft>
        <a:buFont typeface="Aptos" panose="020B0504030202060203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79946" indent="-179946" algn="l" defTabSz="914128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ClrTx/>
        <a:buFont typeface="Aptos" panose="020B0504030202060203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359893" indent="-179946" algn="l" defTabSz="914128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ptos" panose="020B0504030202060203" pitchFamily="34" charset="0"/>
        <a:buChar char="–"/>
        <a:defRPr sz="1399" kern="1200">
          <a:solidFill>
            <a:schemeClr val="tx1"/>
          </a:solidFill>
          <a:latin typeface="+mn-lt"/>
          <a:ea typeface="+mn-ea"/>
          <a:cs typeface="+mn-cs"/>
        </a:defRPr>
      </a:lvl4pPr>
      <a:lvl5pPr marL="539839" indent="-179946" algn="l" defTabSz="914128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ptos" panose="020B0504030202060203" pitchFamily="34" charset="0"/>
        <a:buChar char="•"/>
        <a:defRPr sz="1399" kern="1200">
          <a:solidFill>
            <a:schemeClr val="tx1"/>
          </a:solidFill>
          <a:latin typeface="+mn-lt"/>
          <a:ea typeface="+mn-ea"/>
          <a:cs typeface="+mn-cs"/>
        </a:defRPr>
      </a:lvl5pPr>
      <a:lvl6pPr marL="539839" indent="0" algn="l" defTabSz="914128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ptos" panose="020B0504030202060203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917" indent="-228532" algn="l" defTabSz="914128" rtl="0" eaLnBrk="1" latinLnBrk="0" hangingPunct="1">
        <a:lnSpc>
          <a:spcPct val="90000"/>
        </a:lnSpc>
        <a:spcBef>
          <a:spcPts val="500"/>
        </a:spcBef>
        <a:buFont typeface="Aptos" panose="020B0504030202060203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80" indent="-228532" algn="l" defTabSz="914128" rtl="0" eaLnBrk="1" latinLnBrk="0" hangingPunct="1">
        <a:lnSpc>
          <a:spcPct val="90000"/>
        </a:lnSpc>
        <a:spcBef>
          <a:spcPts val="500"/>
        </a:spcBef>
        <a:buFont typeface="Aptos" panose="020B0504030202060203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45" indent="-228532" algn="l" defTabSz="914128" rtl="0" eaLnBrk="1" latinLnBrk="0" hangingPunct="1">
        <a:lnSpc>
          <a:spcPct val="90000"/>
        </a:lnSpc>
        <a:spcBef>
          <a:spcPts val="500"/>
        </a:spcBef>
        <a:buFont typeface="Aptos" panose="020B0504030202060203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4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8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92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6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20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84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9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13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8" pos="396">
          <p15:clr>
            <a:srgbClr val="5ACBF0"/>
          </p15:clr>
        </p15:guide>
        <p15:guide id="49" pos="565">
          <p15:clr>
            <a:srgbClr val="9FCC3B"/>
          </p15:clr>
        </p15:guide>
        <p15:guide id="50" pos="792">
          <p15:clr>
            <a:srgbClr val="A4A3A4"/>
          </p15:clr>
        </p15:guide>
        <p15:guide id="51" pos="960">
          <p15:clr>
            <a:srgbClr val="A4A3A4"/>
          </p15:clr>
        </p15:guide>
        <p15:guide id="52" pos="1187">
          <p15:clr>
            <a:srgbClr val="A4A3A4"/>
          </p15:clr>
        </p15:guide>
        <p15:guide id="53" pos="1355">
          <p15:clr>
            <a:srgbClr val="A4A3A4"/>
          </p15:clr>
        </p15:guide>
        <p15:guide id="54" pos="1582">
          <p15:clr>
            <a:srgbClr val="A4A3A4"/>
          </p15:clr>
        </p15:guide>
        <p15:guide id="55" pos="1750">
          <p15:clr>
            <a:srgbClr val="A4A3A4"/>
          </p15:clr>
        </p15:guide>
        <p15:guide id="56" pos="1977">
          <p15:clr>
            <a:srgbClr val="A4A3A4"/>
          </p15:clr>
        </p15:guide>
        <p15:guide id="57" pos="2145">
          <p15:clr>
            <a:srgbClr val="A4A3A4"/>
          </p15:clr>
        </p15:guide>
        <p15:guide id="58" pos="2372">
          <p15:clr>
            <a:srgbClr val="A4A3A4"/>
          </p15:clr>
        </p15:guide>
        <p15:guide id="59" pos="2541">
          <p15:clr>
            <a:srgbClr val="A4A3A4"/>
          </p15:clr>
        </p15:guide>
        <p15:guide id="60" pos="2767">
          <p15:clr>
            <a:srgbClr val="A4A3A4"/>
          </p15:clr>
        </p15:guide>
        <p15:guide id="61" pos="2936">
          <p15:clr>
            <a:srgbClr val="A4A3A4"/>
          </p15:clr>
        </p15:guide>
        <p15:guide id="62" pos="3163">
          <p15:clr>
            <a:srgbClr val="A4A3A4"/>
          </p15:clr>
        </p15:guide>
        <p15:guide id="63" pos="3331">
          <p15:clr>
            <a:srgbClr val="A4A3A4"/>
          </p15:clr>
        </p15:guide>
        <p15:guide id="64" pos="3558">
          <p15:clr>
            <a:srgbClr val="A4A3A4"/>
          </p15:clr>
        </p15:guide>
        <p15:guide id="65" pos="3726">
          <p15:clr>
            <a:srgbClr val="A4A3A4"/>
          </p15:clr>
        </p15:guide>
        <p15:guide id="66" pos="3953">
          <p15:clr>
            <a:srgbClr val="A4A3A4"/>
          </p15:clr>
        </p15:guide>
        <p15:guide id="67" pos="4121">
          <p15:clr>
            <a:srgbClr val="A4A3A4"/>
          </p15:clr>
        </p15:guide>
        <p15:guide id="68" pos="4348">
          <p15:clr>
            <a:srgbClr val="A4A3A4"/>
          </p15:clr>
        </p15:guide>
        <p15:guide id="69" pos="4516">
          <p15:clr>
            <a:srgbClr val="A4A3A4"/>
          </p15:clr>
        </p15:guide>
        <p15:guide id="70" pos="4743">
          <p15:clr>
            <a:srgbClr val="A4A3A4"/>
          </p15:clr>
        </p15:guide>
        <p15:guide id="71" pos="4912">
          <p15:clr>
            <a:srgbClr val="A4A3A4"/>
          </p15:clr>
        </p15:guide>
        <p15:guide id="72" pos="5138">
          <p15:clr>
            <a:srgbClr val="A4A3A4"/>
          </p15:clr>
        </p15:guide>
        <p15:guide id="73" pos="5307">
          <p15:clr>
            <a:srgbClr val="A4A3A4"/>
          </p15:clr>
        </p15:guide>
        <p15:guide id="74" pos="5534">
          <p15:clr>
            <a:srgbClr val="A4A3A4"/>
          </p15:clr>
        </p15:guide>
        <p15:guide id="75" pos="5702">
          <p15:clr>
            <a:srgbClr val="A4A3A4"/>
          </p15:clr>
        </p15:guide>
        <p15:guide id="76" pos="5929">
          <p15:clr>
            <a:srgbClr val="A4A3A4"/>
          </p15:clr>
        </p15:guide>
        <p15:guide id="77" pos="6097">
          <p15:clr>
            <a:srgbClr val="A4A3A4"/>
          </p15:clr>
        </p15:guide>
        <p15:guide id="78" pos="6324">
          <p15:clr>
            <a:srgbClr val="A4A3A4"/>
          </p15:clr>
        </p15:guide>
        <p15:guide id="79" pos="6492">
          <p15:clr>
            <a:srgbClr val="A4A3A4"/>
          </p15:clr>
        </p15:guide>
        <p15:guide id="80" pos="6719">
          <p15:clr>
            <a:srgbClr val="A4A3A4"/>
          </p15:clr>
        </p15:guide>
        <p15:guide id="81" pos="6887">
          <p15:clr>
            <a:srgbClr val="A4A3A4"/>
          </p15:clr>
        </p15:guide>
        <p15:guide id="82" pos="7114">
          <p15:clr>
            <a:srgbClr val="9FCC3B"/>
          </p15:clr>
        </p15:guide>
        <p15:guide id="83" pos="7283">
          <p15:clr>
            <a:srgbClr val="5ACBF0"/>
          </p15:clr>
        </p15:guide>
        <p15:guide id="84" orient="horz" pos="567">
          <p15:clr>
            <a:srgbClr val="9FCC3B"/>
          </p15:clr>
        </p15:guide>
        <p15:guide id="85" orient="horz" pos="4134">
          <p15:clr>
            <a:srgbClr val="F26B43"/>
          </p15:clr>
        </p15:guide>
        <p15:guide id="86" orient="horz" pos="283">
          <p15:clr>
            <a:srgbClr val="5ACBF0"/>
          </p15:clr>
        </p15:guide>
        <p15:guide id="87" orient="horz" pos="3754">
          <p15:clr>
            <a:srgbClr val="9FCC3B"/>
          </p15:clr>
        </p15:guide>
        <p15:guide id="88" orient="horz" pos="1178">
          <p15:clr>
            <a:srgbClr val="A4A3A4"/>
          </p15:clr>
        </p15:guide>
        <p15:guide id="89" orient="horz" pos="3491">
          <p15:clr>
            <a:srgbClr val="A4A3A4"/>
          </p15:clr>
        </p15:guide>
        <p15:guide id="90" orient="horz" pos="1076">
          <p15:clr>
            <a:srgbClr val="A4A3A4"/>
          </p15:clr>
        </p15:guide>
        <p15:guide id="91" orient="horz" pos="394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10002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"/>
              </a:rPr>
              <a:t>Strengthening before </a:t>
            </a:r>
            <a:r>
              <a:rPr sz="2800" b="1">
                <a:solidFill>
                  <a:srgbClr val="5F1EBE"/>
                </a:solidFill>
                <a:latin typeface="Aptos"/>
              </a:rPr>
              <a:t>we scale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24128"/>
            <a:ext cx="110002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8291A0"/>
                </a:solidFill>
                <a:latin typeface="Aptos"/>
              </a:rPr>
              <a:t>Three phases, eight moves — then one launch decision.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10928" y="1243584"/>
            <a:ext cx="1883664" cy="420624"/>
          </a:xfrm>
          <a:prstGeom prst="roundRect">
            <a:avLst>
              <a:gd name="adj" fmla="val 22000"/>
            </a:avLst>
          </a:prstGeom>
          <a:solidFill>
            <a:srgbClr val="DC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300" b="1">
                <a:solidFill>
                  <a:srgbClr val="0F5FDC"/>
                </a:solidFill>
                <a:latin typeface="Aptos"/>
              </a:rPr>
              <a:t>   SCALE OUT</a:t>
            </a:r>
          </a:p>
        </p:txBody>
      </p:sp>
      <p:sp>
        <p:nvSpPr>
          <p:cNvPr id="5" name="Up Arrow 4"/>
          <p:cNvSpPr/>
          <p:nvPr/>
        </p:nvSpPr>
        <p:spPr>
          <a:xfrm>
            <a:off x="9966960" y="1344168"/>
            <a:ext cx="182880" cy="219456"/>
          </a:xfrm>
          <a:prstGeom prst="upArrow">
            <a:avLst>
              <a:gd name="adj1" fmla="val 42000"/>
              <a:gd name="adj2" fmla="val 42000"/>
            </a:avLst>
          </a:prstGeom>
          <a:solidFill>
            <a:srgbClr val="0F5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883664"/>
            <a:ext cx="3520440" cy="360273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594360" y="1883664"/>
            <a:ext cx="3520440" cy="658368"/>
          </a:xfrm>
          <a:prstGeom prst="round2SameRect">
            <a:avLst>
              <a:gd name="adj1" fmla="val 16000"/>
              <a:gd name="adj2" fmla="val 0"/>
            </a:avLst>
          </a:prstGeom>
          <a:solidFill>
            <a:srgbClr val="411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900" b="1">
                <a:solidFill>
                  <a:srgbClr val="B9C8FF"/>
                </a:solidFill>
                <a:latin typeface="Aptos"/>
              </a:rPr>
              <a:t>PHASE 1</a:t>
            </a:r>
          </a:p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Strengthen the core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090672"/>
            <a:ext cx="420624" cy="420624"/>
          </a:xfrm>
          <a:prstGeom prst="ellipse">
            <a:avLst/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46073" y="3195645"/>
            <a:ext cx="65836" cy="65836"/>
          </a:xfrm>
          <a:prstGeom prst="roundRect">
            <a:avLst>
              <a:gd name="adj" fmla="val 22000"/>
            </a:avLst>
          </a:prstGeom>
          <a:solidFill>
            <a:srgbClr val="411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95598" y="3309762"/>
            <a:ext cx="65836" cy="65836"/>
          </a:xfrm>
          <a:prstGeom prst="roundRect">
            <a:avLst>
              <a:gd name="adj" fmla="val 22000"/>
            </a:avLst>
          </a:prstGeom>
          <a:solidFill>
            <a:srgbClr val="411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6548" y="3309762"/>
            <a:ext cx="65836" cy="65836"/>
          </a:xfrm>
          <a:prstGeom prst="roundRect">
            <a:avLst>
              <a:gd name="adj" fmla="val 22000"/>
            </a:avLst>
          </a:prstGeom>
          <a:solidFill>
            <a:srgbClr val="411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35608" y="3035808"/>
            <a:ext cx="240487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411482"/>
                </a:solidFill>
                <a:latin typeface="Aptos"/>
              </a:rPr>
              <a:t>1   </a:t>
            </a:r>
            <a:r>
              <a:rPr sz="1150" b="1">
                <a:solidFill>
                  <a:srgbClr val="000000"/>
                </a:solidFill>
                <a:latin typeface="Aptos"/>
              </a:rPr>
              <a:t>Capability units, first time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749039"/>
            <a:ext cx="420624" cy="420624"/>
          </a:xfrm>
          <a:prstGeom prst="ellipse">
            <a:avLst/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991209" y="3854013"/>
            <a:ext cx="175565" cy="219456"/>
          </a:xfrm>
          <a:custGeom>
            <a:avLst/>
            <a:gdLst/>
            <a:ahLst/>
            <a:cxnLst/>
            <a:rect l="l" t="t" r="r" b="b"/>
            <a:pathLst>
              <a:path w="175565" h="219456">
                <a:moveTo>
                  <a:pt x="0" y="0"/>
                </a:moveTo>
                <a:lnTo>
                  <a:pt x="175565" y="0"/>
                </a:lnTo>
                <a:lnTo>
                  <a:pt x="175565" y="118506"/>
                </a:lnTo>
                <a:lnTo>
                  <a:pt x="87783" y="219456"/>
                </a:lnTo>
                <a:lnTo>
                  <a:pt x="0" y="118506"/>
                </a:lnTo>
                <a:close/>
              </a:path>
            </a:pathLst>
          </a:custGeom>
          <a:noFill/>
          <a:ln w="12700">
            <a:solidFill>
              <a:srgbClr val="411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35608" y="3694176"/>
            <a:ext cx="240487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411482"/>
                </a:solidFill>
                <a:latin typeface="Aptos"/>
              </a:rPr>
              <a:t>2   </a:t>
            </a:r>
            <a:r>
              <a:rPr sz="1150" b="1">
                <a:solidFill>
                  <a:srgbClr val="000000"/>
                </a:solidFill>
                <a:latin typeface="Aptos"/>
              </a:rPr>
              <a:t>Transition and quality</a:t>
            </a:r>
          </a:p>
        </p:txBody>
      </p:sp>
      <p:sp>
        <p:nvSpPr>
          <p:cNvPr id="16" name="Freeform 15"/>
          <p:cNvSpPr/>
          <p:nvPr/>
        </p:nvSpPr>
        <p:spPr>
          <a:xfrm>
            <a:off x="868680" y="4754880"/>
            <a:ext cx="2971800" cy="0"/>
          </a:xfrm>
          <a:custGeom>
            <a:avLst/>
            <a:gdLst/>
            <a:ahLst/>
            <a:cxnLst/>
            <a:rect l="l" t="t" r="r" b="b"/>
            <a:pathLst>
              <a:path w="2971800" h="0">
                <a:moveTo>
                  <a:pt x="0" y="0"/>
                </a:moveTo>
                <a:lnTo>
                  <a:pt x="2971800" y="0"/>
                </a:lnTo>
              </a:path>
            </a:pathLst>
          </a:custGeom>
          <a:noFill/>
          <a:ln w="9525">
            <a:solidFill>
              <a:srgbClr val="E6E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882896"/>
            <a:ext cx="29718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411482"/>
                </a:solidFill>
                <a:latin typeface="Aptos"/>
              </a:rPr>
              <a:t>Delivery quality becomes dependable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4256" y="1883664"/>
            <a:ext cx="3520440" cy="360273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>
            <a:off x="4334256" y="1883664"/>
            <a:ext cx="3520440" cy="658368"/>
          </a:xfrm>
          <a:prstGeom prst="round2SameRect">
            <a:avLst>
              <a:gd name="adj1" fmla="val 16000"/>
              <a:gd name="adj2" fmla="val 0"/>
            </a:avLst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900" b="1">
                <a:solidFill>
                  <a:srgbClr val="B9C8FF"/>
                </a:solidFill>
                <a:latin typeface="Aptos"/>
              </a:rPr>
              <a:t>PHASE 2</a:t>
            </a:r>
          </a:p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Simplify the structure</a:t>
            </a:r>
          </a:p>
        </p:txBody>
      </p:sp>
      <p:sp>
        <p:nvSpPr>
          <p:cNvPr id="20" name="Oval 19"/>
          <p:cNvSpPr/>
          <p:nvPr/>
        </p:nvSpPr>
        <p:spPr>
          <a:xfrm>
            <a:off x="4608576" y="2761488"/>
            <a:ext cx="420624" cy="420624"/>
          </a:xfrm>
          <a:prstGeom prst="ellipse">
            <a:avLst/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4722327" y="2877433"/>
            <a:ext cx="193121" cy="57058"/>
          </a:xfrm>
          <a:prstGeom prst="diamond">
            <a:avLst/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4722327" y="2938881"/>
            <a:ext cx="193121" cy="57058"/>
          </a:xfrm>
          <a:prstGeom prst="diamond">
            <a:avLst/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4722327" y="3000329"/>
            <a:ext cx="193121" cy="57058"/>
          </a:xfrm>
          <a:prstGeom prst="diamond">
            <a:avLst/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75504" y="2706624"/>
            <a:ext cx="240487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5F1EBE"/>
                </a:solidFill>
                <a:latin typeface="Aptos"/>
              </a:rPr>
              <a:t>3   </a:t>
            </a:r>
            <a:r>
              <a:rPr sz="1150" b="1">
                <a:solidFill>
                  <a:srgbClr val="000000"/>
                </a:solidFill>
                <a:latin typeface="Aptos"/>
              </a:rPr>
              <a:t>Delayering — fewer layers</a:t>
            </a:r>
          </a:p>
        </p:txBody>
      </p:sp>
      <p:sp>
        <p:nvSpPr>
          <p:cNvPr id="25" name="Oval 24"/>
          <p:cNvSpPr/>
          <p:nvPr/>
        </p:nvSpPr>
        <p:spPr>
          <a:xfrm>
            <a:off x="4608576" y="3419856"/>
            <a:ext cx="420624" cy="420624"/>
          </a:xfrm>
          <a:prstGeom prst="ellipse">
            <a:avLst/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793650" y="3529218"/>
            <a:ext cx="50474" cy="50474"/>
          </a:xfrm>
          <a:prstGeom prst="ellipse">
            <a:avLst/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>
            <a:off x="4772802" y="3595055"/>
            <a:ext cx="92171" cy="74615"/>
          </a:xfrm>
          <a:prstGeom prst="round2SameRect">
            <a:avLst>
              <a:gd name="adj1" fmla="val 48000"/>
              <a:gd name="adj2" fmla="val 0"/>
            </a:avLst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22327" y="3546774"/>
            <a:ext cx="41696" cy="41696"/>
          </a:xfrm>
          <a:prstGeom prst="ellipse">
            <a:avLst/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>
            <a:off x="4713549" y="3608222"/>
            <a:ext cx="59253" cy="61447"/>
          </a:xfrm>
          <a:prstGeom prst="round2SameRect">
            <a:avLst>
              <a:gd name="adj1" fmla="val 48000"/>
              <a:gd name="adj2" fmla="val 0"/>
            </a:avLst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73752" y="3546774"/>
            <a:ext cx="41696" cy="41696"/>
          </a:xfrm>
          <a:prstGeom prst="ellipse">
            <a:avLst/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>
            <a:off x="4864973" y="3608222"/>
            <a:ext cx="59253" cy="61447"/>
          </a:xfrm>
          <a:prstGeom prst="round2SameRect">
            <a:avLst>
              <a:gd name="adj1" fmla="val 48000"/>
              <a:gd name="adj2" fmla="val 0"/>
            </a:avLst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75504" y="3364991"/>
            <a:ext cx="240487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5F1EBE"/>
                </a:solidFill>
                <a:latin typeface="Aptos"/>
              </a:rPr>
              <a:t>4   </a:t>
            </a:r>
            <a:r>
              <a:rPr sz="1150" b="1">
                <a:solidFill>
                  <a:srgbClr val="000000"/>
                </a:solidFill>
                <a:latin typeface="Aptos"/>
              </a:rPr>
              <a:t>Span of control</a:t>
            </a:r>
          </a:p>
        </p:txBody>
      </p:sp>
      <p:sp>
        <p:nvSpPr>
          <p:cNvPr id="33" name="Oval 32"/>
          <p:cNvSpPr/>
          <p:nvPr/>
        </p:nvSpPr>
        <p:spPr>
          <a:xfrm>
            <a:off x="4608576" y="4078224"/>
            <a:ext cx="420624" cy="420624"/>
          </a:xfrm>
          <a:prstGeom prst="ellipse">
            <a:avLst/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709160" y="4178808"/>
            <a:ext cx="219456" cy="219456"/>
          </a:xfrm>
          <a:prstGeom prst="ellipse">
            <a:avLst/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764024" y="4233672"/>
            <a:ext cx="109728" cy="109728"/>
          </a:xfrm>
          <a:prstGeom prst="ellipse">
            <a:avLst/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01331" y="4270979"/>
            <a:ext cx="35112" cy="35112"/>
          </a:xfrm>
          <a:prstGeom prst="ellipse">
            <a:avLst/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4023360"/>
            <a:ext cx="240487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5F1EBE"/>
                </a:solidFill>
                <a:latin typeface="Aptos"/>
              </a:rPr>
              <a:t>5   </a:t>
            </a:r>
            <a:r>
              <a:rPr sz="1150" b="1">
                <a:solidFill>
                  <a:srgbClr val="000000"/>
                </a:solidFill>
                <a:latin typeface="Aptos"/>
              </a:rPr>
              <a:t>Decision rights</a:t>
            </a:r>
          </a:p>
        </p:txBody>
      </p:sp>
      <p:sp>
        <p:nvSpPr>
          <p:cNvPr id="38" name="Freeform 37"/>
          <p:cNvSpPr/>
          <p:nvPr/>
        </p:nvSpPr>
        <p:spPr>
          <a:xfrm>
            <a:off x="4608576" y="4754880"/>
            <a:ext cx="2971799" cy="0"/>
          </a:xfrm>
          <a:custGeom>
            <a:avLst/>
            <a:gdLst/>
            <a:ahLst/>
            <a:cxnLst/>
            <a:rect l="l" t="t" r="r" b="b"/>
            <a:pathLst>
              <a:path w="2971799" h="0">
                <a:moveTo>
                  <a:pt x="0" y="0"/>
                </a:moveTo>
                <a:lnTo>
                  <a:pt x="2971799" y="0"/>
                </a:lnTo>
              </a:path>
            </a:pathLst>
          </a:custGeom>
          <a:noFill/>
          <a:ln w="9525">
            <a:solidFill>
              <a:srgbClr val="E6E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08576" y="4882896"/>
            <a:ext cx="29718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5F1EBE"/>
                </a:solidFill>
                <a:latin typeface="Aptos"/>
              </a:rPr>
              <a:t>Decisions move at speed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74152" y="1883664"/>
            <a:ext cx="3520440" cy="360273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8074152" y="1883664"/>
            <a:ext cx="3520440" cy="658368"/>
          </a:xfrm>
          <a:prstGeom prst="round2SameRect">
            <a:avLst>
              <a:gd name="adj1" fmla="val 16000"/>
              <a:gd name="adj2" fmla="val 0"/>
            </a:avLst>
          </a:prstGeom>
          <a:solidFill>
            <a:srgbClr val="0F5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900" b="1">
                <a:solidFill>
                  <a:srgbClr val="B9C8FF"/>
                </a:solidFill>
                <a:latin typeface="Aptos"/>
              </a:rPr>
              <a:t>PHASE 3</a:t>
            </a:r>
          </a:p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Align to the customer</a:t>
            </a:r>
          </a:p>
        </p:txBody>
      </p:sp>
      <p:sp>
        <p:nvSpPr>
          <p:cNvPr id="42" name="Oval 41"/>
          <p:cNvSpPr/>
          <p:nvPr/>
        </p:nvSpPr>
        <p:spPr>
          <a:xfrm>
            <a:off x="8348472" y="2761488"/>
            <a:ext cx="420624" cy="420624"/>
          </a:xfrm>
          <a:prstGeom prst="ellipse">
            <a:avLst/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53445" y="2905963"/>
            <a:ext cx="131673" cy="131673"/>
          </a:xfrm>
          <a:prstGeom prst="ellipse">
            <a:avLst/>
          </a:prstGeom>
          <a:noFill/>
          <a:ln w="12700">
            <a:solidFill>
              <a:srgbClr val="0F5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532449" y="2905963"/>
            <a:ext cx="131673" cy="131673"/>
          </a:xfrm>
          <a:prstGeom prst="ellipse">
            <a:avLst/>
          </a:prstGeom>
          <a:noFill/>
          <a:ln w="12700">
            <a:solidFill>
              <a:srgbClr val="0F5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15400" y="2706624"/>
            <a:ext cx="240487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0F5FDC"/>
                </a:solidFill>
                <a:latin typeface="Aptos"/>
              </a:rPr>
              <a:t>6   </a:t>
            </a:r>
            <a:r>
              <a:rPr sz="1150" b="1">
                <a:solidFill>
                  <a:srgbClr val="000000"/>
                </a:solidFill>
                <a:latin typeface="Aptos"/>
              </a:rPr>
              <a:t>ISD in key accounts</a:t>
            </a:r>
          </a:p>
        </p:txBody>
      </p:sp>
      <p:sp>
        <p:nvSpPr>
          <p:cNvPr id="46" name="Oval 45"/>
          <p:cNvSpPr/>
          <p:nvPr/>
        </p:nvSpPr>
        <p:spPr>
          <a:xfrm>
            <a:off x="8348472" y="3419856"/>
            <a:ext cx="420624" cy="420624"/>
          </a:xfrm>
          <a:prstGeom prst="ellipse">
            <a:avLst/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534643" y="3529218"/>
            <a:ext cx="48280" cy="48280"/>
          </a:xfrm>
          <a:prstGeom prst="ellipse">
            <a:avLst/>
          </a:prstGeom>
          <a:solidFill>
            <a:srgbClr val="0F5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471001" y="3674059"/>
            <a:ext cx="48280" cy="48280"/>
          </a:xfrm>
          <a:prstGeom prst="ellipse">
            <a:avLst/>
          </a:prstGeom>
          <a:solidFill>
            <a:srgbClr val="0F5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598286" y="3674059"/>
            <a:ext cx="48280" cy="48280"/>
          </a:xfrm>
          <a:prstGeom prst="ellipse">
            <a:avLst/>
          </a:prstGeom>
          <a:solidFill>
            <a:srgbClr val="0F5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495141" y="3586276"/>
            <a:ext cx="63643" cy="92172"/>
          </a:xfrm>
          <a:custGeom>
            <a:avLst/>
            <a:gdLst/>
            <a:ahLst/>
            <a:cxnLst/>
            <a:rect l="l" t="t" r="r" b="b"/>
            <a:pathLst>
              <a:path w="63643" h="92172">
                <a:moveTo>
                  <a:pt x="63643" y="0"/>
                </a:moveTo>
                <a:lnTo>
                  <a:pt x="0" y="92172"/>
                </a:lnTo>
              </a:path>
            </a:pathLst>
          </a:custGeom>
          <a:noFill/>
          <a:ln w="10160">
            <a:solidFill>
              <a:srgbClr val="0F5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8558784" y="3586276"/>
            <a:ext cx="63642" cy="92172"/>
          </a:xfrm>
          <a:custGeom>
            <a:avLst/>
            <a:gdLst/>
            <a:ahLst/>
            <a:cxnLst/>
            <a:rect l="l" t="t" r="r" b="b"/>
            <a:pathLst>
              <a:path w="63642" h="92172">
                <a:moveTo>
                  <a:pt x="0" y="0"/>
                </a:moveTo>
                <a:lnTo>
                  <a:pt x="63642" y="92172"/>
                </a:lnTo>
              </a:path>
            </a:pathLst>
          </a:custGeom>
          <a:noFill/>
          <a:ln w="10160">
            <a:solidFill>
              <a:srgbClr val="0F5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8495141" y="3696004"/>
            <a:ext cx="127285" cy="0"/>
          </a:xfrm>
          <a:custGeom>
            <a:avLst/>
            <a:gdLst/>
            <a:ahLst/>
            <a:cxnLst/>
            <a:rect l="l" t="t" r="r" b="b"/>
            <a:pathLst>
              <a:path w="127285" h="0">
                <a:moveTo>
                  <a:pt x="0" y="0"/>
                </a:moveTo>
                <a:lnTo>
                  <a:pt x="127285" y="0"/>
                </a:lnTo>
              </a:path>
            </a:pathLst>
          </a:custGeom>
          <a:noFill/>
          <a:ln w="10160">
            <a:solidFill>
              <a:srgbClr val="0F5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15400" y="3364991"/>
            <a:ext cx="240487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0F5FDC"/>
                </a:solidFill>
                <a:latin typeface="Aptos"/>
              </a:rPr>
              <a:t>7   </a:t>
            </a:r>
            <a:r>
              <a:rPr sz="1150" b="1">
                <a:solidFill>
                  <a:srgbClr val="000000"/>
                </a:solidFill>
                <a:latin typeface="Aptos"/>
              </a:rPr>
              <a:t>Transformation reporting</a:t>
            </a:r>
          </a:p>
        </p:txBody>
      </p:sp>
      <p:sp>
        <p:nvSpPr>
          <p:cNvPr id="54" name="Oval 53"/>
          <p:cNvSpPr/>
          <p:nvPr/>
        </p:nvSpPr>
        <p:spPr>
          <a:xfrm>
            <a:off x="8348472" y="4078224"/>
            <a:ext cx="420624" cy="420624"/>
          </a:xfrm>
          <a:prstGeom prst="ellipse">
            <a:avLst/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5-Point Star 54"/>
          <p:cNvSpPr/>
          <p:nvPr/>
        </p:nvSpPr>
        <p:spPr>
          <a:xfrm>
            <a:off x="8453445" y="4183197"/>
            <a:ext cx="210677" cy="210677"/>
          </a:xfrm>
          <a:prstGeom prst="star5">
            <a:avLst/>
          </a:prstGeom>
          <a:noFill/>
          <a:ln w="12700">
            <a:solidFill>
              <a:srgbClr val="0F5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15400" y="4023360"/>
            <a:ext cx="240487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0F5FDC"/>
                </a:solidFill>
                <a:latin typeface="Aptos"/>
              </a:rPr>
              <a:t>8   </a:t>
            </a:r>
            <a:r>
              <a:rPr sz="1150" b="1">
                <a:solidFill>
                  <a:srgbClr val="000000"/>
                </a:solidFill>
                <a:latin typeface="Aptos"/>
              </a:rPr>
              <a:t>VDU customer alignment</a:t>
            </a:r>
          </a:p>
        </p:txBody>
      </p:sp>
      <p:sp>
        <p:nvSpPr>
          <p:cNvPr id="57" name="Freeform 56"/>
          <p:cNvSpPr/>
          <p:nvPr/>
        </p:nvSpPr>
        <p:spPr>
          <a:xfrm>
            <a:off x="8348472" y="4754880"/>
            <a:ext cx="2971800" cy="0"/>
          </a:xfrm>
          <a:custGeom>
            <a:avLst/>
            <a:gdLst/>
            <a:ahLst/>
            <a:cxnLst/>
            <a:rect l="l" t="t" r="r" b="b"/>
            <a:pathLst>
              <a:path w="2971800" h="0">
                <a:moveTo>
                  <a:pt x="0" y="0"/>
                </a:moveTo>
                <a:lnTo>
                  <a:pt x="2971800" y="0"/>
                </a:lnTo>
              </a:path>
            </a:pathLst>
          </a:custGeom>
          <a:noFill/>
          <a:ln w="9525">
            <a:solidFill>
              <a:srgbClr val="E6E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48472" y="4882896"/>
            <a:ext cx="29718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0F5FDC"/>
                </a:solidFill>
                <a:latin typeface="Aptos"/>
              </a:rPr>
              <a:t>Customer outcomes lead delivery</a:t>
            </a:r>
          </a:p>
        </p:txBody>
      </p:sp>
      <p:sp>
        <p:nvSpPr>
          <p:cNvPr id="59" name="Isosceles Triangle 58"/>
          <p:cNvSpPr/>
          <p:nvPr/>
        </p:nvSpPr>
        <p:spPr>
          <a:xfrm rot="5400000">
            <a:off x="4142232" y="3547872"/>
            <a:ext cx="164592" cy="219456"/>
          </a:xfrm>
          <a:prstGeom prst="triangle">
            <a:avLst/>
          </a:prstGeom>
          <a:solidFill>
            <a:srgbClr val="C8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Isosceles Triangle 59"/>
          <p:cNvSpPr/>
          <p:nvPr/>
        </p:nvSpPr>
        <p:spPr>
          <a:xfrm rot="5400000">
            <a:off x="7882127" y="3547872"/>
            <a:ext cx="164592" cy="219456"/>
          </a:xfrm>
          <a:prstGeom prst="triangle">
            <a:avLst/>
          </a:prstGeom>
          <a:solidFill>
            <a:srgbClr val="C8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94360" y="5687568"/>
            <a:ext cx="11000232" cy="566928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411482"/>
              </a:gs>
              <a:gs pos="100000">
                <a:srgbClr val="0F5FD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32688" y="5815584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1018641" y="5887638"/>
            <a:ext cx="138989" cy="173736"/>
          </a:xfrm>
          <a:custGeom>
            <a:avLst/>
            <a:gdLst/>
            <a:ahLst/>
            <a:cxnLst/>
            <a:rect l="l" t="t" r="r" b="b"/>
            <a:pathLst>
              <a:path w="138989" h="173736">
                <a:moveTo>
                  <a:pt x="0" y="0"/>
                </a:moveTo>
                <a:lnTo>
                  <a:pt x="138989" y="0"/>
                </a:lnTo>
                <a:lnTo>
                  <a:pt x="138989" y="93818"/>
                </a:lnTo>
                <a:lnTo>
                  <a:pt x="69495" y="173736"/>
                </a:lnTo>
                <a:lnTo>
                  <a:pt x="0" y="93818"/>
                </a:lnTo>
                <a:close/>
              </a:path>
            </a:pathLst>
          </a:custGeom>
          <a:noFill/>
          <a:ln w="12700">
            <a:solidFill>
              <a:srgbClr val="411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426464" y="5687568"/>
            <a:ext cx="9875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Strengthen the core. Define the organization. </a:t>
            </a:r>
            <a:r>
              <a:rPr sz="1300" b="1">
                <a:solidFill>
                  <a:srgbClr val="B9C8FF"/>
                </a:solidFill>
                <a:latin typeface="Aptos"/>
              </a:rPr>
              <a:t>Then scale with confidence.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HCLTech Theme 4.1">
  <a:themeElements>
    <a:clrScheme name="HCLTech">
      <a:dk1>
        <a:srgbClr val="000000"/>
      </a:dk1>
      <a:lt1>
        <a:srgbClr val="FFFFFF"/>
      </a:lt1>
      <a:dk2>
        <a:srgbClr val="5F1EBE"/>
      </a:dk2>
      <a:lt2>
        <a:srgbClr val="411482"/>
      </a:lt2>
      <a:accent1>
        <a:srgbClr val="8C69F0"/>
      </a:accent1>
      <a:accent2>
        <a:srgbClr val="B9C8FF"/>
      </a:accent2>
      <a:accent3>
        <a:srgbClr val="0F5FDC"/>
      </a:accent3>
      <a:accent4>
        <a:srgbClr val="3C91FF"/>
      </a:accent4>
      <a:accent5>
        <a:srgbClr val="8CC8FA"/>
      </a:accent5>
      <a:accent6>
        <a:srgbClr val="DCE6F0"/>
      </a:accent6>
      <a:hlink>
        <a:srgbClr val="0F5FDC"/>
      </a:hlink>
      <a:folHlink>
        <a:srgbClr val="292929"/>
      </a:folHlink>
    </a:clrScheme>
    <a:fontScheme name="Apto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6EBF5"/>
        </a:solidFill>
        <a:ln>
          <a:noFill/>
        </a:ln>
      </a:spPr>
      <a:bodyPr lIns="288000" tIns="252000" rIns="288000" bIns="288000" rtlCol="0" anchor="t" anchorCtr="0"/>
      <a:lstStyle>
        <a:defPPr algn="l">
          <a:defRPr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C8D2DD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dirty="0" err="1" smtClean="0">
            <a:solidFill>
              <a:schemeClr val="tx1"/>
            </a:solidFill>
          </a:defRPr>
        </a:defPPr>
      </a:lstStyle>
    </a:txDef>
  </a:objectDefaults>
  <a:extraClrSchemeLst/>
  <a:custClrLst>
    <a:custClr name="Dark Teal">
      <a:srgbClr val="007873"/>
    </a:custClr>
    <a:custClr name="Teal">
      <a:srgbClr val="4BC3AF"/>
    </a:custClr>
    <a:custClr name="Teal 80% Tint">
      <a:srgbClr val="6FCFBF"/>
    </a:custClr>
    <a:custClr name="Light Teal">
      <a:srgbClr val="A5E6DC"/>
    </a:custClr>
    <a:custClr name="Dark green">
      <a:srgbClr val="0FA069"/>
    </a:custClr>
    <a:custClr name="Green">
      <a:srgbClr val="82DC73"/>
    </a:custClr>
    <a:custClr name="Green 80% Tint">
      <a:srgbClr val="9BE38F"/>
    </a:custClr>
    <a:custClr name="Light Green">
      <a:srgbClr val="BEEBB4"/>
    </a:custClr>
    <a:custClr name="Dark Yellow">
      <a:srgbClr val="C8870A"/>
    </a:custClr>
    <a:custClr name="Yellow">
      <a:srgbClr val="FFCD41"/>
    </a:custClr>
    <a:custClr name="Yellow 80% Tint">
      <a:srgbClr val="FFD767"/>
    </a:custClr>
    <a:custClr name="Light Yellow">
      <a:srgbClr val="FFECC7"/>
    </a:custClr>
    <a:custClr name="Dark Coral">
      <a:srgbClr val="C3325F"/>
    </a:custClr>
    <a:custClr name="Coral">
      <a:srgbClr val="FF789B"/>
    </a:custClr>
    <a:custClr name="Coral 80% Tint">
      <a:srgbClr val="FF93AF"/>
    </a:custClr>
    <a:custClr name="Light Coral">
      <a:srgbClr val="FFBED7"/>
    </a:custClr>
    <a:custClr name="Bronze">
      <a:srgbClr val="D7BEB4"/>
    </a:custClr>
    <a:custClr name="Cream">
      <a:srgbClr val="FAF0E6"/>
    </a:custClr>
    <a:custClr name="Grey 1">
      <a:srgbClr val="8291A0"/>
    </a:custClr>
    <a:custClr name="Grey 2">
      <a:srgbClr val="A5AFBE"/>
    </a:custClr>
    <a:custClr name="Grey 3">
      <a:srgbClr val="C8D2DD"/>
    </a:custClr>
    <a:custClr name="Grey 4">
      <a:srgbClr val="E6EBF5"/>
    </a:custClr>
  </a:custClrLst>
  <a:extLst>
    <a:ext uri="{05A4C25C-085E-4340-85A3-A5531E510DB2}">
      <thm15:themeFamily xmlns:thm15="http://schemas.microsoft.com/office/thememl/2012/main" name="Essential Version 4.1.potx" id="{348EEFF9-F705-4BDC-9AF7-D3FA7C421DF6}" vid="{8CF5B234-82B5-43E0-82FB-4C124FBCA6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490</Words>
  <Application>Microsoft Office PowerPoint</Application>
  <PresentationFormat>Widescreen</PresentationFormat>
  <Paragraphs>56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Aptos Light</vt:lpstr>
      <vt:lpstr>Arial</vt:lpstr>
      <vt:lpstr>Calibri</vt:lpstr>
      <vt:lpstr>Aptos</vt:lpstr>
      <vt:lpstr>Aptos Display</vt:lpstr>
      <vt:lpstr>Aptos Light</vt:lpstr>
      <vt:lpstr>1_HCLTech Theme 4.1</vt:lpstr>
      <vt:lpstr>CFO Operations Landscape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Rathish s</dc:creator>
  <cp:lastModifiedBy>Rathish s</cp:lastModifiedBy>
  <cp:revision>1</cp:revision>
  <dcterms:created xsi:type="dcterms:W3CDTF">2026-04-24T04:45:14Z</dcterms:created>
  <dcterms:modified xsi:type="dcterms:W3CDTF">2026-04-24T04:52:42Z</dcterms:modified>
</cp:coreProperties>
</file>