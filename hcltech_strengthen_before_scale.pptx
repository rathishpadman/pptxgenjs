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7" Type="http://schemas.openxmlformats.org/officeDocument/2006/relationships/slideLayout" Target="../slideLayouts/slideLayout17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7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Strengthening before </a:t>
            </a:r>
            <a:r>
              <a:rPr sz="2800" b="1">
                <a:solidFill>
                  <a:srgbClr val="5F1EBE"/>
                </a:solidFill>
                <a:latin typeface="Aptos"/>
              </a:rPr>
              <a:t>we scale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24128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Eight moves to define the organization — signed off before we launch.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1280160"/>
            <a:ext cx="2084831" cy="457200"/>
          </a:xfrm>
          <a:prstGeom prst="roundRect">
            <a:avLst>
              <a:gd name="adj" fmla="val 22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1">
                <a:solidFill>
                  <a:srgbClr val="0F5FDC"/>
                </a:solidFill>
                <a:latin typeface="Aptos"/>
              </a:rPr>
              <a:t>SCALE OUT</a:t>
            </a:r>
          </a:p>
        </p:txBody>
      </p:sp>
      <p:sp>
        <p:nvSpPr>
          <p:cNvPr id="5" name="Up Arrow 4"/>
          <p:cNvSpPr/>
          <p:nvPr/>
        </p:nvSpPr>
        <p:spPr>
          <a:xfrm>
            <a:off x="9747504" y="1399032"/>
            <a:ext cx="201168" cy="219456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5175504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E6EBF5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5175504"/>
            <a:ext cx="64008" cy="438912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1" y="5239512"/>
            <a:ext cx="310896" cy="310896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517550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411482"/>
                </a:solidFill>
                <a:latin typeface="Aptos"/>
              </a:rPr>
              <a:t>Strengthen capability units</a:t>
            </a:r>
          </a:p>
        </p:txBody>
      </p:sp>
      <p:sp>
        <p:nvSpPr>
          <p:cNvPr id="10" name="Freeform 9"/>
          <p:cNvSpPr/>
          <p:nvPr/>
        </p:nvSpPr>
        <p:spPr>
          <a:xfrm>
            <a:off x="4069080" y="5266944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15384" y="525780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9226" y="5320344"/>
            <a:ext cx="46634" cy="46634"/>
          </a:xfrm>
          <a:prstGeom prst="roundRect">
            <a:avLst>
              <a:gd name="adj" fmla="val 22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3473" y="5401177"/>
            <a:ext cx="46634" cy="46634"/>
          </a:xfrm>
          <a:prstGeom prst="roundRect">
            <a:avLst>
              <a:gd name="adj" fmla="val 22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4979" y="5401177"/>
            <a:ext cx="46634" cy="46634"/>
          </a:xfrm>
          <a:prstGeom prst="roundRect">
            <a:avLst>
              <a:gd name="adj" fmla="val 22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5175504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Build differentiated capabilities and functional depth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700016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43000" y="4700016"/>
            <a:ext cx="64008" cy="438912"/>
          </a:xfrm>
          <a:prstGeom prst="roundRect">
            <a:avLst>
              <a:gd name="adj" fmla="val 50000"/>
            </a:avLst>
          </a:prstGeom>
          <a:solidFill>
            <a:srgbClr val="391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07592" y="4764024"/>
            <a:ext cx="310896" cy="310896"/>
          </a:xfrm>
          <a:prstGeom prst="ellipse">
            <a:avLst/>
          </a:prstGeom>
          <a:solidFill>
            <a:srgbClr val="391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28216" y="4700016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91E8E"/>
                </a:solidFill>
                <a:latin typeface="Aptos"/>
              </a:rPr>
              <a:t>Transition and quality</a:t>
            </a:r>
          </a:p>
        </p:txBody>
      </p:sp>
      <p:sp>
        <p:nvSpPr>
          <p:cNvPr id="20" name="Freeform 19"/>
          <p:cNvSpPr/>
          <p:nvPr/>
        </p:nvSpPr>
        <p:spPr>
          <a:xfrm>
            <a:off x="4343400" y="4791456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89704" y="478231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4564684" y="4844856"/>
            <a:ext cx="124359" cy="155448"/>
          </a:xfrm>
          <a:custGeom>
            <a:avLst/>
            <a:gdLst/>
            <a:ahLst/>
            <a:cxnLst/>
            <a:rect l="l" t="t" r="r" b="b"/>
            <a:pathLst>
              <a:path w="124359" h="155448">
                <a:moveTo>
                  <a:pt x="0" y="0"/>
                </a:moveTo>
                <a:lnTo>
                  <a:pt x="124359" y="0"/>
                </a:lnTo>
                <a:lnTo>
                  <a:pt x="124359" y="83942"/>
                </a:lnTo>
                <a:lnTo>
                  <a:pt x="62180" y="155448"/>
                </a:lnTo>
                <a:lnTo>
                  <a:pt x="0" y="83942"/>
                </a:lnTo>
                <a:close/>
              </a:path>
            </a:pathLst>
          </a:custGeom>
          <a:noFill/>
          <a:ln w="12700">
            <a:solidFill>
              <a:srgbClr val="391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4700016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Execute transitions flawlessly and build a culture of quality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17319" y="4224528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E6EBF5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17319" y="4224528"/>
            <a:ext cx="64008" cy="438912"/>
          </a:xfrm>
          <a:prstGeom prst="roundRect">
            <a:avLst>
              <a:gd name="adj" fmla="val 50000"/>
            </a:avLst>
          </a:prstGeom>
          <a:solidFill>
            <a:srgbClr val="322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81911" y="4288536"/>
            <a:ext cx="310896" cy="310896"/>
          </a:xfrm>
          <a:prstGeom prst="ellipse">
            <a:avLst/>
          </a:prstGeom>
          <a:solidFill>
            <a:srgbClr val="322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02536" y="4224528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2299B"/>
                </a:solidFill>
                <a:latin typeface="Aptos"/>
              </a:rPr>
              <a:t>Delayering — reduced hierarchy</a:t>
            </a:r>
          </a:p>
        </p:txBody>
      </p:sp>
      <p:sp>
        <p:nvSpPr>
          <p:cNvPr id="28" name="Freeform 27"/>
          <p:cNvSpPr/>
          <p:nvPr/>
        </p:nvSpPr>
        <p:spPr>
          <a:xfrm>
            <a:off x="4617720" y="4315968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64024" y="430682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832786" y="4377141"/>
            <a:ext cx="136794" cy="40416"/>
          </a:xfrm>
          <a:prstGeom prst="diamond">
            <a:avLst/>
          </a:prstGeom>
          <a:solidFill>
            <a:srgbClr val="322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832786" y="4420666"/>
            <a:ext cx="136794" cy="40416"/>
          </a:xfrm>
          <a:prstGeom prst="diamond">
            <a:avLst/>
          </a:prstGeom>
          <a:noFill/>
          <a:ln w="12700">
            <a:solidFill>
              <a:srgbClr val="322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4832786" y="4464192"/>
            <a:ext cx="136794" cy="40416"/>
          </a:xfrm>
          <a:prstGeom prst="diamond">
            <a:avLst/>
          </a:prstGeom>
          <a:noFill/>
          <a:ln w="12700">
            <a:solidFill>
              <a:srgbClr val="322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66359" y="4224528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Simplify structure to increase speed, agility and empowerment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91639" y="3749039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691639" y="3749039"/>
            <a:ext cx="64008" cy="438912"/>
          </a:xfrm>
          <a:prstGeom prst="roundRect">
            <a:avLst>
              <a:gd name="adj" fmla="val 50000"/>
            </a:avLst>
          </a:prstGeom>
          <a:solidFill>
            <a:srgbClr val="2B3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56231" y="3813048"/>
            <a:ext cx="310896" cy="310896"/>
          </a:xfrm>
          <a:prstGeom prst="ellipse">
            <a:avLst/>
          </a:prstGeom>
          <a:solidFill>
            <a:srgbClr val="2B3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6856" y="3749039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B34A8"/>
                </a:solidFill>
                <a:latin typeface="Aptos"/>
              </a:rPr>
              <a:t>Span of control calibration</a:t>
            </a:r>
          </a:p>
        </p:txBody>
      </p:sp>
      <p:sp>
        <p:nvSpPr>
          <p:cNvPr id="38" name="Freeform 37"/>
          <p:cNvSpPr/>
          <p:nvPr/>
        </p:nvSpPr>
        <p:spPr>
          <a:xfrm>
            <a:off x="4892040" y="3840479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38344" y="383133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157627" y="3896989"/>
            <a:ext cx="35753" cy="35753"/>
          </a:xfrm>
          <a:prstGeom prst="ellipse">
            <a:avLst/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5142859" y="3943624"/>
            <a:ext cx="65288" cy="52852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107106" y="3909425"/>
            <a:ext cx="29535" cy="29535"/>
          </a:xfrm>
          <a:prstGeom prst="ellipse">
            <a:avLst/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100888" y="3952951"/>
            <a:ext cx="41970" cy="43525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14366" y="3909425"/>
            <a:ext cx="29535" cy="29535"/>
          </a:xfrm>
          <a:prstGeom prst="ellipse">
            <a:avLst/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208148" y="3952951"/>
            <a:ext cx="41970" cy="43525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2B34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79" y="3749039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Deliberate spans per layer so no manager is silently overloaded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65960" y="3273552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E6EBF5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65960" y="3273552"/>
            <a:ext cx="64008" cy="438912"/>
          </a:xfrm>
          <a:prstGeom prst="roundRect">
            <a:avLst>
              <a:gd name="adj" fmla="val 50000"/>
            </a:avLst>
          </a:prstGeom>
          <a:solidFill>
            <a:srgbClr val="243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30552" y="3337560"/>
            <a:ext cx="310896" cy="310896"/>
          </a:xfrm>
          <a:prstGeom prst="ellipse">
            <a:avLst/>
          </a:prstGeom>
          <a:solidFill>
            <a:srgbClr val="243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51176" y="3273552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43EB5"/>
                </a:solidFill>
                <a:latin typeface="Aptos"/>
              </a:rPr>
              <a:t>Decision rights and authority</a:t>
            </a:r>
          </a:p>
        </p:txBody>
      </p:sp>
      <p:sp>
        <p:nvSpPr>
          <p:cNvPr id="51" name="Freeform 50"/>
          <p:cNvSpPr/>
          <p:nvPr/>
        </p:nvSpPr>
        <p:spPr>
          <a:xfrm>
            <a:off x="5166360" y="3364992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312664" y="335584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72100" y="3415284"/>
            <a:ext cx="155448" cy="155448"/>
          </a:xfrm>
          <a:prstGeom prst="ellipse">
            <a:avLst/>
          </a:prstGeom>
          <a:noFill/>
          <a:ln w="12700">
            <a:solidFill>
              <a:srgbClr val="243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10962" y="3454146"/>
            <a:ext cx="77724" cy="77724"/>
          </a:xfrm>
          <a:prstGeom prst="ellipse">
            <a:avLst/>
          </a:prstGeom>
          <a:noFill/>
          <a:ln w="12700">
            <a:solidFill>
              <a:srgbClr val="243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37388" y="3480572"/>
            <a:ext cx="24871" cy="24871"/>
          </a:xfrm>
          <a:prstGeom prst="ellipse">
            <a:avLst/>
          </a:prstGeom>
          <a:solidFill>
            <a:srgbClr val="243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15000" y="3273552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Who decides what, how fast, and where it escalates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40280" y="2798064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240280" y="2798064"/>
            <a:ext cx="64008" cy="438912"/>
          </a:xfrm>
          <a:prstGeom prst="roundRect">
            <a:avLst>
              <a:gd name="adj" fmla="val 50000"/>
            </a:avLst>
          </a:prstGeom>
          <a:solidFill>
            <a:srgbClr val="1D4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404872" y="2862072"/>
            <a:ext cx="310896" cy="310896"/>
          </a:xfrm>
          <a:prstGeom prst="ellipse">
            <a:avLst/>
          </a:prstGeom>
          <a:solidFill>
            <a:srgbClr val="1D4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25496" y="279806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D49C2"/>
                </a:solidFill>
                <a:latin typeface="Aptos"/>
              </a:rPr>
              <a:t>ISD in few accounts</a:t>
            </a:r>
          </a:p>
        </p:txBody>
      </p:sp>
      <p:sp>
        <p:nvSpPr>
          <p:cNvPr id="61" name="Freeform 60"/>
          <p:cNvSpPr/>
          <p:nvPr/>
        </p:nvSpPr>
        <p:spPr>
          <a:xfrm>
            <a:off x="5440680" y="2889504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586984" y="28803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49528" y="2970885"/>
            <a:ext cx="93268" cy="93268"/>
          </a:xfrm>
          <a:prstGeom prst="ellipse">
            <a:avLst/>
          </a:prstGeom>
          <a:noFill/>
          <a:ln w="12700">
            <a:solidFill>
              <a:srgbClr val="1D4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05490" y="2970885"/>
            <a:ext cx="93268" cy="93268"/>
          </a:xfrm>
          <a:prstGeom prst="ellipse">
            <a:avLst/>
          </a:prstGeom>
          <a:noFill/>
          <a:ln w="12700">
            <a:solidFill>
              <a:srgbClr val="1D4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2798064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Drive integrated solution delivery in strategic accounts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514600" y="2322576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E6EBF5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514600" y="2322576"/>
            <a:ext cx="64008" cy="438912"/>
          </a:xfrm>
          <a:prstGeom prst="roundRect">
            <a:avLst>
              <a:gd name="adj" fmla="val 50000"/>
            </a:avLst>
          </a:prstGeom>
          <a:solidFill>
            <a:srgbClr val="165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679192" y="2386584"/>
            <a:ext cx="310896" cy="310896"/>
          </a:xfrm>
          <a:prstGeom prst="ellipse">
            <a:avLst/>
          </a:prstGeom>
          <a:solidFill>
            <a:srgbClr val="165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99816" y="2322576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654CF"/>
                </a:solidFill>
                <a:latin typeface="Aptos"/>
              </a:rPr>
              <a:t>Transformation direct reporting</a:t>
            </a:r>
          </a:p>
        </p:txBody>
      </p:sp>
      <p:sp>
        <p:nvSpPr>
          <p:cNvPr id="70" name="Freeform 69"/>
          <p:cNvSpPr/>
          <p:nvPr/>
        </p:nvSpPr>
        <p:spPr>
          <a:xfrm>
            <a:off x="5715000" y="2414016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61304" y="240487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81364" y="2470525"/>
            <a:ext cx="34198" cy="34198"/>
          </a:xfrm>
          <a:prstGeom prst="ellipse">
            <a:avLst/>
          </a:prstGeom>
          <a:solidFill>
            <a:srgbClr val="165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936284" y="2573121"/>
            <a:ext cx="34198" cy="34198"/>
          </a:xfrm>
          <a:prstGeom prst="ellipse">
            <a:avLst/>
          </a:prstGeom>
          <a:solidFill>
            <a:srgbClr val="165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026444" y="2573121"/>
            <a:ext cx="34198" cy="34198"/>
          </a:xfrm>
          <a:prstGeom prst="ellipse">
            <a:avLst/>
          </a:prstGeom>
          <a:solidFill>
            <a:srgbClr val="165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5953384" y="2510942"/>
            <a:ext cx="45080" cy="65288"/>
          </a:xfrm>
          <a:custGeom>
            <a:avLst/>
            <a:gdLst/>
            <a:ahLst/>
            <a:cxnLst/>
            <a:rect l="l" t="t" r="r" b="b"/>
            <a:pathLst>
              <a:path w="45080" h="65288">
                <a:moveTo>
                  <a:pt x="45080" y="0"/>
                </a:moveTo>
                <a:lnTo>
                  <a:pt x="0" y="65288"/>
                </a:lnTo>
              </a:path>
            </a:pathLst>
          </a:custGeom>
          <a:noFill/>
          <a:ln w="10160">
            <a:solidFill>
              <a:srgbClr val="165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5998464" y="2510942"/>
            <a:ext cx="45079" cy="65288"/>
          </a:xfrm>
          <a:custGeom>
            <a:avLst/>
            <a:gdLst/>
            <a:ahLst/>
            <a:cxnLst/>
            <a:rect l="l" t="t" r="r" b="b"/>
            <a:pathLst>
              <a:path w="45079" h="65288">
                <a:moveTo>
                  <a:pt x="0" y="0"/>
                </a:moveTo>
                <a:lnTo>
                  <a:pt x="45079" y="65288"/>
                </a:lnTo>
              </a:path>
            </a:pathLst>
          </a:custGeom>
          <a:noFill/>
          <a:ln w="10160">
            <a:solidFill>
              <a:srgbClr val="165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5953384" y="2588666"/>
            <a:ext cx="90159" cy="0"/>
          </a:xfrm>
          <a:custGeom>
            <a:avLst/>
            <a:gdLst/>
            <a:ahLst/>
            <a:cxnLst/>
            <a:rect l="l" t="t" r="r" b="b"/>
            <a:pathLst>
              <a:path w="90159" h="0">
                <a:moveTo>
                  <a:pt x="0" y="0"/>
                </a:moveTo>
                <a:lnTo>
                  <a:pt x="90159" y="0"/>
                </a:lnTo>
              </a:path>
            </a:pathLst>
          </a:custGeom>
          <a:noFill/>
          <a:ln w="10160">
            <a:solidFill>
              <a:srgbClr val="165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2322576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Give transformation a clear mandate, visibility and accountability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788920" y="1847088"/>
            <a:ext cx="8595360" cy="43891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788920" y="1847088"/>
            <a:ext cx="64008" cy="438912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953512" y="1911095"/>
            <a:ext cx="310896" cy="310896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74136" y="1847088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VDUs — customer alignment</a:t>
            </a:r>
          </a:p>
        </p:txBody>
      </p:sp>
      <p:sp>
        <p:nvSpPr>
          <p:cNvPr id="83" name="Freeform 82"/>
          <p:cNvSpPr/>
          <p:nvPr/>
        </p:nvSpPr>
        <p:spPr>
          <a:xfrm>
            <a:off x="5989320" y="1938528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135624" y="19293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5-Point Star 84"/>
          <p:cNvSpPr/>
          <p:nvPr/>
        </p:nvSpPr>
        <p:spPr>
          <a:xfrm>
            <a:off x="6198168" y="1991928"/>
            <a:ext cx="149230" cy="149230"/>
          </a:xfrm>
          <a:prstGeom prst="star5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59" y="1847088"/>
            <a:ext cx="4663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Align delivery units to customer outcomes and expectations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" y="1883664"/>
            <a:ext cx="64008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2960" y="18836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STRONG TODAY.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READY TOMORROW.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2304288"/>
            <a:ext cx="15361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A solid foundation enables confident, sustainable scale.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94360" y="5779008"/>
            <a:ext cx="11000232" cy="585216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411482"/>
              </a:gs>
              <a:gs pos="100000">
                <a:srgbClr val="0F5FD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32688" y="5916168"/>
            <a:ext cx="310896" cy="3108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018641" y="5988222"/>
            <a:ext cx="138989" cy="173736"/>
          </a:xfrm>
          <a:custGeom>
            <a:avLst/>
            <a:gdLst/>
            <a:ahLst/>
            <a:cxnLst/>
            <a:rect l="l" t="t" r="r" b="b"/>
            <a:pathLst>
              <a:path w="138989" h="173736">
                <a:moveTo>
                  <a:pt x="0" y="0"/>
                </a:moveTo>
                <a:lnTo>
                  <a:pt x="138989" y="0"/>
                </a:lnTo>
                <a:lnTo>
                  <a:pt x="138989" y="93818"/>
                </a:lnTo>
                <a:lnTo>
                  <a:pt x="69495" y="173736"/>
                </a:lnTo>
                <a:lnTo>
                  <a:pt x="0" y="93818"/>
                </a:lnTo>
                <a:close/>
              </a:path>
            </a:pathLst>
          </a:custGeom>
          <a:noFill/>
          <a:ln w="12700">
            <a:solidFill>
              <a:srgbClr val="411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426464" y="5779008"/>
            <a:ext cx="98755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Strengthen the core. Define the organization. </a:t>
            </a:r>
            <a:r>
              <a:rPr sz="1300" b="1">
                <a:solidFill>
                  <a:srgbClr val="B9C8FF"/>
                </a:solidFill>
                <a:latin typeface="Aptos"/>
              </a:rPr>
              <a:t>Then scale with confidence.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