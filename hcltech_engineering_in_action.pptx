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  <p:sldId id="257" r:id="rId8"/>
    <p:sldId id="258" r:id="rId9"/>
    <p:sldId id="25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00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5EA7A6-9703-439D-9860-421146C0496A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63207D-A882-40A9-8398-32F59628DE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045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9384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7" Type="http://schemas.openxmlformats.org/officeDocument/2006/relationships/slideLayout" Target="../slideLayouts/slideLayout17.xml"/><Relationship Id="rId1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7C2F9B-1B75-1D6F-DECD-AA527616B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421200"/>
            <a:ext cx="10968598" cy="52322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9EB0A9-F700-84AF-0327-18A849481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5017" y="1812555"/>
            <a:ext cx="10946748" cy="41469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level: Subhead</a:t>
            </a:r>
          </a:p>
          <a:p>
            <a:pPr lvl="1"/>
            <a:r>
              <a:rPr lang="en-US"/>
              <a:t>Second level: Body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grpSp>
        <p:nvGrpSpPr>
          <p:cNvPr id="68" name="Columns Guides" hidden="1">
            <a:extLst>
              <a:ext uri="{FF2B5EF4-FFF2-40B4-BE49-F238E27FC236}">
                <a16:creationId xmlns:a16="http://schemas.microsoft.com/office/drawing/2014/main" id="{EFAC4366-2CF4-C5A9-31A8-6F9DECFE4E2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28651" y="-482750"/>
            <a:ext cx="10934825" cy="270781"/>
            <a:chOff x="628650" y="-708661"/>
            <a:chExt cx="10934825" cy="27078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C7F93F2-F654-4332-F215-0A3B672F9D7F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8650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F056A12-0E3D-624F-504F-6DE97A67C97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255993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2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50B3FC0-A1BF-DD01-AC83-56CAA0EAB3D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883336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2DC71EE-0C0B-F54C-6A2D-EDCE55842B9B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2510679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4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4910EEB-33EE-2A8B-7882-314F27D7F2DE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138022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5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4A08A2A-900E-CD04-5544-124CB7F0B3AA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765365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6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9FFA843-DF76-CE08-0766-D60499CC332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4392708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7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93CBA17-0C95-42F3-A32C-8AFA9996B9D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5020051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8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F1624C-8BDC-798E-28B2-AA590ADC47E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5647394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9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E6ACB19-6D3E-4F02-F268-97E802E82F44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74737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10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DE60CBC-8DDE-BC59-3E28-7D81EB0362DE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902080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4382D73-6C2A-3D3F-14DA-9EC80E156047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7529423" y="-708661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12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4B3B06D-B96D-49CC-81E4-D15E316CB61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8156766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13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E64E8E0-1325-6F0E-8900-F6E6306C6D4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8784109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14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80BEEB7-FB77-E0B7-234E-F1C3D62D934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9411452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15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4E8BFEF6-B6D0-D3B6-938B-FEBFD244E001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038795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16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7113FA8-AE40-F16B-F5B6-020A3E94EC87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666138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17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58A9647F-C0C5-B3CF-7646-72E25BE02F6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1293475" y="-708661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18</a:t>
              </a:r>
            </a:p>
          </p:txBody>
        </p:sp>
      </p:grpSp>
      <p:sp>
        <p:nvSpPr>
          <p:cNvPr id="32" name="Slide Number Placeholder 1">
            <a:extLst>
              <a:ext uri="{FF2B5EF4-FFF2-40B4-BE49-F238E27FC236}">
                <a16:creationId xmlns:a16="http://schemas.microsoft.com/office/drawing/2014/main" id="{B62F0297-57AD-07EC-451E-0DBDD282712E}"/>
              </a:ext>
            </a:extLst>
          </p:cNvPr>
          <p:cNvSpPr txBox="1">
            <a:spLocks/>
          </p:cNvSpPr>
          <p:nvPr userDrawn="1"/>
        </p:nvSpPr>
        <p:spPr>
          <a:xfrm>
            <a:off x="410261" y="6465601"/>
            <a:ext cx="183187" cy="123111"/>
          </a:xfrm>
          <a:prstGeom prst="rect">
            <a:avLst/>
          </a:prstGeom>
        </p:spPr>
        <p:txBody>
          <a:bodyPr lIns="0" tIns="46788" rIns="0" anchor="ctr"/>
          <a:lstStyle>
            <a:defPPr>
              <a:defRPr lang="en-US"/>
            </a:defPPr>
            <a:lvl1pPr marL="0" algn="l" defTabSz="914400" rtl="0" eaLnBrk="1" latinLnBrk="0" hangingPunct="1">
              <a:spcBef>
                <a:spcPts val="1800"/>
              </a:spcBef>
              <a:spcAft>
                <a:spcPts val="900"/>
              </a:spcAft>
              <a:defRPr sz="2000" dirty="0">
                <a:latin typeface="+mj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1200"/>
              </a:spcAft>
              <a:defRPr sz="1600" dirty="0">
                <a:latin typeface="+mn-lt"/>
                <a:ea typeface="+mn-ea"/>
                <a:cs typeface="+mn-cs"/>
              </a:defRPr>
            </a:lvl2pPr>
            <a:lvl3pPr marL="180000" indent="-180000" algn="l" rtl="0" eaLnBrk="1" latinLnBrk="0" hangingPunct="1">
              <a:spcAft>
                <a:spcPts val="900"/>
              </a:spcAft>
              <a:buFont typeface="Aptos" panose="020B0504030202060203" pitchFamily="34" charset="0"/>
              <a:buChar char="•"/>
              <a:defRPr sz="1600" dirty="0"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spcAft>
                <a:spcPts val="600"/>
              </a:spcAft>
              <a:buFont typeface="Aptos" panose="020B0504030202060203" pitchFamily="34" charset="0"/>
              <a:buChar char="–"/>
              <a:defRPr sz="1400" dirty="0">
                <a:latin typeface="+mn-lt"/>
                <a:ea typeface="+mn-ea"/>
                <a:cs typeface="+mn-cs"/>
              </a:defRPr>
            </a:lvl4pPr>
            <a:lvl5pPr marL="540000" indent="-180000" rtl="0" eaLnBrk="1" latinLnBrk="0" hangingPunct="1">
              <a:spcAft>
                <a:spcPts val="600"/>
              </a:spcAft>
              <a:buFont typeface="Aptos" panose="020B0504030202060203" pitchFamily="34" charset="0"/>
              <a:buChar char="•"/>
              <a:defRPr sz="1400" dirty="0">
                <a:latin typeface="+mn-lt"/>
                <a:ea typeface="+mn-ea"/>
                <a:cs typeface="+mn-cs"/>
              </a:defRPr>
            </a:lvl5pPr>
            <a:lvl6pPr marL="540000" algn="l" defTabSz="914400" rtl="0" eaLnBrk="1" latinLnBrk="0" hangingPunct="1">
              <a:spcBef>
                <a:spcPts val="600"/>
              </a:spcBef>
              <a:spcAft>
                <a:spcPts val="600"/>
              </a:spcAft>
              <a:defRPr sz="1200" dirty="0">
                <a:latin typeface="+mn-lt"/>
                <a:ea typeface="+mn-ea"/>
                <a:cs typeface="+mn-cs"/>
              </a:defRPr>
            </a:lvl6pPr>
          </a:lstStyle>
          <a:p>
            <a:pPr algn="ctr"/>
            <a:fld id="{570547DA-62F2-46FF-A67E-24DBD4865419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pPr algn="ctr"/>
              <a:t>‹#›</a:t>
            </a:fld>
            <a:endParaRPr lang="en-US" sz="800">
              <a:solidFill>
                <a:schemeClr val="tx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11579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7"/>
  </p:sldLayoutIdLst>
  <p:hf hdr="0" dt="0"/>
  <p:txStyles>
    <p:titleStyle>
      <a:lvl1pPr algn="l" defTabSz="914128" rtl="0" eaLnBrk="1" latinLnBrk="0" hangingPunct="1">
        <a:lnSpc>
          <a:spcPct val="85000"/>
        </a:lnSpc>
        <a:spcBef>
          <a:spcPct val="0"/>
        </a:spcBef>
        <a:buNone/>
        <a:defRPr sz="3999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128" rtl="0" eaLnBrk="1" latinLnBrk="0" hangingPunct="1">
        <a:lnSpc>
          <a:spcPct val="100000"/>
        </a:lnSpc>
        <a:spcBef>
          <a:spcPts val="1799"/>
        </a:spcBef>
        <a:spcAft>
          <a:spcPts val="900"/>
        </a:spcAft>
        <a:buFont typeface="Aptos" panose="020B0504030202060203" pitchFamily="34" charset="0"/>
        <a:buNone/>
        <a:defRPr sz="1999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128" rtl="0" eaLnBrk="1" latinLnBrk="0" hangingPunct="1">
        <a:lnSpc>
          <a:spcPct val="100000"/>
        </a:lnSpc>
        <a:spcBef>
          <a:spcPts val="0"/>
        </a:spcBef>
        <a:spcAft>
          <a:spcPts val="1399"/>
        </a:spcAft>
        <a:buFont typeface="Aptos" panose="020B0504030202060203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79946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Tx/>
        <a:buFont typeface="Aptos" panose="020B0504030202060203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359893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Aptos" panose="020B0504030202060203" pitchFamily="34" charset="0"/>
        <a:buChar char="–"/>
        <a:defRPr sz="1399" kern="1200">
          <a:solidFill>
            <a:schemeClr val="tx1"/>
          </a:solidFill>
          <a:latin typeface="+mn-lt"/>
          <a:ea typeface="+mn-ea"/>
          <a:cs typeface="+mn-cs"/>
        </a:defRPr>
      </a:lvl4pPr>
      <a:lvl5pPr marL="539839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ptos" panose="020B0504030202060203" pitchFamily="34" charset="0"/>
        <a:buChar char="•"/>
        <a:defRPr sz="1399" kern="1200">
          <a:solidFill>
            <a:schemeClr val="tx1"/>
          </a:solidFill>
          <a:latin typeface="+mn-lt"/>
          <a:ea typeface="+mn-ea"/>
          <a:cs typeface="+mn-cs"/>
        </a:defRPr>
      </a:lvl5pPr>
      <a:lvl6pPr marL="539839" indent="0" algn="l" defTabSz="914128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ptos" panose="020B0504030202060203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917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80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45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4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8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92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6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20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84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9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13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8" pos="396">
          <p15:clr>
            <a:srgbClr val="5ACBF0"/>
          </p15:clr>
        </p15:guide>
        <p15:guide id="49" pos="565">
          <p15:clr>
            <a:srgbClr val="9FCC3B"/>
          </p15:clr>
        </p15:guide>
        <p15:guide id="50" pos="792">
          <p15:clr>
            <a:srgbClr val="A4A3A4"/>
          </p15:clr>
        </p15:guide>
        <p15:guide id="51" pos="960">
          <p15:clr>
            <a:srgbClr val="A4A3A4"/>
          </p15:clr>
        </p15:guide>
        <p15:guide id="52" pos="1187">
          <p15:clr>
            <a:srgbClr val="A4A3A4"/>
          </p15:clr>
        </p15:guide>
        <p15:guide id="53" pos="1355">
          <p15:clr>
            <a:srgbClr val="A4A3A4"/>
          </p15:clr>
        </p15:guide>
        <p15:guide id="54" pos="1582">
          <p15:clr>
            <a:srgbClr val="A4A3A4"/>
          </p15:clr>
        </p15:guide>
        <p15:guide id="55" pos="1750">
          <p15:clr>
            <a:srgbClr val="A4A3A4"/>
          </p15:clr>
        </p15:guide>
        <p15:guide id="56" pos="1977">
          <p15:clr>
            <a:srgbClr val="A4A3A4"/>
          </p15:clr>
        </p15:guide>
        <p15:guide id="57" pos="2145">
          <p15:clr>
            <a:srgbClr val="A4A3A4"/>
          </p15:clr>
        </p15:guide>
        <p15:guide id="58" pos="2372">
          <p15:clr>
            <a:srgbClr val="A4A3A4"/>
          </p15:clr>
        </p15:guide>
        <p15:guide id="59" pos="2541">
          <p15:clr>
            <a:srgbClr val="A4A3A4"/>
          </p15:clr>
        </p15:guide>
        <p15:guide id="60" pos="2767">
          <p15:clr>
            <a:srgbClr val="A4A3A4"/>
          </p15:clr>
        </p15:guide>
        <p15:guide id="61" pos="2936">
          <p15:clr>
            <a:srgbClr val="A4A3A4"/>
          </p15:clr>
        </p15:guide>
        <p15:guide id="62" pos="3163">
          <p15:clr>
            <a:srgbClr val="A4A3A4"/>
          </p15:clr>
        </p15:guide>
        <p15:guide id="63" pos="3331">
          <p15:clr>
            <a:srgbClr val="A4A3A4"/>
          </p15:clr>
        </p15:guide>
        <p15:guide id="64" pos="3558">
          <p15:clr>
            <a:srgbClr val="A4A3A4"/>
          </p15:clr>
        </p15:guide>
        <p15:guide id="65" pos="3726">
          <p15:clr>
            <a:srgbClr val="A4A3A4"/>
          </p15:clr>
        </p15:guide>
        <p15:guide id="66" pos="3953">
          <p15:clr>
            <a:srgbClr val="A4A3A4"/>
          </p15:clr>
        </p15:guide>
        <p15:guide id="67" pos="4121">
          <p15:clr>
            <a:srgbClr val="A4A3A4"/>
          </p15:clr>
        </p15:guide>
        <p15:guide id="68" pos="4348">
          <p15:clr>
            <a:srgbClr val="A4A3A4"/>
          </p15:clr>
        </p15:guide>
        <p15:guide id="69" pos="4516">
          <p15:clr>
            <a:srgbClr val="A4A3A4"/>
          </p15:clr>
        </p15:guide>
        <p15:guide id="70" pos="4743">
          <p15:clr>
            <a:srgbClr val="A4A3A4"/>
          </p15:clr>
        </p15:guide>
        <p15:guide id="71" pos="4912">
          <p15:clr>
            <a:srgbClr val="A4A3A4"/>
          </p15:clr>
        </p15:guide>
        <p15:guide id="72" pos="5138">
          <p15:clr>
            <a:srgbClr val="A4A3A4"/>
          </p15:clr>
        </p15:guide>
        <p15:guide id="73" pos="5307">
          <p15:clr>
            <a:srgbClr val="A4A3A4"/>
          </p15:clr>
        </p15:guide>
        <p15:guide id="74" pos="5534">
          <p15:clr>
            <a:srgbClr val="A4A3A4"/>
          </p15:clr>
        </p15:guide>
        <p15:guide id="75" pos="5702">
          <p15:clr>
            <a:srgbClr val="A4A3A4"/>
          </p15:clr>
        </p15:guide>
        <p15:guide id="76" pos="5929">
          <p15:clr>
            <a:srgbClr val="A4A3A4"/>
          </p15:clr>
        </p15:guide>
        <p15:guide id="77" pos="6097">
          <p15:clr>
            <a:srgbClr val="A4A3A4"/>
          </p15:clr>
        </p15:guide>
        <p15:guide id="78" pos="6324">
          <p15:clr>
            <a:srgbClr val="A4A3A4"/>
          </p15:clr>
        </p15:guide>
        <p15:guide id="79" pos="6492">
          <p15:clr>
            <a:srgbClr val="A4A3A4"/>
          </p15:clr>
        </p15:guide>
        <p15:guide id="80" pos="6719">
          <p15:clr>
            <a:srgbClr val="A4A3A4"/>
          </p15:clr>
        </p15:guide>
        <p15:guide id="81" pos="6887">
          <p15:clr>
            <a:srgbClr val="A4A3A4"/>
          </p15:clr>
        </p15:guide>
        <p15:guide id="82" pos="7114">
          <p15:clr>
            <a:srgbClr val="9FCC3B"/>
          </p15:clr>
        </p15:guide>
        <p15:guide id="83" pos="7283">
          <p15:clr>
            <a:srgbClr val="5ACBF0"/>
          </p15:clr>
        </p15:guide>
        <p15:guide id="84" orient="horz" pos="567">
          <p15:clr>
            <a:srgbClr val="9FCC3B"/>
          </p15:clr>
        </p15:guide>
        <p15:guide id="85" orient="horz" pos="4134">
          <p15:clr>
            <a:srgbClr val="F26B43"/>
          </p15:clr>
        </p15:guide>
        <p15:guide id="86" orient="horz" pos="283">
          <p15:clr>
            <a:srgbClr val="5ACBF0"/>
          </p15:clr>
        </p15:guide>
        <p15:guide id="87" orient="horz" pos="3754">
          <p15:clr>
            <a:srgbClr val="9FCC3B"/>
          </p15:clr>
        </p15:guide>
        <p15:guide id="88" orient="horz" pos="1178">
          <p15:clr>
            <a:srgbClr val="A4A3A4"/>
          </p15:clr>
        </p15:guide>
        <p15:guide id="89" orient="horz" pos="3491">
          <p15:clr>
            <a:srgbClr val="A4A3A4"/>
          </p15:clr>
        </p15:guide>
        <p15:guide id="90" orient="horz" pos="1076">
          <p15:clr>
            <a:srgbClr val="A4A3A4"/>
          </p15:clr>
        </p15:guide>
        <p15:guide id="91" orient="horz" pos="394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874519" cy="237744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5F1EBE"/>
                </a:solidFill>
                <a:latin typeface="Aptos"/>
              </a:rPr>
              <a:t>ENGINEERING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04672"/>
            <a:ext cx="598932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Aptos"/>
              </a:rPr>
              <a:t>Chargeback cycle: </a:t>
            </a:r>
            <a:r>
              <a:rPr sz="2800" b="1">
                <a:solidFill>
                  <a:srgbClr val="5F1EBE"/>
                </a:solidFill>
                <a:latin typeface="Aptos"/>
              </a:rPr>
              <a:t>10 days to under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73936"/>
            <a:ext cx="5989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8291A0"/>
                </a:solidFill>
                <a:latin typeface="Aptos"/>
              </a:rPr>
              <a:t>BOI: Azure → AWS platform reset plus four orchestrated agents, running in production.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95728"/>
            <a:ext cx="5989320" cy="18105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8" y="2523744"/>
            <a:ext cx="384048" cy="38404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7824" y="2606040"/>
            <a:ext cx="219456" cy="219456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7201" y="2655417"/>
            <a:ext cx="120700" cy="120700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7800" y="2696016"/>
            <a:ext cx="39502" cy="39502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7592" y="2569464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F1EBE"/>
                </a:solidFill>
                <a:latin typeface="Aptos"/>
              </a:rPr>
              <a:t>Challenge</a:t>
            </a:r>
          </a:p>
        </p:txBody>
      </p:sp>
      <p:sp>
        <p:nvSpPr>
          <p:cNvPr id="11" name="Freeform 10"/>
          <p:cNvSpPr/>
          <p:nvPr/>
        </p:nvSpPr>
        <p:spPr>
          <a:xfrm>
            <a:off x="2825496" y="2542032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505456"/>
            <a:ext cx="34107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Manual investigations across multiple systems</a:t>
            </a:r>
          </a:p>
        </p:txBody>
      </p:sp>
      <p:sp>
        <p:nvSpPr>
          <p:cNvPr id="13" name="Freeform 12"/>
          <p:cNvSpPr/>
          <p:nvPr/>
        </p:nvSpPr>
        <p:spPr>
          <a:xfrm>
            <a:off x="795528" y="3017520"/>
            <a:ext cx="5586984" cy="0"/>
          </a:xfrm>
          <a:custGeom>
            <a:avLst/>
            <a:gdLst/>
            <a:ahLst/>
            <a:cxnLst/>
            <a:rect l="l" t="t" r="r" b="b"/>
            <a:pathLst>
              <a:path w="5586984" h="0">
                <a:moveTo>
                  <a:pt x="0" y="0"/>
                </a:moveTo>
                <a:lnTo>
                  <a:pt x="5586984" y="0"/>
                </a:lnTo>
              </a:path>
            </a:pathLst>
          </a:custGeom>
          <a:noFill/>
          <a:ln w="9525">
            <a:solidFill>
              <a:srgbClr val="E6E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528" y="3072384"/>
            <a:ext cx="384048" cy="38404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 rot="2700000">
            <a:off x="899769" y="3176625"/>
            <a:ext cx="175564" cy="175564"/>
          </a:xfrm>
          <a:prstGeom prst="upArrow">
            <a:avLst>
              <a:gd name="adj1" fmla="val 42000"/>
              <a:gd name="adj2" fmla="val 42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07592" y="3118104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F1EBE"/>
                </a:solidFill>
                <a:latin typeface="Aptos"/>
              </a:rPr>
              <a:t>Transformation</a:t>
            </a:r>
          </a:p>
        </p:txBody>
      </p:sp>
      <p:sp>
        <p:nvSpPr>
          <p:cNvPr id="17" name="Freeform 16"/>
          <p:cNvSpPr/>
          <p:nvPr/>
        </p:nvSpPr>
        <p:spPr>
          <a:xfrm>
            <a:off x="2825496" y="3090672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800" y="3054096"/>
            <a:ext cx="34107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Azure → AWS platform transition</a:t>
            </a:r>
          </a:p>
        </p:txBody>
      </p:sp>
      <p:sp>
        <p:nvSpPr>
          <p:cNvPr id="19" name="Freeform 18"/>
          <p:cNvSpPr/>
          <p:nvPr/>
        </p:nvSpPr>
        <p:spPr>
          <a:xfrm>
            <a:off x="795528" y="3566160"/>
            <a:ext cx="5586984" cy="0"/>
          </a:xfrm>
          <a:custGeom>
            <a:avLst/>
            <a:gdLst/>
            <a:ahLst/>
            <a:cxnLst/>
            <a:rect l="l" t="t" r="r" b="b"/>
            <a:pathLst>
              <a:path w="5586984" h="0">
                <a:moveTo>
                  <a:pt x="0" y="0"/>
                </a:moveTo>
                <a:lnTo>
                  <a:pt x="5586984" y="0"/>
                </a:lnTo>
              </a:path>
            </a:pathLst>
          </a:custGeom>
          <a:noFill/>
          <a:ln w="9525">
            <a:solidFill>
              <a:srgbClr val="E6E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5528" y="3621024"/>
            <a:ext cx="384048" cy="38404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9520" y="3703320"/>
            <a:ext cx="136062" cy="136062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9022" y="3824020"/>
            <a:ext cx="57058" cy="70225"/>
          </a:xfrm>
          <a:prstGeom prst="roundRect">
            <a:avLst>
              <a:gd name="adj" fmla="val 4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592" y="3666744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F1EBE"/>
                </a:solidFill>
                <a:latin typeface="Aptos"/>
              </a:rPr>
              <a:t>Solution</a:t>
            </a:r>
          </a:p>
        </p:txBody>
      </p:sp>
      <p:sp>
        <p:nvSpPr>
          <p:cNvPr id="24" name="Freeform 23"/>
          <p:cNvSpPr/>
          <p:nvPr/>
        </p:nvSpPr>
        <p:spPr>
          <a:xfrm>
            <a:off x="2825496" y="3639312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800" y="3602736"/>
            <a:ext cx="34107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4 agents orchestrated across GWS and Toscana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4074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5F1EBE"/>
                </a:solidFill>
                <a:latin typeface="Aptos"/>
              </a:rPr>
              <a:t>HOW IT WORKS</a:t>
            </a:r>
          </a:p>
        </p:txBody>
      </p:sp>
      <p:sp>
        <p:nvSpPr>
          <p:cNvPr id="27" name="Oval 26"/>
          <p:cNvSpPr/>
          <p:nvPr/>
        </p:nvSpPr>
        <p:spPr>
          <a:xfrm>
            <a:off x="988466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8" name="Oval 27"/>
          <p:cNvSpPr/>
          <p:nvPr/>
        </p:nvSpPr>
        <p:spPr>
          <a:xfrm>
            <a:off x="814730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6805" y="5167610"/>
            <a:ext cx="182777" cy="25353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048077" y="5223623"/>
            <a:ext cx="100233" cy="0"/>
          </a:xfrm>
          <a:custGeom>
            <a:avLst/>
            <a:gdLst/>
            <a:ahLst/>
            <a:cxnLst/>
            <a:rect l="l" t="t" r="r" b="b"/>
            <a:pathLst>
              <a:path w="100233" h="0">
                <a:moveTo>
                  <a:pt x="0" y="0"/>
                </a:moveTo>
                <a:lnTo>
                  <a:pt x="100233" y="0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048077" y="5285531"/>
            <a:ext cx="100233" cy="0"/>
          </a:xfrm>
          <a:custGeom>
            <a:avLst/>
            <a:gdLst/>
            <a:ahLst/>
            <a:cxnLst/>
            <a:rect l="l" t="t" r="r" b="b"/>
            <a:pathLst>
              <a:path w="100233" h="0">
                <a:moveTo>
                  <a:pt x="0" y="0"/>
                </a:moveTo>
                <a:lnTo>
                  <a:pt x="100233" y="0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048077" y="5347440"/>
            <a:ext cx="100233" cy="0"/>
          </a:xfrm>
          <a:custGeom>
            <a:avLst/>
            <a:gdLst/>
            <a:ahLst/>
            <a:cxnLst/>
            <a:rect l="l" t="t" r="r" b="b"/>
            <a:pathLst>
              <a:path w="100233" h="0">
                <a:moveTo>
                  <a:pt x="0" y="0"/>
                </a:moveTo>
                <a:lnTo>
                  <a:pt x="100233" y="0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5632704"/>
            <a:ext cx="10076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Intake</a:t>
            </a:r>
          </a:p>
        </p:txBody>
      </p:sp>
      <p:sp>
        <p:nvSpPr>
          <p:cNvPr id="34" name="Freeform 33"/>
          <p:cNvSpPr/>
          <p:nvPr/>
        </p:nvSpPr>
        <p:spPr>
          <a:xfrm>
            <a:off x="1656892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739188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233879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7" name="Oval 36"/>
          <p:cNvSpPr/>
          <p:nvPr/>
        </p:nvSpPr>
        <p:spPr>
          <a:xfrm>
            <a:off x="2060143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240426" y="5173506"/>
            <a:ext cx="206361" cy="88440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240426" y="5267843"/>
            <a:ext cx="206361" cy="88440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240426" y="5362180"/>
            <a:ext cx="206361" cy="88440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39772" y="5632704"/>
            <a:ext cx="10076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AI Investigation</a:t>
            </a:r>
          </a:p>
        </p:txBody>
      </p:sp>
      <p:sp>
        <p:nvSpPr>
          <p:cNvPr id="42" name="Freeform 41"/>
          <p:cNvSpPr/>
          <p:nvPr/>
        </p:nvSpPr>
        <p:spPr>
          <a:xfrm>
            <a:off x="2902305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984601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479291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45" name="Oval 44"/>
          <p:cNvSpPr/>
          <p:nvPr/>
        </p:nvSpPr>
        <p:spPr>
          <a:xfrm>
            <a:off x="3305556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474047" y="5173506"/>
            <a:ext cx="176881" cy="176881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609656" y="5317960"/>
            <a:ext cx="76648" cy="76648"/>
          </a:xfrm>
          <a:custGeom>
            <a:avLst/>
            <a:gdLst/>
            <a:ahLst/>
            <a:cxnLst/>
            <a:rect l="l" t="t" r="r" b="b"/>
            <a:pathLst>
              <a:path w="76648" h="76648">
                <a:moveTo>
                  <a:pt x="0" y="0"/>
                </a:moveTo>
                <a:lnTo>
                  <a:pt x="76648" y="76648"/>
                </a:lnTo>
              </a:path>
            </a:pathLst>
          </a:custGeom>
          <a:noFill/>
          <a:ln w="1524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85185" y="5632704"/>
            <a:ext cx="10076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Chargeback Analysis</a:t>
            </a:r>
          </a:p>
        </p:txBody>
      </p:sp>
      <p:sp>
        <p:nvSpPr>
          <p:cNvPr id="49" name="Freeform 48"/>
          <p:cNvSpPr/>
          <p:nvPr/>
        </p:nvSpPr>
        <p:spPr>
          <a:xfrm>
            <a:off x="4147718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4230014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24704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52" name="Oval 51"/>
          <p:cNvSpPr/>
          <p:nvPr/>
        </p:nvSpPr>
        <p:spPr>
          <a:xfrm>
            <a:off x="4550968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93160" y="5173506"/>
            <a:ext cx="82544" cy="82544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4748940" y="5270791"/>
            <a:ext cx="170985" cy="135609"/>
          </a:xfrm>
          <a:prstGeom prst="round2SameRect">
            <a:avLst>
              <a:gd name="adj1" fmla="val 45000"/>
              <a:gd name="adj2" fmla="val 0"/>
            </a:avLst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30598" y="5632704"/>
            <a:ext cx="10076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Review &amp; Resolution</a:t>
            </a:r>
          </a:p>
        </p:txBody>
      </p:sp>
      <p:sp>
        <p:nvSpPr>
          <p:cNvPr id="56" name="Freeform 55"/>
          <p:cNvSpPr/>
          <p:nvPr/>
        </p:nvSpPr>
        <p:spPr>
          <a:xfrm>
            <a:off x="5393131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5475427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970117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59" name="Oval 58"/>
          <p:cNvSpPr/>
          <p:nvPr/>
        </p:nvSpPr>
        <p:spPr>
          <a:xfrm>
            <a:off x="5796381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5988456" y="5179403"/>
            <a:ext cx="182778" cy="238790"/>
          </a:xfrm>
          <a:custGeom>
            <a:avLst/>
            <a:gdLst/>
            <a:ahLst/>
            <a:cxnLst/>
            <a:rect l="l" t="t" r="r" b="b"/>
            <a:pathLst>
              <a:path w="182778" h="238790">
                <a:moveTo>
                  <a:pt x="0" y="0"/>
                </a:moveTo>
                <a:lnTo>
                  <a:pt x="182778" y="0"/>
                </a:lnTo>
                <a:lnTo>
                  <a:pt x="182778" y="129713"/>
                </a:lnTo>
                <a:lnTo>
                  <a:pt x="91389" y="238790"/>
                </a:lnTo>
                <a:lnTo>
                  <a:pt x="0" y="129713"/>
                </a:lnTo>
                <a:close/>
              </a:path>
            </a:pathLst>
          </a:cu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576011" y="5632704"/>
            <a:ext cx="10076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Audit &amp; Reporting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839712" y="411480"/>
            <a:ext cx="4754880" cy="5943600"/>
          </a:xfrm>
          <a:prstGeom prst="roundRect">
            <a:avLst>
              <a:gd name="adj" fmla="val 3500"/>
            </a:avLst>
          </a:prstGeom>
          <a:gradFill rotWithShape="1">
            <a:gsLst>
              <a:gs pos="0">
                <a:srgbClr val="411482"/>
              </a:gs>
              <a:gs pos="100000">
                <a:srgbClr val="5F1EBE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150608" y="658368"/>
            <a:ext cx="457200" cy="457200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295997" y="879835"/>
            <a:ext cx="42793" cy="808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360188" y="822777"/>
            <a:ext cx="42793" cy="137891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424379" y="760963"/>
            <a:ext cx="42793" cy="19970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754112" y="658368"/>
            <a:ext cx="35295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tos"/>
              </a:rPr>
              <a:t>BUSINESS OUTCOMES</a:t>
            </a:r>
          </a:p>
        </p:txBody>
      </p:sp>
      <p:sp>
        <p:nvSpPr>
          <p:cNvPr id="68" name="Freeform 67"/>
          <p:cNvSpPr/>
          <p:nvPr/>
        </p:nvSpPr>
        <p:spPr>
          <a:xfrm>
            <a:off x="7150608" y="1280160"/>
            <a:ext cx="4133088" cy="0"/>
          </a:xfrm>
          <a:custGeom>
            <a:avLst/>
            <a:gdLst/>
            <a:ahLst/>
            <a:cxnLst/>
            <a:rect l="l" t="t" r="r" b="b"/>
            <a:pathLst>
              <a:path w="4133088" h="0">
                <a:moveTo>
                  <a:pt x="0" y="0"/>
                </a:moveTo>
                <a:lnTo>
                  <a:pt x="4133088" y="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50608" y="1408176"/>
            <a:ext cx="41330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C8FF"/>
                </a:solidFill>
                <a:latin typeface="Aptos"/>
              </a:rPr>
              <a:t>Illustrative impact — to be validated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50608" y="2231136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62%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50608" y="276148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Faster Resolution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50608" y="299923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~10 days → ~3.8 days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72016" y="2231136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55%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272016" y="276148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Analyst Productivity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72016" y="299923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Hours saved per analyst, weekly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50608" y="3739895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92%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50608" y="42702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First-Pass Accuracy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50608" y="450799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Less rework and follow-up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72016" y="3739895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$3.2M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272016" y="42702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Annualized Value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72016" y="450799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Cost avoidance from automation</a:t>
            </a:r>
          </a:p>
        </p:txBody>
      </p:sp>
      <p:sp>
        <p:nvSpPr>
          <p:cNvPr id="82" name="Freeform 81"/>
          <p:cNvSpPr/>
          <p:nvPr/>
        </p:nvSpPr>
        <p:spPr>
          <a:xfrm>
            <a:off x="9217152" y="2176272"/>
            <a:ext cx="0" cy="2880360"/>
          </a:xfrm>
          <a:custGeom>
            <a:avLst/>
            <a:gdLst/>
            <a:ahLst/>
            <a:cxnLst/>
            <a:rect l="l" t="t" r="r" b="b"/>
            <a:pathLst>
              <a:path w="0" h="2880360">
                <a:moveTo>
                  <a:pt x="0" y="0"/>
                </a:moveTo>
                <a:lnTo>
                  <a:pt x="0" y="288036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7150608" y="3616452"/>
            <a:ext cx="4133088" cy="0"/>
          </a:xfrm>
          <a:custGeom>
            <a:avLst/>
            <a:gdLst/>
            <a:ahLst/>
            <a:cxnLst/>
            <a:rect l="l" t="t" r="r" b="b"/>
            <a:pathLst>
              <a:path w="4133088" h="0">
                <a:moveTo>
                  <a:pt x="0" y="0"/>
                </a:moveTo>
                <a:lnTo>
                  <a:pt x="4133088" y="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7150608" y="5212080"/>
            <a:ext cx="4133088" cy="0"/>
          </a:xfrm>
          <a:custGeom>
            <a:avLst/>
            <a:gdLst/>
            <a:ahLst/>
            <a:cxnLst/>
            <a:rect l="l" t="t" r="r" b="b"/>
            <a:pathLst>
              <a:path w="4133088" h="0">
                <a:moveTo>
                  <a:pt x="0" y="0"/>
                </a:moveTo>
                <a:lnTo>
                  <a:pt x="4133088" y="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Cloud 84"/>
          <p:cNvSpPr/>
          <p:nvPr/>
        </p:nvSpPr>
        <p:spPr>
          <a:xfrm>
            <a:off x="7533558" y="5408310"/>
            <a:ext cx="267370" cy="192755"/>
          </a:xfrm>
          <a:prstGeom prst="cloud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87183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Scalable Platform</a:t>
            </a:r>
          </a:p>
        </p:txBody>
      </p:sp>
      <p:sp>
        <p:nvSpPr>
          <p:cNvPr id="87" name="Freeform 86"/>
          <p:cNvSpPr/>
          <p:nvPr/>
        </p:nvSpPr>
        <p:spPr>
          <a:xfrm>
            <a:off x="8183880" y="5358384"/>
            <a:ext cx="0" cy="694944"/>
          </a:xfrm>
          <a:custGeom>
            <a:avLst/>
            <a:gdLst/>
            <a:ahLst/>
            <a:cxnLst/>
            <a:rect l="l" t="t" r="r" b="b"/>
            <a:pathLst>
              <a:path w="0" h="694944">
                <a:moveTo>
                  <a:pt x="0" y="0"/>
                </a:moveTo>
                <a:lnTo>
                  <a:pt x="0" y="69494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8669426" y="5389656"/>
            <a:ext cx="62179" cy="62179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601029" y="5548213"/>
            <a:ext cx="49743" cy="49743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8675644" y="5548213"/>
            <a:ext cx="49743" cy="49743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8750259" y="5548213"/>
            <a:ext cx="49743" cy="49743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8625900" y="5517123"/>
            <a:ext cx="149231" cy="0"/>
          </a:xfrm>
          <a:custGeom>
            <a:avLst/>
            <a:gdLst/>
            <a:ahLst/>
            <a:cxnLst/>
            <a:rect l="l" t="t" r="r" b="b"/>
            <a:pathLst>
              <a:path w="149231" h="0">
                <a:moveTo>
                  <a:pt x="0" y="0"/>
                </a:moveTo>
                <a:lnTo>
                  <a:pt x="149231" y="0"/>
                </a:lnTo>
              </a:path>
            </a:pathLst>
          </a:custGeom>
          <a:noFill/>
          <a:ln w="1079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20456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Enterprise Integration</a:t>
            </a:r>
          </a:p>
        </p:txBody>
      </p:sp>
      <p:sp>
        <p:nvSpPr>
          <p:cNvPr id="94" name="Freeform 93"/>
          <p:cNvSpPr/>
          <p:nvPr/>
        </p:nvSpPr>
        <p:spPr>
          <a:xfrm>
            <a:off x="9217152" y="5358384"/>
            <a:ext cx="0" cy="694944"/>
          </a:xfrm>
          <a:custGeom>
            <a:avLst/>
            <a:gdLst/>
            <a:ahLst/>
            <a:cxnLst/>
            <a:rect l="l" t="t" r="r" b="b"/>
            <a:pathLst>
              <a:path w="0" h="694944">
                <a:moveTo>
                  <a:pt x="0" y="0"/>
                </a:moveTo>
                <a:lnTo>
                  <a:pt x="0" y="69494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9637410" y="5383438"/>
            <a:ext cx="192755" cy="251826"/>
          </a:xfrm>
          <a:custGeom>
            <a:avLst/>
            <a:gdLst/>
            <a:ahLst/>
            <a:cxnLst/>
            <a:rect l="l" t="t" r="r" b="b"/>
            <a:pathLst>
              <a:path w="192755" h="251826">
                <a:moveTo>
                  <a:pt x="0" y="0"/>
                </a:moveTo>
                <a:lnTo>
                  <a:pt x="192755" y="0"/>
                </a:lnTo>
                <a:lnTo>
                  <a:pt x="192755" y="136794"/>
                </a:lnTo>
                <a:lnTo>
                  <a:pt x="96378" y="251826"/>
                </a:lnTo>
                <a:lnTo>
                  <a:pt x="0" y="136794"/>
                </a:lnTo>
                <a:close/>
              </a:path>
            </a:pathLst>
          </a:cu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253728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Built-in Governance</a:t>
            </a:r>
          </a:p>
        </p:txBody>
      </p:sp>
      <p:sp>
        <p:nvSpPr>
          <p:cNvPr id="97" name="Freeform 96"/>
          <p:cNvSpPr/>
          <p:nvPr/>
        </p:nvSpPr>
        <p:spPr>
          <a:xfrm>
            <a:off x="10250424" y="5358384"/>
            <a:ext cx="0" cy="694944"/>
          </a:xfrm>
          <a:custGeom>
            <a:avLst/>
            <a:gdLst/>
            <a:ahLst/>
            <a:cxnLst/>
            <a:rect l="l" t="t" r="r" b="b"/>
            <a:pathLst>
              <a:path w="0" h="694944">
                <a:moveTo>
                  <a:pt x="0" y="0"/>
                </a:moveTo>
                <a:lnTo>
                  <a:pt x="0" y="69494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Up Arrow 97"/>
          <p:cNvSpPr/>
          <p:nvPr/>
        </p:nvSpPr>
        <p:spPr>
          <a:xfrm rot="2700000">
            <a:off x="10642701" y="5380329"/>
            <a:ext cx="248716" cy="248716"/>
          </a:xfrm>
          <a:prstGeom prst="upArrow">
            <a:avLst>
              <a:gd name="adj1" fmla="val 42000"/>
              <a:gd name="adj2" fmla="val 4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287000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Production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874519" cy="237744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5F1EBE"/>
                </a:solidFill>
                <a:latin typeface="Aptos"/>
              </a:rPr>
              <a:t>ENGINEERING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04672"/>
            <a:ext cx="598932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Aptos"/>
              </a:rPr>
              <a:t>First DPO agentic win — </a:t>
            </a:r>
            <a:r>
              <a:rPr sz="2800" b="1">
                <a:solidFill>
                  <a:srgbClr val="5F1EBE"/>
                </a:solidFill>
                <a:latin typeface="Aptos"/>
              </a:rPr>
              <a:t>and a reusable agent factory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73936"/>
            <a:ext cx="5989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8291A0"/>
                </a:solidFill>
                <a:latin typeface="Aptos"/>
              </a:rPr>
              <a:t>Guardian Life: from function-centric automation to an enterprise-wide agentic operating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95728"/>
            <a:ext cx="5989320" cy="18105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8" y="2523744"/>
            <a:ext cx="384048" cy="38404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7824" y="2606040"/>
            <a:ext cx="219456" cy="219456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7201" y="2655417"/>
            <a:ext cx="120700" cy="120700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7800" y="2696016"/>
            <a:ext cx="39502" cy="39502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7592" y="2569464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F1EBE"/>
                </a:solidFill>
                <a:latin typeface="Aptos"/>
              </a:rPr>
              <a:t>Challenge</a:t>
            </a:r>
          </a:p>
        </p:txBody>
      </p:sp>
      <p:sp>
        <p:nvSpPr>
          <p:cNvPr id="11" name="Freeform 10"/>
          <p:cNvSpPr/>
          <p:nvPr/>
        </p:nvSpPr>
        <p:spPr>
          <a:xfrm>
            <a:off x="2825496" y="2542032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505456"/>
            <a:ext cx="34107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Fragmented operations across five business functions</a:t>
            </a:r>
          </a:p>
        </p:txBody>
      </p:sp>
      <p:sp>
        <p:nvSpPr>
          <p:cNvPr id="13" name="Freeform 12"/>
          <p:cNvSpPr/>
          <p:nvPr/>
        </p:nvSpPr>
        <p:spPr>
          <a:xfrm>
            <a:off x="795528" y="3017520"/>
            <a:ext cx="5586984" cy="0"/>
          </a:xfrm>
          <a:custGeom>
            <a:avLst/>
            <a:gdLst/>
            <a:ahLst/>
            <a:cxnLst/>
            <a:rect l="l" t="t" r="r" b="b"/>
            <a:pathLst>
              <a:path w="5586984" h="0">
                <a:moveTo>
                  <a:pt x="0" y="0"/>
                </a:moveTo>
                <a:lnTo>
                  <a:pt x="5586984" y="0"/>
                </a:lnTo>
              </a:path>
            </a:pathLst>
          </a:custGeom>
          <a:noFill/>
          <a:ln w="9525">
            <a:solidFill>
              <a:srgbClr val="E6E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528" y="3072384"/>
            <a:ext cx="384048" cy="38404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 rot="2700000">
            <a:off x="899769" y="3176625"/>
            <a:ext cx="175564" cy="175564"/>
          </a:xfrm>
          <a:prstGeom prst="upArrow">
            <a:avLst>
              <a:gd name="adj1" fmla="val 42000"/>
              <a:gd name="adj2" fmla="val 42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07592" y="3118104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F1EBE"/>
                </a:solidFill>
                <a:latin typeface="Aptos"/>
              </a:rPr>
              <a:t>Transformation</a:t>
            </a:r>
          </a:p>
        </p:txBody>
      </p:sp>
      <p:sp>
        <p:nvSpPr>
          <p:cNvPr id="17" name="Freeform 16"/>
          <p:cNvSpPr/>
          <p:nvPr/>
        </p:nvSpPr>
        <p:spPr>
          <a:xfrm>
            <a:off x="2825496" y="3090672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800" y="3054096"/>
            <a:ext cx="34107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Function-centric automation → agentic operating model</a:t>
            </a:r>
          </a:p>
        </p:txBody>
      </p:sp>
      <p:sp>
        <p:nvSpPr>
          <p:cNvPr id="19" name="Freeform 18"/>
          <p:cNvSpPr/>
          <p:nvPr/>
        </p:nvSpPr>
        <p:spPr>
          <a:xfrm>
            <a:off x="795528" y="3566160"/>
            <a:ext cx="5586984" cy="0"/>
          </a:xfrm>
          <a:custGeom>
            <a:avLst/>
            <a:gdLst/>
            <a:ahLst/>
            <a:cxnLst/>
            <a:rect l="l" t="t" r="r" b="b"/>
            <a:pathLst>
              <a:path w="5586984" h="0">
                <a:moveTo>
                  <a:pt x="0" y="0"/>
                </a:moveTo>
                <a:lnTo>
                  <a:pt x="5586984" y="0"/>
                </a:lnTo>
              </a:path>
            </a:pathLst>
          </a:custGeom>
          <a:noFill/>
          <a:ln w="9525">
            <a:solidFill>
              <a:srgbClr val="E6E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5528" y="3621024"/>
            <a:ext cx="384048" cy="38404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9520" y="3703320"/>
            <a:ext cx="136062" cy="136062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9022" y="3824020"/>
            <a:ext cx="57058" cy="70225"/>
          </a:xfrm>
          <a:prstGeom prst="roundRect">
            <a:avLst>
              <a:gd name="adj" fmla="val 4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592" y="3666744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F1EBE"/>
                </a:solidFill>
                <a:latin typeface="Aptos"/>
              </a:rPr>
              <a:t>Solution</a:t>
            </a:r>
          </a:p>
        </p:txBody>
      </p:sp>
      <p:sp>
        <p:nvSpPr>
          <p:cNvPr id="24" name="Freeform 23"/>
          <p:cNvSpPr/>
          <p:nvPr/>
        </p:nvSpPr>
        <p:spPr>
          <a:xfrm>
            <a:off x="2825496" y="3639312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800" y="3602736"/>
            <a:ext cx="34107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DPO Platform — reusable agents, skills,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4074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5F1EBE"/>
                </a:solidFill>
                <a:latin typeface="Aptos"/>
              </a:rPr>
              <a:t>OUR APPROACH</a:t>
            </a:r>
          </a:p>
        </p:txBody>
      </p:sp>
      <p:sp>
        <p:nvSpPr>
          <p:cNvPr id="27" name="Oval 26"/>
          <p:cNvSpPr/>
          <p:nvPr/>
        </p:nvSpPr>
        <p:spPr>
          <a:xfrm>
            <a:off x="988466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8" name="Oval 27"/>
          <p:cNvSpPr/>
          <p:nvPr/>
        </p:nvSpPr>
        <p:spPr>
          <a:xfrm>
            <a:off x="814730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3221" y="5173506"/>
            <a:ext cx="176881" cy="176881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118830" y="5317960"/>
            <a:ext cx="76649" cy="76648"/>
          </a:xfrm>
          <a:custGeom>
            <a:avLst/>
            <a:gdLst/>
            <a:ahLst/>
            <a:cxnLst/>
            <a:rect l="l" t="t" r="r" b="b"/>
            <a:pathLst>
              <a:path w="76649" h="76648">
                <a:moveTo>
                  <a:pt x="0" y="0"/>
                </a:moveTo>
                <a:lnTo>
                  <a:pt x="76649" y="76648"/>
                </a:lnTo>
              </a:path>
            </a:pathLst>
          </a:custGeom>
          <a:noFill/>
          <a:ln w="1524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632704"/>
            <a:ext cx="10076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Discover</a:t>
            </a:r>
          </a:p>
        </p:txBody>
      </p:sp>
      <p:sp>
        <p:nvSpPr>
          <p:cNvPr id="32" name="Freeform 31"/>
          <p:cNvSpPr/>
          <p:nvPr/>
        </p:nvSpPr>
        <p:spPr>
          <a:xfrm>
            <a:off x="1656892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39188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233879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5" name="Oval 34"/>
          <p:cNvSpPr/>
          <p:nvPr/>
        </p:nvSpPr>
        <p:spPr>
          <a:xfrm>
            <a:off x="2060143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252218" y="5167610"/>
            <a:ext cx="182777" cy="25353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293490" y="5223623"/>
            <a:ext cx="100233" cy="0"/>
          </a:xfrm>
          <a:custGeom>
            <a:avLst/>
            <a:gdLst/>
            <a:ahLst/>
            <a:cxnLst/>
            <a:rect l="l" t="t" r="r" b="b"/>
            <a:pathLst>
              <a:path w="100233" h="0">
                <a:moveTo>
                  <a:pt x="0" y="0"/>
                </a:moveTo>
                <a:lnTo>
                  <a:pt x="100233" y="0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293490" y="5285531"/>
            <a:ext cx="100233" cy="0"/>
          </a:xfrm>
          <a:custGeom>
            <a:avLst/>
            <a:gdLst/>
            <a:ahLst/>
            <a:cxnLst/>
            <a:rect l="l" t="t" r="r" b="b"/>
            <a:pathLst>
              <a:path w="100233" h="0">
                <a:moveTo>
                  <a:pt x="0" y="0"/>
                </a:moveTo>
                <a:lnTo>
                  <a:pt x="100233" y="0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293490" y="5347440"/>
            <a:ext cx="100233" cy="0"/>
          </a:xfrm>
          <a:custGeom>
            <a:avLst/>
            <a:gdLst/>
            <a:ahLst/>
            <a:cxnLst/>
            <a:rect l="l" t="t" r="r" b="b"/>
            <a:pathLst>
              <a:path w="100233" h="0">
                <a:moveTo>
                  <a:pt x="0" y="0"/>
                </a:moveTo>
                <a:lnTo>
                  <a:pt x="100233" y="0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367191" y="5285531"/>
            <a:ext cx="103181" cy="88441"/>
          </a:xfrm>
          <a:custGeom>
            <a:avLst/>
            <a:gdLst/>
            <a:ahLst/>
            <a:cxnLst/>
            <a:rect l="l" t="t" r="r" b="b"/>
            <a:pathLst>
              <a:path w="103181" h="88441">
                <a:moveTo>
                  <a:pt x="0" y="53065"/>
                </a:moveTo>
                <a:lnTo>
                  <a:pt x="35376" y="88441"/>
                </a:lnTo>
                <a:lnTo>
                  <a:pt x="103181" y="0"/>
                </a:lnTo>
              </a:path>
            </a:pathLst>
          </a:custGeom>
          <a:noFill/>
          <a:ln w="1397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39772" y="5632704"/>
            <a:ext cx="10076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Prioritize</a:t>
            </a:r>
          </a:p>
        </p:txBody>
      </p:sp>
      <p:sp>
        <p:nvSpPr>
          <p:cNvPr id="42" name="Freeform 41"/>
          <p:cNvSpPr/>
          <p:nvPr/>
        </p:nvSpPr>
        <p:spPr>
          <a:xfrm>
            <a:off x="2902305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984601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479291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45" name="Oval 44"/>
          <p:cNvSpPr/>
          <p:nvPr/>
        </p:nvSpPr>
        <p:spPr>
          <a:xfrm>
            <a:off x="3305556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474047" y="5202987"/>
            <a:ext cx="229945" cy="182777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571331" y="5202987"/>
            <a:ext cx="0" cy="91389"/>
          </a:xfrm>
          <a:custGeom>
            <a:avLst/>
            <a:gdLst/>
            <a:ahLst/>
            <a:cxnLst/>
            <a:rect l="l" t="t" r="r" b="b"/>
            <a:pathLst>
              <a:path w="0" h="91389">
                <a:moveTo>
                  <a:pt x="0" y="0"/>
                </a:moveTo>
                <a:lnTo>
                  <a:pt x="0" y="91389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85185" y="5632704"/>
            <a:ext cx="10076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Design</a:t>
            </a:r>
          </a:p>
        </p:txBody>
      </p:sp>
      <p:sp>
        <p:nvSpPr>
          <p:cNvPr id="49" name="Freeform 48"/>
          <p:cNvSpPr/>
          <p:nvPr/>
        </p:nvSpPr>
        <p:spPr>
          <a:xfrm>
            <a:off x="4147718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4230014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24704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52" name="Oval 51"/>
          <p:cNvSpPr/>
          <p:nvPr/>
        </p:nvSpPr>
        <p:spPr>
          <a:xfrm>
            <a:off x="4550968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4728303" y="5208883"/>
            <a:ext cx="79597" cy="170985"/>
          </a:xfrm>
          <a:custGeom>
            <a:avLst/>
            <a:gdLst/>
            <a:ahLst/>
            <a:cxnLst/>
            <a:rect l="l" t="t" r="r" b="b"/>
            <a:pathLst>
              <a:path w="79597" h="170985">
                <a:moveTo>
                  <a:pt x="79597" y="0"/>
                </a:moveTo>
                <a:lnTo>
                  <a:pt x="0" y="85493"/>
                </a:lnTo>
                <a:lnTo>
                  <a:pt x="79597" y="170985"/>
                </a:lnTo>
              </a:path>
            </a:pathLst>
          </a:custGeom>
          <a:noFill/>
          <a:ln w="14604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4860965" y="5208883"/>
            <a:ext cx="79596" cy="170985"/>
          </a:xfrm>
          <a:custGeom>
            <a:avLst/>
            <a:gdLst/>
            <a:ahLst/>
            <a:cxnLst/>
            <a:rect l="l" t="t" r="r" b="b"/>
            <a:pathLst>
              <a:path w="79596" h="170985">
                <a:moveTo>
                  <a:pt x="0" y="0"/>
                </a:moveTo>
                <a:lnTo>
                  <a:pt x="79596" y="85493"/>
                </a:lnTo>
                <a:lnTo>
                  <a:pt x="0" y="170985"/>
                </a:lnTo>
              </a:path>
            </a:pathLst>
          </a:custGeom>
          <a:noFill/>
          <a:ln w="14604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30598" y="5632704"/>
            <a:ext cx="10076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Build</a:t>
            </a:r>
          </a:p>
        </p:txBody>
      </p:sp>
      <p:sp>
        <p:nvSpPr>
          <p:cNvPr id="56" name="Freeform 55"/>
          <p:cNvSpPr/>
          <p:nvPr/>
        </p:nvSpPr>
        <p:spPr>
          <a:xfrm>
            <a:off x="5393131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5475427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970117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59" name="Oval 58"/>
          <p:cNvSpPr/>
          <p:nvPr/>
        </p:nvSpPr>
        <p:spPr>
          <a:xfrm>
            <a:off x="5796381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976664" y="5285531"/>
            <a:ext cx="53064" cy="100232"/>
          </a:xfrm>
          <a:prstGeom prst="roundRect">
            <a:avLst>
              <a:gd name="adj" fmla="val 3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056261" y="5214779"/>
            <a:ext cx="53064" cy="170985"/>
          </a:xfrm>
          <a:prstGeom prst="roundRect">
            <a:avLst>
              <a:gd name="adj" fmla="val 3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35858" y="5138130"/>
            <a:ext cx="53064" cy="247634"/>
          </a:xfrm>
          <a:prstGeom prst="roundRect">
            <a:avLst>
              <a:gd name="adj" fmla="val 3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576011" y="5632704"/>
            <a:ext cx="10076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Scale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839712" y="411480"/>
            <a:ext cx="4754880" cy="5943600"/>
          </a:xfrm>
          <a:prstGeom prst="roundRect">
            <a:avLst>
              <a:gd name="adj" fmla="val 3500"/>
            </a:avLst>
          </a:prstGeom>
          <a:gradFill rotWithShape="1">
            <a:gsLst>
              <a:gs pos="0">
                <a:srgbClr val="411482"/>
              </a:gs>
              <a:gs pos="100000">
                <a:srgbClr val="5F1EBE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150608" y="658368"/>
            <a:ext cx="457200" cy="457200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260336" y="768096"/>
            <a:ext cx="237744" cy="237744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313828" y="821588"/>
            <a:ext cx="130759" cy="130759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357811" y="865571"/>
            <a:ext cx="42793" cy="4279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54112" y="658368"/>
            <a:ext cx="35295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tos"/>
              </a:rPr>
              <a:t>BUSINESS OUTCOMES</a:t>
            </a:r>
          </a:p>
        </p:txBody>
      </p:sp>
      <p:sp>
        <p:nvSpPr>
          <p:cNvPr id="70" name="Freeform 69"/>
          <p:cNvSpPr/>
          <p:nvPr/>
        </p:nvSpPr>
        <p:spPr>
          <a:xfrm>
            <a:off x="7150608" y="1280160"/>
            <a:ext cx="4133088" cy="0"/>
          </a:xfrm>
          <a:custGeom>
            <a:avLst/>
            <a:gdLst/>
            <a:ahLst/>
            <a:cxnLst/>
            <a:rect l="l" t="t" r="r" b="b"/>
            <a:pathLst>
              <a:path w="4133088" h="0">
                <a:moveTo>
                  <a:pt x="0" y="0"/>
                </a:moveTo>
                <a:lnTo>
                  <a:pt x="4133088" y="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150608" y="1389888"/>
            <a:ext cx="1188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ptos"/>
              </a:rPr>
              <a:t>#1</a:t>
            </a:r>
          </a:p>
        </p:txBody>
      </p:sp>
      <p:sp>
        <p:nvSpPr>
          <p:cNvPr id="72" name="Freeform 71"/>
          <p:cNvSpPr/>
          <p:nvPr/>
        </p:nvSpPr>
        <p:spPr>
          <a:xfrm>
            <a:off x="8375904" y="1408176"/>
            <a:ext cx="0" cy="603504"/>
          </a:xfrm>
          <a:custGeom>
            <a:avLst/>
            <a:gdLst/>
            <a:ahLst/>
            <a:cxnLst/>
            <a:rect l="l" t="t" r="r" b="b"/>
            <a:pathLst>
              <a:path w="0" h="603504">
                <a:moveTo>
                  <a:pt x="0" y="0"/>
                </a:moveTo>
                <a:lnTo>
                  <a:pt x="0" y="60350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22208" y="1371600"/>
            <a:ext cx="276148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First DPO Platform Agentic Deal Win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B9C8FF"/>
                </a:solidFill>
                <a:latin typeface="Aptos"/>
              </a:rPr>
              <a:t>Proof of platform market readiness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50608" y="2231136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39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50608" y="276148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Agent Recipes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50608" y="299923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Created and catalogued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72016" y="2231136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20+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272016" y="276148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Reusable Skills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72016" y="299923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Cross-domain skills library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50608" y="3739895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150608" y="42702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Business Domains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50608" y="450799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Benefits · Products · Wealth · Corporate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72016" y="3739895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72016" y="42702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Control Layers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272016" y="450799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Security · Risk · Compliance</a:t>
            </a:r>
          </a:p>
        </p:txBody>
      </p:sp>
      <p:sp>
        <p:nvSpPr>
          <p:cNvPr id="86" name="Freeform 85"/>
          <p:cNvSpPr/>
          <p:nvPr/>
        </p:nvSpPr>
        <p:spPr>
          <a:xfrm>
            <a:off x="9217152" y="2176272"/>
            <a:ext cx="0" cy="2880360"/>
          </a:xfrm>
          <a:custGeom>
            <a:avLst/>
            <a:gdLst/>
            <a:ahLst/>
            <a:cxnLst/>
            <a:rect l="l" t="t" r="r" b="b"/>
            <a:pathLst>
              <a:path w="0" h="2880360">
                <a:moveTo>
                  <a:pt x="0" y="0"/>
                </a:moveTo>
                <a:lnTo>
                  <a:pt x="0" y="288036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7150608" y="3616452"/>
            <a:ext cx="4133088" cy="0"/>
          </a:xfrm>
          <a:custGeom>
            <a:avLst/>
            <a:gdLst/>
            <a:ahLst/>
            <a:cxnLst/>
            <a:rect l="l" t="t" r="r" b="b"/>
            <a:pathLst>
              <a:path w="4133088" h="0">
                <a:moveTo>
                  <a:pt x="0" y="0"/>
                </a:moveTo>
                <a:lnTo>
                  <a:pt x="4133088" y="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7150608" y="5212080"/>
            <a:ext cx="4133088" cy="0"/>
          </a:xfrm>
          <a:custGeom>
            <a:avLst/>
            <a:gdLst/>
            <a:ahLst/>
            <a:cxnLst/>
            <a:rect l="l" t="t" r="r" b="b"/>
            <a:pathLst>
              <a:path w="4133088" h="0">
                <a:moveTo>
                  <a:pt x="0" y="0"/>
                </a:moveTo>
                <a:lnTo>
                  <a:pt x="4133088" y="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7620609" y="5377220"/>
            <a:ext cx="93268" cy="932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7549103" y="5510905"/>
            <a:ext cx="93268" cy="932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692115" y="5510905"/>
            <a:ext cx="93268" cy="932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187183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Platform Reusability</a:t>
            </a:r>
          </a:p>
        </p:txBody>
      </p:sp>
      <p:sp>
        <p:nvSpPr>
          <p:cNvPr id="93" name="Freeform 92"/>
          <p:cNvSpPr/>
          <p:nvPr/>
        </p:nvSpPr>
        <p:spPr>
          <a:xfrm>
            <a:off x="8183880" y="5358384"/>
            <a:ext cx="0" cy="694944"/>
          </a:xfrm>
          <a:custGeom>
            <a:avLst/>
            <a:gdLst/>
            <a:ahLst/>
            <a:cxnLst/>
            <a:rect l="l" t="t" r="r" b="b"/>
            <a:pathLst>
              <a:path w="0" h="694944">
                <a:moveTo>
                  <a:pt x="0" y="0"/>
                </a:moveTo>
                <a:lnTo>
                  <a:pt x="0" y="69494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632118" y="5389656"/>
            <a:ext cx="93268" cy="93268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ound Same Side Corner Rectangle 94"/>
          <p:cNvSpPr/>
          <p:nvPr/>
        </p:nvSpPr>
        <p:spPr>
          <a:xfrm>
            <a:off x="8616574" y="5486034"/>
            <a:ext cx="124358" cy="136794"/>
          </a:xfrm>
          <a:prstGeom prst="round2SameRect">
            <a:avLst>
              <a:gd name="adj1" fmla="val 45000"/>
              <a:gd name="adj2" fmla="val 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16060" y="5389656"/>
            <a:ext cx="93268" cy="93268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ound Same Side Corner Rectangle 96"/>
          <p:cNvSpPr/>
          <p:nvPr/>
        </p:nvSpPr>
        <p:spPr>
          <a:xfrm>
            <a:off x="8700516" y="5486034"/>
            <a:ext cx="124358" cy="136794"/>
          </a:xfrm>
          <a:prstGeom prst="round2SameRect">
            <a:avLst>
              <a:gd name="adj1" fmla="val 45000"/>
              <a:gd name="adj2" fmla="val 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220456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Multi-Function Reach</a:t>
            </a:r>
          </a:p>
        </p:txBody>
      </p:sp>
      <p:sp>
        <p:nvSpPr>
          <p:cNvPr id="99" name="Freeform 98"/>
          <p:cNvSpPr/>
          <p:nvPr/>
        </p:nvSpPr>
        <p:spPr>
          <a:xfrm>
            <a:off x="9217152" y="5358384"/>
            <a:ext cx="0" cy="694944"/>
          </a:xfrm>
          <a:custGeom>
            <a:avLst/>
            <a:gdLst/>
            <a:ahLst/>
            <a:cxnLst/>
            <a:rect l="l" t="t" r="r" b="b"/>
            <a:pathLst>
              <a:path w="0" h="694944">
                <a:moveTo>
                  <a:pt x="0" y="0"/>
                </a:moveTo>
                <a:lnTo>
                  <a:pt x="0" y="69494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9637410" y="5383438"/>
            <a:ext cx="192755" cy="251826"/>
          </a:xfrm>
          <a:custGeom>
            <a:avLst/>
            <a:gdLst/>
            <a:ahLst/>
            <a:cxnLst/>
            <a:rect l="l" t="t" r="r" b="b"/>
            <a:pathLst>
              <a:path w="192755" h="251826">
                <a:moveTo>
                  <a:pt x="0" y="0"/>
                </a:moveTo>
                <a:lnTo>
                  <a:pt x="192755" y="0"/>
                </a:lnTo>
                <a:lnTo>
                  <a:pt x="192755" y="136794"/>
                </a:lnTo>
                <a:lnTo>
                  <a:pt x="96378" y="251826"/>
                </a:lnTo>
                <a:lnTo>
                  <a:pt x="0" y="136794"/>
                </a:lnTo>
                <a:close/>
              </a:path>
            </a:pathLst>
          </a:cu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253728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Agent Governance</a:t>
            </a:r>
          </a:p>
        </p:txBody>
      </p:sp>
      <p:sp>
        <p:nvSpPr>
          <p:cNvPr id="102" name="Freeform 101"/>
          <p:cNvSpPr/>
          <p:nvPr/>
        </p:nvSpPr>
        <p:spPr>
          <a:xfrm>
            <a:off x="10250424" y="5358384"/>
            <a:ext cx="0" cy="694944"/>
          </a:xfrm>
          <a:custGeom>
            <a:avLst/>
            <a:gdLst/>
            <a:ahLst/>
            <a:cxnLst/>
            <a:rect l="l" t="t" r="r" b="b"/>
            <a:pathLst>
              <a:path w="0" h="694944">
                <a:moveTo>
                  <a:pt x="0" y="0"/>
                </a:moveTo>
                <a:lnTo>
                  <a:pt x="0" y="69494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10658246" y="5495361"/>
            <a:ext cx="55961" cy="10570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10742188" y="5420746"/>
            <a:ext cx="55961" cy="180319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10826130" y="5339913"/>
            <a:ext cx="55961" cy="26115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87000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Repeatable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874519" cy="237744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5F1EBE"/>
                </a:solidFill>
                <a:latin typeface="Aptos"/>
              </a:rPr>
              <a:t>ENGINEERING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04672"/>
            <a:ext cx="598932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Aptos"/>
              </a:rPr>
              <a:t>Engineering UiPath — </a:t>
            </a:r>
            <a:r>
              <a:rPr sz="2800" b="1">
                <a:solidFill>
                  <a:srgbClr val="5F1EBE"/>
                </a:solidFill>
                <a:latin typeface="Aptos"/>
              </a:rPr>
              <a:t>and reusing it in DPO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73936"/>
            <a:ext cx="5989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8291A0"/>
                </a:solidFill>
                <a:latin typeface="Aptos"/>
              </a:rPr>
              <a:t>193 engineers across 120+ customer estates turn product work into reusable agent IP.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95728"/>
            <a:ext cx="5989320" cy="18105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8" y="2523744"/>
            <a:ext cx="384048" cy="38404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54633" y="2625791"/>
            <a:ext cx="65836" cy="65836"/>
          </a:xfrm>
          <a:prstGeom prst="roundRect">
            <a:avLst>
              <a:gd name="adj" fmla="val 22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04158" y="2720157"/>
            <a:ext cx="65836" cy="65836"/>
          </a:xfrm>
          <a:prstGeom prst="roundRect">
            <a:avLst>
              <a:gd name="adj" fmla="val 22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05108" y="2720157"/>
            <a:ext cx="65836" cy="65836"/>
          </a:xfrm>
          <a:prstGeom prst="roundRect">
            <a:avLst>
              <a:gd name="adj" fmla="val 22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7592" y="2569464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F1EBE"/>
                </a:solidFill>
                <a:latin typeface="Aptos"/>
              </a:rPr>
              <a:t>Our Position</a:t>
            </a:r>
          </a:p>
        </p:txBody>
      </p:sp>
      <p:sp>
        <p:nvSpPr>
          <p:cNvPr id="11" name="Freeform 10"/>
          <p:cNvSpPr/>
          <p:nvPr/>
        </p:nvSpPr>
        <p:spPr>
          <a:xfrm>
            <a:off x="2825496" y="2542032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505456"/>
            <a:ext cx="34107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Engineering UiPath's platform and customer deployments</a:t>
            </a:r>
          </a:p>
        </p:txBody>
      </p:sp>
      <p:sp>
        <p:nvSpPr>
          <p:cNvPr id="13" name="Freeform 12"/>
          <p:cNvSpPr/>
          <p:nvPr/>
        </p:nvSpPr>
        <p:spPr>
          <a:xfrm>
            <a:off x="795528" y="3017520"/>
            <a:ext cx="5586984" cy="0"/>
          </a:xfrm>
          <a:custGeom>
            <a:avLst/>
            <a:gdLst/>
            <a:ahLst/>
            <a:cxnLst/>
            <a:rect l="l" t="t" r="r" b="b"/>
            <a:pathLst>
              <a:path w="5586984" h="0">
                <a:moveTo>
                  <a:pt x="0" y="0"/>
                </a:moveTo>
                <a:lnTo>
                  <a:pt x="5586984" y="0"/>
                </a:lnTo>
              </a:path>
            </a:pathLst>
          </a:custGeom>
          <a:noFill/>
          <a:ln w="9525">
            <a:solidFill>
              <a:srgbClr val="E6E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528" y="3072384"/>
            <a:ext cx="384048" cy="38404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9271" y="3183209"/>
            <a:ext cx="65836" cy="65836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928298" y="3251240"/>
            <a:ext cx="87782" cy="96560"/>
          </a:xfrm>
          <a:prstGeom prst="round2SameRect">
            <a:avLst>
              <a:gd name="adj1" fmla="val 45000"/>
              <a:gd name="adj2" fmla="val 0"/>
            </a:avLst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8524" y="3183209"/>
            <a:ext cx="65836" cy="65836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987552" y="3251240"/>
            <a:ext cx="87782" cy="96560"/>
          </a:xfrm>
          <a:prstGeom prst="round2SameRect">
            <a:avLst>
              <a:gd name="adj1" fmla="val 45000"/>
              <a:gd name="adj2" fmla="val 0"/>
            </a:avLst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592" y="3118104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F1EBE"/>
                </a:solidFill>
                <a:latin typeface="Aptos"/>
              </a:rPr>
              <a:t>Our Scale</a:t>
            </a:r>
          </a:p>
        </p:txBody>
      </p:sp>
      <p:sp>
        <p:nvSpPr>
          <p:cNvPr id="20" name="Freeform 19"/>
          <p:cNvSpPr/>
          <p:nvPr/>
        </p:nvSpPr>
        <p:spPr>
          <a:xfrm>
            <a:off x="2825496" y="3090672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3054096"/>
            <a:ext cx="34107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193 engineers, 120+ customer estates</a:t>
            </a:r>
          </a:p>
        </p:txBody>
      </p:sp>
      <p:sp>
        <p:nvSpPr>
          <p:cNvPr id="22" name="Freeform 21"/>
          <p:cNvSpPr/>
          <p:nvPr/>
        </p:nvSpPr>
        <p:spPr>
          <a:xfrm>
            <a:off x="795528" y="3566160"/>
            <a:ext cx="5586984" cy="0"/>
          </a:xfrm>
          <a:custGeom>
            <a:avLst/>
            <a:gdLst/>
            <a:ahLst/>
            <a:cxnLst/>
            <a:rect l="l" t="t" r="r" b="b"/>
            <a:pathLst>
              <a:path w="5586984" h="0">
                <a:moveTo>
                  <a:pt x="0" y="0"/>
                </a:moveTo>
                <a:lnTo>
                  <a:pt x="5586984" y="0"/>
                </a:lnTo>
              </a:path>
            </a:pathLst>
          </a:custGeom>
          <a:noFill/>
          <a:ln w="9525">
            <a:solidFill>
              <a:srgbClr val="E6E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5528" y="3621024"/>
            <a:ext cx="384048" cy="38404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19520" y="3727460"/>
            <a:ext cx="136063" cy="177759"/>
          </a:xfrm>
          <a:custGeom>
            <a:avLst/>
            <a:gdLst/>
            <a:ahLst/>
            <a:cxnLst/>
            <a:rect l="l" t="t" r="r" b="b"/>
            <a:pathLst>
              <a:path w="136063" h="177759">
                <a:moveTo>
                  <a:pt x="0" y="0"/>
                </a:moveTo>
                <a:lnTo>
                  <a:pt x="136063" y="0"/>
                </a:lnTo>
                <a:lnTo>
                  <a:pt x="136063" y="96560"/>
                </a:lnTo>
                <a:lnTo>
                  <a:pt x="68032" y="177759"/>
                </a:lnTo>
                <a:lnTo>
                  <a:pt x="0" y="96560"/>
                </a:lnTo>
                <a:close/>
              </a:path>
            </a:pathLst>
          </a:cu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07592" y="3666744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F1EBE"/>
                </a:solidFill>
                <a:latin typeface="Aptos"/>
              </a:rPr>
              <a:t>Our Advantage</a:t>
            </a:r>
          </a:p>
        </p:txBody>
      </p:sp>
      <p:sp>
        <p:nvSpPr>
          <p:cNvPr id="26" name="Freeform 25"/>
          <p:cNvSpPr/>
          <p:nvPr/>
        </p:nvSpPr>
        <p:spPr>
          <a:xfrm>
            <a:off x="2825496" y="3639312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71800" y="3602736"/>
            <a:ext cx="34107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Production agent patterns reused in DPO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4074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5F1EBE"/>
                </a:solidFill>
                <a:latin typeface="Aptos"/>
              </a:rPr>
              <a:t>OUR APPROACH</a:t>
            </a:r>
          </a:p>
        </p:txBody>
      </p:sp>
      <p:sp>
        <p:nvSpPr>
          <p:cNvPr id="29" name="Oval 28"/>
          <p:cNvSpPr/>
          <p:nvPr/>
        </p:nvSpPr>
        <p:spPr>
          <a:xfrm>
            <a:off x="988466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30" name="Oval 29"/>
          <p:cNvSpPr/>
          <p:nvPr/>
        </p:nvSpPr>
        <p:spPr>
          <a:xfrm>
            <a:off x="814730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Gear 6 30"/>
          <p:cNvSpPr/>
          <p:nvPr/>
        </p:nvSpPr>
        <p:spPr>
          <a:xfrm>
            <a:off x="971429" y="5167610"/>
            <a:ext cx="253530" cy="253530"/>
          </a:xfrm>
          <a:prstGeom prst="gear6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62818" y="5258999"/>
            <a:ext cx="70752" cy="70752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5632704"/>
            <a:ext cx="10076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Engineer</a:t>
            </a:r>
          </a:p>
        </p:txBody>
      </p:sp>
      <p:sp>
        <p:nvSpPr>
          <p:cNvPr id="34" name="Freeform 33"/>
          <p:cNvSpPr/>
          <p:nvPr/>
        </p:nvSpPr>
        <p:spPr>
          <a:xfrm>
            <a:off x="1656892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739188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233879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7" name="Oval 36"/>
          <p:cNvSpPr/>
          <p:nvPr/>
        </p:nvSpPr>
        <p:spPr>
          <a:xfrm>
            <a:off x="2060143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Up Arrow 37"/>
          <p:cNvSpPr/>
          <p:nvPr/>
        </p:nvSpPr>
        <p:spPr>
          <a:xfrm rot="2700000">
            <a:off x="2225686" y="5176454"/>
            <a:ext cx="235842" cy="235842"/>
          </a:xfrm>
          <a:prstGeom prst="upArrow">
            <a:avLst>
              <a:gd name="adj1" fmla="val 42000"/>
              <a:gd name="adj2" fmla="val 42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39772" y="5632704"/>
            <a:ext cx="10076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Deploy</a:t>
            </a:r>
          </a:p>
        </p:txBody>
      </p:sp>
      <p:sp>
        <p:nvSpPr>
          <p:cNvPr id="40" name="Freeform 39"/>
          <p:cNvSpPr/>
          <p:nvPr/>
        </p:nvSpPr>
        <p:spPr>
          <a:xfrm>
            <a:off x="2902305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984601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79291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3305556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474047" y="5173506"/>
            <a:ext cx="176881" cy="176881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609656" y="5317960"/>
            <a:ext cx="76648" cy="76648"/>
          </a:xfrm>
          <a:custGeom>
            <a:avLst/>
            <a:gdLst/>
            <a:ahLst/>
            <a:cxnLst/>
            <a:rect l="l" t="t" r="r" b="b"/>
            <a:pathLst>
              <a:path w="76648" h="76648">
                <a:moveTo>
                  <a:pt x="0" y="0"/>
                </a:moveTo>
                <a:lnTo>
                  <a:pt x="76648" y="76648"/>
                </a:lnTo>
              </a:path>
            </a:pathLst>
          </a:custGeom>
          <a:noFill/>
          <a:ln w="1524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85185" y="5632704"/>
            <a:ext cx="10076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Learn</a:t>
            </a:r>
          </a:p>
        </p:txBody>
      </p:sp>
      <p:sp>
        <p:nvSpPr>
          <p:cNvPr id="47" name="Freeform 46"/>
          <p:cNvSpPr/>
          <p:nvPr/>
        </p:nvSpPr>
        <p:spPr>
          <a:xfrm>
            <a:off x="4147718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4230014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24704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50" name="Oval 49"/>
          <p:cNvSpPr/>
          <p:nvPr/>
        </p:nvSpPr>
        <p:spPr>
          <a:xfrm>
            <a:off x="4550968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25355" y="5185299"/>
            <a:ext cx="218153" cy="218153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Isosceles Triangle 51"/>
          <p:cNvSpPr/>
          <p:nvPr/>
        </p:nvSpPr>
        <p:spPr>
          <a:xfrm rot="5400000">
            <a:off x="4860965" y="5205935"/>
            <a:ext cx="88440" cy="76648"/>
          </a:xfrm>
          <a:prstGeom prst="triangl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30598" y="5632704"/>
            <a:ext cx="10076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Reuse</a:t>
            </a:r>
          </a:p>
        </p:txBody>
      </p:sp>
      <p:sp>
        <p:nvSpPr>
          <p:cNvPr id="54" name="Freeform 53"/>
          <p:cNvSpPr/>
          <p:nvPr/>
        </p:nvSpPr>
        <p:spPr>
          <a:xfrm>
            <a:off x="5393131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5475427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970117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57" name="Oval 56"/>
          <p:cNvSpPr/>
          <p:nvPr/>
        </p:nvSpPr>
        <p:spPr>
          <a:xfrm>
            <a:off x="5796381" y="5010912"/>
            <a:ext cx="566928" cy="56692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976664" y="5285531"/>
            <a:ext cx="53064" cy="100232"/>
          </a:xfrm>
          <a:prstGeom prst="roundRect">
            <a:avLst>
              <a:gd name="adj" fmla="val 3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056261" y="5214779"/>
            <a:ext cx="53064" cy="170985"/>
          </a:xfrm>
          <a:prstGeom prst="roundRect">
            <a:avLst>
              <a:gd name="adj" fmla="val 3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135858" y="5138130"/>
            <a:ext cx="53064" cy="247634"/>
          </a:xfrm>
          <a:prstGeom prst="roundRect">
            <a:avLst>
              <a:gd name="adj" fmla="val 3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576011" y="5632704"/>
            <a:ext cx="10076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Scale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839712" y="411480"/>
            <a:ext cx="4754880" cy="5943600"/>
          </a:xfrm>
          <a:prstGeom prst="roundRect">
            <a:avLst>
              <a:gd name="adj" fmla="val 3500"/>
            </a:avLst>
          </a:prstGeom>
          <a:gradFill rotWithShape="1">
            <a:gsLst>
              <a:gs pos="0">
                <a:srgbClr val="411482"/>
              </a:gs>
              <a:gs pos="100000">
                <a:srgbClr val="5F1EBE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150608" y="658368"/>
            <a:ext cx="457200" cy="457200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260336" y="768096"/>
            <a:ext cx="237744" cy="237744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313828" y="821588"/>
            <a:ext cx="130759" cy="130759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357811" y="865571"/>
            <a:ext cx="42793" cy="4279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754112" y="658368"/>
            <a:ext cx="35295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tos"/>
              </a:rPr>
              <a:t>THE AI 360 ADVANTAGE</a:t>
            </a:r>
          </a:p>
        </p:txBody>
      </p:sp>
      <p:sp>
        <p:nvSpPr>
          <p:cNvPr id="68" name="Freeform 67"/>
          <p:cNvSpPr/>
          <p:nvPr/>
        </p:nvSpPr>
        <p:spPr>
          <a:xfrm>
            <a:off x="7150608" y="1280160"/>
            <a:ext cx="4133088" cy="0"/>
          </a:xfrm>
          <a:custGeom>
            <a:avLst/>
            <a:gdLst/>
            <a:ahLst/>
            <a:cxnLst/>
            <a:rect l="l" t="t" r="r" b="b"/>
            <a:pathLst>
              <a:path w="4133088" h="0">
                <a:moveTo>
                  <a:pt x="0" y="0"/>
                </a:moveTo>
                <a:lnTo>
                  <a:pt x="4133088" y="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50608" y="1389888"/>
            <a:ext cx="14173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ptos"/>
              </a:rPr>
              <a:t>3-in-1</a:t>
            </a:r>
          </a:p>
        </p:txBody>
      </p:sp>
      <p:sp>
        <p:nvSpPr>
          <p:cNvPr id="70" name="Freeform 69"/>
          <p:cNvSpPr/>
          <p:nvPr/>
        </p:nvSpPr>
        <p:spPr>
          <a:xfrm>
            <a:off x="8604504" y="1408176"/>
            <a:ext cx="0" cy="603504"/>
          </a:xfrm>
          <a:custGeom>
            <a:avLst/>
            <a:gdLst/>
            <a:ahLst/>
            <a:cxnLst/>
            <a:rect l="l" t="t" r="r" b="b"/>
            <a:pathLst>
              <a:path w="0" h="603504">
                <a:moveTo>
                  <a:pt x="0" y="0"/>
                </a:moveTo>
                <a:lnTo>
                  <a:pt x="0" y="60350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750808" y="1371600"/>
            <a:ext cx="253288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Product Engineering + Customer Delivery + DPO Reuse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B9C8FF"/>
                </a:solidFill>
                <a:latin typeface="Aptos"/>
              </a:rPr>
              <a:t>One team, three advantages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50608" y="2231136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120+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50608" y="276148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Customer Estates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50608" y="299923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Live UiPath deployments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72016" y="2231136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193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72016" y="276148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Platform Engineers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72016" y="299923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Product build plus delivery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50608" y="3739895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65+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50608" y="42702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Production Agents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50608" y="450799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Patterns available for reuse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72016" y="3739895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72016" y="42702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Industry Clusters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72016" y="450799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Coverage across verticals</a:t>
            </a:r>
          </a:p>
        </p:txBody>
      </p:sp>
      <p:sp>
        <p:nvSpPr>
          <p:cNvPr id="84" name="Freeform 83"/>
          <p:cNvSpPr/>
          <p:nvPr/>
        </p:nvSpPr>
        <p:spPr>
          <a:xfrm>
            <a:off x="9217152" y="2176272"/>
            <a:ext cx="0" cy="2880360"/>
          </a:xfrm>
          <a:custGeom>
            <a:avLst/>
            <a:gdLst/>
            <a:ahLst/>
            <a:cxnLst/>
            <a:rect l="l" t="t" r="r" b="b"/>
            <a:pathLst>
              <a:path w="0" h="2880360">
                <a:moveTo>
                  <a:pt x="0" y="0"/>
                </a:moveTo>
                <a:lnTo>
                  <a:pt x="0" y="288036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7150608" y="3616452"/>
            <a:ext cx="4133088" cy="0"/>
          </a:xfrm>
          <a:custGeom>
            <a:avLst/>
            <a:gdLst/>
            <a:ahLst/>
            <a:cxnLst/>
            <a:rect l="l" t="t" r="r" b="b"/>
            <a:pathLst>
              <a:path w="4133088" h="0">
                <a:moveTo>
                  <a:pt x="0" y="0"/>
                </a:moveTo>
                <a:lnTo>
                  <a:pt x="4133088" y="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7150608" y="5212080"/>
            <a:ext cx="4133088" cy="0"/>
          </a:xfrm>
          <a:custGeom>
            <a:avLst/>
            <a:gdLst/>
            <a:ahLst/>
            <a:cxnLst/>
            <a:rect l="l" t="t" r="r" b="b"/>
            <a:pathLst>
              <a:path w="4133088" h="0">
                <a:moveTo>
                  <a:pt x="0" y="0"/>
                </a:moveTo>
                <a:lnTo>
                  <a:pt x="4133088" y="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7620609" y="5377220"/>
            <a:ext cx="93268" cy="932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7549103" y="5510905"/>
            <a:ext cx="93268" cy="932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7692115" y="5510905"/>
            <a:ext cx="93268" cy="932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87183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Product Influence</a:t>
            </a:r>
          </a:p>
        </p:txBody>
      </p:sp>
      <p:sp>
        <p:nvSpPr>
          <p:cNvPr id="91" name="Freeform 90"/>
          <p:cNvSpPr/>
          <p:nvPr/>
        </p:nvSpPr>
        <p:spPr>
          <a:xfrm>
            <a:off x="8183880" y="5358384"/>
            <a:ext cx="0" cy="694944"/>
          </a:xfrm>
          <a:custGeom>
            <a:avLst/>
            <a:gdLst/>
            <a:ahLst/>
            <a:cxnLst/>
            <a:rect l="l" t="t" r="r" b="b"/>
            <a:pathLst>
              <a:path w="0" h="694944">
                <a:moveTo>
                  <a:pt x="0" y="0"/>
                </a:moveTo>
                <a:lnTo>
                  <a:pt x="0" y="69494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632118" y="5389656"/>
            <a:ext cx="93268" cy="93268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ound Same Side Corner Rectangle 92"/>
          <p:cNvSpPr/>
          <p:nvPr/>
        </p:nvSpPr>
        <p:spPr>
          <a:xfrm>
            <a:off x="8616574" y="5486034"/>
            <a:ext cx="124358" cy="136794"/>
          </a:xfrm>
          <a:prstGeom prst="round2SameRect">
            <a:avLst>
              <a:gd name="adj1" fmla="val 45000"/>
              <a:gd name="adj2" fmla="val 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716060" y="5389656"/>
            <a:ext cx="93268" cy="93268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ound Same Side Corner Rectangle 94"/>
          <p:cNvSpPr/>
          <p:nvPr/>
        </p:nvSpPr>
        <p:spPr>
          <a:xfrm>
            <a:off x="8700516" y="5486034"/>
            <a:ext cx="124358" cy="136794"/>
          </a:xfrm>
          <a:prstGeom prst="round2SameRect">
            <a:avLst>
              <a:gd name="adj1" fmla="val 45000"/>
              <a:gd name="adj2" fmla="val 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220456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Customer Proximity</a:t>
            </a:r>
          </a:p>
        </p:txBody>
      </p:sp>
      <p:sp>
        <p:nvSpPr>
          <p:cNvPr id="97" name="Freeform 96"/>
          <p:cNvSpPr/>
          <p:nvPr/>
        </p:nvSpPr>
        <p:spPr>
          <a:xfrm>
            <a:off x="9217152" y="5358384"/>
            <a:ext cx="0" cy="694944"/>
          </a:xfrm>
          <a:custGeom>
            <a:avLst/>
            <a:gdLst/>
            <a:ahLst/>
            <a:cxnLst/>
            <a:rect l="l" t="t" r="r" b="b"/>
            <a:pathLst>
              <a:path w="0" h="694944">
                <a:moveTo>
                  <a:pt x="0" y="0"/>
                </a:moveTo>
                <a:lnTo>
                  <a:pt x="0" y="69494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702698" y="5389656"/>
            <a:ext cx="62179" cy="62179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634301" y="5548213"/>
            <a:ext cx="49743" cy="49743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9708916" y="5548213"/>
            <a:ext cx="49743" cy="49743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9783531" y="5548213"/>
            <a:ext cx="49743" cy="49743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9659172" y="5517123"/>
            <a:ext cx="149231" cy="0"/>
          </a:xfrm>
          <a:custGeom>
            <a:avLst/>
            <a:gdLst/>
            <a:ahLst/>
            <a:cxnLst/>
            <a:rect l="l" t="t" r="r" b="b"/>
            <a:pathLst>
              <a:path w="149231" h="0">
                <a:moveTo>
                  <a:pt x="0" y="0"/>
                </a:moveTo>
                <a:lnTo>
                  <a:pt x="149231" y="0"/>
                </a:lnTo>
              </a:path>
            </a:pathLst>
          </a:custGeom>
          <a:noFill/>
          <a:ln w="1079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253728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Reusable Agent IP</a:t>
            </a:r>
          </a:p>
        </p:txBody>
      </p:sp>
      <p:sp>
        <p:nvSpPr>
          <p:cNvPr id="104" name="Freeform 103"/>
          <p:cNvSpPr/>
          <p:nvPr/>
        </p:nvSpPr>
        <p:spPr>
          <a:xfrm>
            <a:off x="10250424" y="5358384"/>
            <a:ext cx="0" cy="694944"/>
          </a:xfrm>
          <a:custGeom>
            <a:avLst/>
            <a:gdLst/>
            <a:ahLst/>
            <a:cxnLst/>
            <a:rect l="l" t="t" r="r" b="b"/>
            <a:pathLst>
              <a:path w="0" h="694944">
                <a:moveTo>
                  <a:pt x="0" y="0"/>
                </a:moveTo>
                <a:lnTo>
                  <a:pt x="0" y="69494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10658246" y="5495361"/>
            <a:ext cx="55961" cy="10570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10742188" y="5420746"/>
            <a:ext cx="55961" cy="180319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10826130" y="5339913"/>
            <a:ext cx="55961" cy="26115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287000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DPO Scale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874519" cy="237744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5F1EBE"/>
                </a:solidFill>
                <a:latin typeface="Aptos"/>
              </a:rPr>
              <a:t>ENGINEERING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04672"/>
            <a:ext cx="598932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Aptos"/>
              </a:rPr>
              <a:t>Quote-to-book, zero touch: </a:t>
            </a:r>
            <a:r>
              <a:rPr sz="2800" b="1">
                <a:solidFill>
                  <a:srgbClr val="5F1EBE"/>
                </a:solidFill>
                <a:latin typeface="Aptos"/>
              </a:rPr>
              <a:t>~90 checks to none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73936"/>
            <a:ext cx="5989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8291A0"/>
                </a:solidFill>
                <a:latin typeface="Aptos"/>
              </a:rPr>
              <a:t>Google: OPUS IP automates validation, reconciliation and booking across 10+ enterprise systems.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95728"/>
            <a:ext cx="5989320" cy="18105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8" y="2523744"/>
            <a:ext cx="384048" cy="38404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7824" y="2606040"/>
            <a:ext cx="219456" cy="219456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7201" y="2655417"/>
            <a:ext cx="120700" cy="120700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7800" y="2696016"/>
            <a:ext cx="39502" cy="39502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7592" y="2569464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F1EBE"/>
                </a:solidFill>
                <a:latin typeface="Aptos"/>
              </a:rPr>
              <a:t>The Challenge</a:t>
            </a:r>
          </a:p>
        </p:txBody>
      </p:sp>
      <p:sp>
        <p:nvSpPr>
          <p:cNvPr id="11" name="Freeform 10"/>
          <p:cNvSpPr/>
          <p:nvPr/>
        </p:nvSpPr>
        <p:spPr>
          <a:xfrm>
            <a:off x="2825496" y="2542032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505456"/>
            <a:ext cx="34107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Manual validation across 10+ systems, ~90 checks</a:t>
            </a:r>
          </a:p>
        </p:txBody>
      </p:sp>
      <p:sp>
        <p:nvSpPr>
          <p:cNvPr id="13" name="Freeform 12"/>
          <p:cNvSpPr/>
          <p:nvPr/>
        </p:nvSpPr>
        <p:spPr>
          <a:xfrm>
            <a:off x="795528" y="3017520"/>
            <a:ext cx="5586984" cy="0"/>
          </a:xfrm>
          <a:custGeom>
            <a:avLst/>
            <a:gdLst/>
            <a:ahLst/>
            <a:cxnLst/>
            <a:rect l="l" t="t" r="r" b="b"/>
            <a:pathLst>
              <a:path w="5586984" h="0">
                <a:moveTo>
                  <a:pt x="0" y="0"/>
                </a:moveTo>
                <a:lnTo>
                  <a:pt x="5586984" y="0"/>
                </a:lnTo>
              </a:path>
            </a:pathLst>
          </a:custGeom>
          <a:noFill/>
          <a:ln w="9525">
            <a:solidFill>
              <a:srgbClr val="E6E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528" y="3072384"/>
            <a:ext cx="384048" cy="38404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 rot="2700000">
            <a:off x="899769" y="3176625"/>
            <a:ext cx="175564" cy="175564"/>
          </a:xfrm>
          <a:prstGeom prst="upArrow">
            <a:avLst>
              <a:gd name="adj1" fmla="val 42000"/>
              <a:gd name="adj2" fmla="val 42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07592" y="3118104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F1EBE"/>
                </a:solidFill>
                <a:latin typeface="Aptos"/>
              </a:rPr>
              <a:t>The Objective</a:t>
            </a:r>
          </a:p>
        </p:txBody>
      </p:sp>
      <p:sp>
        <p:nvSpPr>
          <p:cNvPr id="17" name="Freeform 16"/>
          <p:cNvSpPr/>
          <p:nvPr/>
        </p:nvSpPr>
        <p:spPr>
          <a:xfrm>
            <a:off x="2825496" y="3090672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800" y="3054096"/>
            <a:ext cx="34107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Zero-touch validation, reconciliation, booking, exceptions</a:t>
            </a:r>
          </a:p>
        </p:txBody>
      </p:sp>
      <p:sp>
        <p:nvSpPr>
          <p:cNvPr id="19" name="Freeform 18"/>
          <p:cNvSpPr/>
          <p:nvPr/>
        </p:nvSpPr>
        <p:spPr>
          <a:xfrm>
            <a:off x="795528" y="3566160"/>
            <a:ext cx="5586984" cy="0"/>
          </a:xfrm>
          <a:custGeom>
            <a:avLst/>
            <a:gdLst/>
            <a:ahLst/>
            <a:cxnLst/>
            <a:rect l="l" t="t" r="r" b="b"/>
            <a:pathLst>
              <a:path w="5586984" h="0">
                <a:moveTo>
                  <a:pt x="0" y="0"/>
                </a:moveTo>
                <a:lnTo>
                  <a:pt x="5586984" y="0"/>
                </a:lnTo>
              </a:path>
            </a:pathLst>
          </a:custGeom>
          <a:noFill/>
          <a:ln w="9525">
            <a:solidFill>
              <a:srgbClr val="E6E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5528" y="3621024"/>
            <a:ext cx="384048" cy="38404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9520" y="3703320"/>
            <a:ext cx="136062" cy="136062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9022" y="3824020"/>
            <a:ext cx="57058" cy="70225"/>
          </a:xfrm>
          <a:prstGeom prst="roundRect">
            <a:avLst>
              <a:gd name="adj" fmla="val 4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592" y="3666744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F1EBE"/>
                </a:solidFill>
                <a:latin typeface="Aptos"/>
              </a:rPr>
              <a:t>The Solution</a:t>
            </a:r>
          </a:p>
        </p:txBody>
      </p:sp>
      <p:sp>
        <p:nvSpPr>
          <p:cNvPr id="24" name="Freeform 23"/>
          <p:cNvSpPr/>
          <p:nvPr/>
        </p:nvSpPr>
        <p:spPr>
          <a:xfrm>
            <a:off x="2825496" y="3639312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800" y="3602736"/>
            <a:ext cx="34107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OPUS IP — AI-driven automation on Google Cloud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4074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5F1EBE"/>
                </a:solidFill>
                <a:latin typeface="Aptos"/>
              </a:rPr>
              <a:t>HOW IT WORKS</a:t>
            </a:r>
          </a:p>
        </p:txBody>
      </p:sp>
      <p:sp>
        <p:nvSpPr>
          <p:cNvPr id="27" name="Oval 26"/>
          <p:cNvSpPr/>
          <p:nvPr/>
        </p:nvSpPr>
        <p:spPr>
          <a:xfrm>
            <a:off x="915162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8" name="Oval 27"/>
          <p:cNvSpPr/>
          <p:nvPr/>
        </p:nvSpPr>
        <p:spPr>
          <a:xfrm>
            <a:off x="775182" y="5044668"/>
            <a:ext cx="499414" cy="499414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44384" y="5182706"/>
            <a:ext cx="161011" cy="223338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980741" y="5232049"/>
            <a:ext cx="88297" cy="0"/>
          </a:xfrm>
          <a:custGeom>
            <a:avLst/>
            <a:gdLst/>
            <a:ahLst/>
            <a:cxnLst/>
            <a:rect l="l" t="t" r="r" b="b"/>
            <a:pathLst>
              <a:path w="88297" h="0">
                <a:moveTo>
                  <a:pt x="0" y="0"/>
                </a:moveTo>
                <a:lnTo>
                  <a:pt x="88297" y="0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980741" y="5286585"/>
            <a:ext cx="88297" cy="0"/>
          </a:xfrm>
          <a:custGeom>
            <a:avLst/>
            <a:gdLst/>
            <a:ahLst/>
            <a:cxnLst/>
            <a:rect l="l" t="t" r="r" b="b"/>
            <a:pathLst>
              <a:path w="88297" h="0">
                <a:moveTo>
                  <a:pt x="0" y="0"/>
                </a:moveTo>
                <a:lnTo>
                  <a:pt x="88297" y="0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980741" y="5341121"/>
            <a:ext cx="88297" cy="0"/>
          </a:xfrm>
          <a:custGeom>
            <a:avLst/>
            <a:gdLst/>
            <a:ahLst/>
            <a:cxnLst/>
            <a:rect l="l" t="t" r="r" b="b"/>
            <a:pathLst>
              <a:path w="88297" h="0">
                <a:moveTo>
                  <a:pt x="0" y="0"/>
                </a:moveTo>
                <a:lnTo>
                  <a:pt x="88297" y="0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59" y="5632704"/>
            <a:ext cx="8610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Aptos"/>
              </a:rPr>
              <a:t>Case Intake</a:t>
            </a:r>
          </a:p>
        </p:txBody>
      </p:sp>
      <p:sp>
        <p:nvSpPr>
          <p:cNvPr id="34" name="Freeform 33"/>
          <p:cNvSpPr/>
          <p:nvPr/>
        </p:nvSpPr>
        <p:spPr>
          <a:xfrm>
            <a:off x="1473708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556004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940814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7" name="Oval 36"/>
          <p:cNvSpPr/>
          <p:nvPr/>
        </p:nvSpPr>
        <p:spPr>
          <a:xfrm>
            <a:off x="1800834" y="5044668"/>
            <a:ext cx="499414" cy="499414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949260" y="5187900"/>
            <a:ext cx="155817" cy="155817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068720" y="5315151"/>
            <a:ext cx="67521" cy="67521"/>
          </a:xfrm>
          <a:custGeom>
            <a:avLst/>
            <a:gdLst/>
            <a:ahLst/>
            <a:cxnLst/>
            <a:rect l="l" t="t" r="r" b="b"/>
            <a:pathLst>
              <a:path w="67521" h="67521">
                <a:moveTo>
                  <a:pt x="0" y="0"/>
                </a:moveTo>
                <a:lnTo>
                  <a:pt x="67521" y="67521"/>
                </a:lnTo>
              </a:path>
            </a:pathLst>
          </a:custGeom>
          <a:noFill/>
          <a:ln w="1524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20012" y="5632704"/>
            <a:ext cx="8610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Aptos"/>
              </a:rPr>
              <a:t>Intelligent Validation</a:t>
            </a:r>
          </a:p>
        </p:txBody>
      </p:sp>
      <p:sp>
        <p:nvSpPr>
          <p:cNvPr id="41" name="Freeform 40"/>
          <p:cNvSpPr/>
          <p:nvPr/>
        </p:nvSpPr>
        <p:spPr>
          <a:xfrm>
            <a:off x="2499360" y="5294376"/>
            <a:ext cx="128015" cy="0"/>
          </a:xfrm>
          <a:custGeom>
            <a:avLst/>
            <a:gdLst/>
            <a:ahLst/>
            <a:cxnLst/>
            <a:rect l="l" t="t" r="r" b="b"/>
            <a:pathLst>
              <a:path w="128015" h="0">
                <a:moveTo>
                  <a:pt x="0" y="0"/>
                </a:moveTo>
                <a:lnTo>
                  <a:pt x="128015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581656" y="5248656"/>
            <a:ext cx="45719" cy="91440"/>
          </a:xfrm>
          <a:custGeom>
            <a:avLst/>
            <a:gdLst/>
            <a:ahLst/>
            <a:cxnLst/>
            <a:rect l="l" t="t" r="r" b="b"/>
            <a:pathLst>
              <a:path w="45719" h="91440">
                <a:moveTo>
                  <a:pt x="0" y="0"/>
                </a:moveTo>
                <a:lnTo>
                  <a:pt x="45719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66466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44" name="Oval 43"/>
          <p:cNvSpPr/>
          <p:nvPr/>
        </p:nvSpPr>
        <p:spPr>
          <a:xfrm>
            <a:off x="2826486" y="5044668"/>
            <a:ext cx="499414" cy="499414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85300" y="5187900"/>
            <a:ext cx="181786" cy="77908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85300" y="5271003"/>
            <a:ext cx="181786" cy="77908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985300" y="5354106"/>
            <a:ext cx="181786" cy="77908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45664" y="5632704"/>
            <a:ext cx="8610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Aptos"/>
              </a:rPr>
              <a:t>Reconciliation</a:t>
            </a:r>
          </a:p>
        </p:txBody>
      </p:sp>
      <p:sp>
        <p:nvSpPr>
          <p:cNvPr id="49" name="Freeform 48"/>
          <p:cNvSpPr/>
          <p:nvPr/>
        </p:nvSpPr>
        <p:spPr>
          <a:xfrm>
            <a:off x="3525012" y="5294376"/>
            <a:ext cx="128015" cy="0"/>
          </a:xfrm>
          <a:custGeom>
            <a:avLst/>
            <a:gdLst/>
            <a:ahLst/>
            <a:cxnLst/>
            <a:rect l="l" t="t" r="r" b="b"/>
            <a:pathLst>
              <a:path w="128015" h="0">
                <a:moveTo>
                  <a:pt x="0" y="0"/>
                </a:moveTo>
                <a:lnTo>
                  <a:pt x="128015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3607308" y="5248656"/>
            <a:ext cx="45719" cy="91440"/>
          </a:xfrm>
          <a:custGeom>
            <a:avLst/>
            <a:gdLst/>
            <a:ahLst/>
            <a:cxnLst/>
            <a:rect l="l" t="t" r="r" b="b"/>
            <a:pathLst>
              <a:path w="45719" h="91440">
                <a:moveTo>
                  <a:pt x="0" y="0"/>
                </a:moveTo>
                <a:lnTo>
                  <a:pt x="45719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992118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52" name="Oval 51"/>
          <p:cNvSpPr/>
          <p:nvPr/>
        </p:nvSpPr>
        <p:spPr>
          <a:xfrm>
            <a:off x="3852138" y="5044668"/>
            <a:ext cx="499414" cy="499414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021340" y="5182706"/>
            <a:ext cx="161011" cy="223338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4057697" y="5232049"/>
            <a:ext cx="88297" cy="0"/>
          </a:xfrm>
          <a:custGeom>
            <a:avLst/>
            <a:gdLst/>
            <a:ahLst/>
            <a:cxnLst/>
            <a:rect l="l" t="t" r="r" b="b"/>
            <a:pathLst>
              <a:path w="88297" h="0">
                <a:moveTo>
                  <a:pt x="0" y="0"/>
                </a:moveTo>
                <a:lnTo>
                  <a:pt x="88297" y="0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057697" y="5286585"/>
            <a:ext cx="88297" cy="0"/>
          </a:xfrm>
          <a:custGeom>
            <a:avLst/>
            <a:gdLst/>
            <a:ahLst/>
            <a:cxnLst/>
            <a:rect l="l" t="t" r="r" b="b"/>
            <a:pathLst>
              <a:path w="88297" h="0">
                <a:moveTo>
                  <a:pt x="0" y="0"/>
                </a:moveTo>
                <a:lnTo>
                  <a:pt x="88297" y="0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4057697" y="5341121"/>
            <a:ext cx="88297" cy="0"/>
          </a:xfrm>
          <a:custGeom>
            <a:avLst/>
            <a:gdLst/>
            <a:ahLst/>
            <a:cxnLst/>
            <a:rect l="l" t="t" r="r" b="b"/>
            <a:pathLst>
              <a:path w="88297" h="0">
                <a:moveTo>
                  <a:pt x="0" y="0"/>
                </a:moveTo>
                <a:lnTo>
                  <a:pt x="88297" y="0"/>
                </a:lnTo>
              </a:path>
            </a:pathLst>
          </a:custGeom>
          <a:noFill/>
          <a:ln w="1079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4122621" y="5286585"/>
            <a:ext cx="90894" cy="77908"/>
          </a:xfrm>
          <a:custGeom>
            <a:avLst/>
            <a:gdLst/>
            <a:ahLst/>
            <a:cxnLst/>
            <a:rect l="l" t="t" r="r" b="b"/>
            <a:pathLst>
              <a:path w="90894" h="77908">
                <a:moveTo>
                  <a:pt x="0" y="46745"/>
                </a:moveTo>
                <a:lnTo>
                  <a:pt x="31164" y="77908"/>
                </a:lnTo>
                <a:lnTo>
                  <a:pt x="90894" y="0"/>
                </a:lnTo>
              </a:path>
            </a:pathLst>
          </a:custGeom>
          <a:noFill/>
          <a:ln w="1397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71316" y="5632704"/>
            <a:ext cx="8610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Aptos"/>
              </a:rPr>
              <a:t>Booking Automation</a:t>
            </a:r>
          </a:p>
        </p:txBody>
      </p:sp>
      <p:sp>
        <p:nvSpPr>
          <p:cNvPr id="59" name="Freeform 58"/>
          <p:cNvSpPr/>
          <p:nvPr/>
        </p:nvSpPr>
        <p:spPr>
          <a:xfrm>
            <a:off x="4550664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632960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017770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62" name="Oval 61"/>
          <p:cNvSpPr/>
          <p:nvPr/>
        </p:nvSpPr>
        <p:spPr>
          <a:xfrm>
            <a:off x="4877790" y="5044668"/>
            <a:ext cx="499414" cy="499414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997650" y="5164528"/>
            <a:ext cx="259695" cy="259695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056081" y="5222959"/>
            <a:ext cx="142832" cy="142832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104125" y="5271003"/>
            <a:ext cx="46745" cy="46745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96968" y="5632704"/>
            <a:ext cx="8610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Aptos"/>
              </a:rPr>
              <a:t>Exception Handling</a:t>
            </a:r>
          </a:p>
        </p:txBody>
      </p:sp>
      <p:sp>
        <p:nvSpPr>
          <p:cNvPr id="67" name="Freeform 66"/>
          <p:cNvSpPr/>
          <p:nvPr/>
        </p:nvSpPr>
        <p:spPr>
          <a:xfrm>
            <a:off x="5576316" y="5294376"/>
            <a:ext cx="128016" cy="0"/>
          </a:xfrm>
          <a:custGeom>
            <a:avLst/>
            <a:gdLst/>
            <a:ahLst/>
            <a:cxnLst/>
            <a:rect l="l" t="t" r="r" b="b"/>
            <a:pathLst>
              <a:path w="128016" h="0">
                <a:moveTo>
                  <a:pt x="0" y="0"/>
                </a:moveTo>
                <a:lnTo>
                  <a:pt x="128016" y="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5658612" y="5248656"/>
            <a:ext cx="45720" cy="91440"/>
          </a:xfrm>
          <a:custGeom>
            <a:avLst/>
            <a:gdLst/>
            <a:ahLst/>
            <a:cxnLst/>
            <a:rect l="l" t="t" r="r" b="b"/>
            <a:pathLst>
              <a:path w="45720" h="91440">
                <a:moveTo>
                  <a:pt x="0" y="0"/>
                </a:moveTo>
                <a:lnTo>
                  <a:pt x="45720" y="45720"/>
                </a:lnTo>
                <a:lnTo>
                  <a:pt x="0" y="91440"/>
                </a:lnTo>
              </a:path>
            </a:pathLst>
          </a:custGeom>
          <a:noFill/>
          <a:ln w="12700">
            <a:solidFill>
              <a:srgbClr val="8291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043422" y="471830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70" name="Oval 69"/>
          <p:cNvSpPr/>
          <p:nvPr/>
        </p:nvSpPr>
        <p:spPr>
          <a:xfrm>
            <a:off x="5903442" y="5044668"/>
            <a:ext cx="499414" cy="499414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6072644" y="5193094"/>
            <a:ext cx="161011" cy="210354"/>
          </a:xfrm>
          <a:custGeom>
            <a:avLst/>
            <a:gdLst/>
            <a:ahLst/>
            <a:cxnLst/>
            <a:rect l="l" t="t" r="r" b="b"/>
            <a:pathLst>
              <a:path w="161011" h="210354">
                <a:moveTo>
                  <a:pt x="0" y="0"/>
                </a:moveTo>
                <a:lnTo>
                  <a:pt x="161011" y="0"/>
                </a:lnTo>
                <a:lnTo>
                  <a:pt x="161011" y="114266"/>
                </a:lnTo>
                <a:lnTo>
                  <a:pt x="80506" y="210354"/>
                </a:lnTo>
                <a:lnTo>
                  <a:pt x="0" y="114266"/>
                </a:lnTo>
                <a:close/>
              </a:path>
            </a:pathLst>
          </a:cu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722620" y="5632704"/>
            <a:ext cx="8610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Aptos"/>
              </a:rPr>
              <a:t>Audit &amp; Reporting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839712" y="411480"/>
            <a:ext cx="4754880" cy="5943600"/>
          </a:xfrm>
          <a:prstGeom prst="roundRect">
            <a:avLst>
              <a:gd name="adj" fmla="val 3500"/>
            </a:avLst>
          </a:prstGeom>
          <a:gradFill rotWithShape="1">
            <a:gsLst>
              <a:gs pos="0">
                <a:srgbClr val="411482"/>
              </a:gs>
              <a:gs pos="100000">
                <a:srgbClr val="5F1EBE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150608" y="658368"/>
            <a:ext cx="457200" cy="457200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295997" y="879835"/>
            <a:ext cx="42793" cy="808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360188" y="822777"/>
            <a:ext cx="42793" cy="137891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424379" y="760963"/>
            <a:ext cx="42793" cy="19970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754112" y="658368"/>
            <a:ext cx="35295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tos"/>
              </a:rPr>
              <a:t>THE IMPACT</a:t>
            </a:r>
          </a:p>
        </p:txBody>
      </p:sp>
      <p:sp>
        <p:nvSpPr>
          <p:cNvPr id="79" name="Freeform 78"/>
          <p:cNvSpPr/>
          <p:nvPr/>
        </p:nvSpPr>
        <p:spPr>
          <a:xfrm>
            <a:off x="7150608" y="1280160"/>
            <a:ext cx="4133088" cy="0"/>
          </a:xfrm>
          <a:custGeom>
            <a:avLst/>
            <a:gdLst/>
            <a:ahLst/>
            <a:cxnLst/>
            <a:rect l="l" t="t" r="r" b="b"/>
            <a:pathLst>
              <a:path w="4133088" h="0">
                <a:moveTo>
                  <a:pt x="0" y="0"/>
                </a:moveTo>
                <a:lnTo>
                  <a:pt x="4133088" y="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50608" y="1408176"/>
            <a:ext cx="41330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C8FF"/>
                </a:solidFill>
                <a:latin typeface="Aptos"/>
              </a:rPr>
              <a:t>OPUS IP delivered a scalable, zero-touch operations framework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150608" y="2231136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~90 → 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50608" y="276148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Manual Checks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150608" y="299923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Validation steps eliminated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72016" y="2231136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~120 → 25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272016" y="276148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Minutes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272016" y="299923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Overall processing time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50608" y="3739895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5X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50608" y="42702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Throughput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150608" y="450799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Orders processed per run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72016" y="3739895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"/>
              </a:rPr>
              <a:t>90%+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272016" y="42702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ptos"/>
              </a:rPr>
              <a:t>Seller Experience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72016" y="450799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B9C8FF"/>
                </a:solidFill>
                <a:latin typeface="Aptos"/>
              </a:rPr>
              <a:t>Satisfaction score</a:t>
            </a:r>
          </a:p>
        </p:txBody>
      </p:sp>
      <p:sp>
        <p:nvSpPr>
          <p:cNvPr id="93" name="Freeform 92"/>
          <p:cNvSpPr/>
          <p:nvPr/>
        </p:nvSpPr>
        <p:spPr>
          <a:xfrm>
            <a:off x="9217152" y="2176272"/>
            <a:ext cx="0" cy="2880360"/>
          </a:xfrm>
          <a:custGeom>
            <a:avLst/>
            <a:gdLst/>
            <a:ahLst/>
            <a:cxnLst/>
            <a:rect l="l" t="t" r="r" b="b"/>
            <a:pathLst>
              <a:path w="0" h="2880360">
                <a:moveTo>
                  <a:pt x="0" y="0"/>
                </a:moveTo>
                <a:lnTo>
                  <a:pt x="0" y="288036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7150608" y="3616452"/>
            <a:ext cx="4133088" cy="0"/>
          </a:xfrm>
          <a:custGeom>
            <a:avLst/>
            <a:gdLst/>
            <a:ahLst/>
            <a:cxnLst/>
            <a:rect l="l" t="t" r="r" b="b"/>
            <a:pathLst>
              <a:path w="4133088" h="0">
                <a:moveTo>
                  <a:pt x="0" y="0"/>
                </a:moveTo>
                <a:lnTo>
                  <a:pt x="4133088" y="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7150608" y="5212080"/>
            <a:ext cx="4133088" cy="0"/>
          </a:xfrm>
          <a:custGeom>
            <a:avLst/>
            <a:gdLst/>
            <a:ahLst/>
            <a:cxnLst/>
            <a:rect l="l" t="t" r="r" b="b"/>
            <a:pathLst>
              <a:path w="4133088" h="0">
                <a:moveTo>
                  <a:pt x="0" y="0"/>
                </a:moveTo>
                <a:lnTo>
                  <a:pt x="4133088" y="0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Up Arrow 95"/>
          <p:cNvSpPr/>
          <p:nvPr/>
        </p:nvSpPr>
        <p:spPr>
          <a:xfrm rot="2700000">
            <a:off x="7542885" y="5380329"/>
            <a:ext cx="248716" cy="248716"/>
          </a:xfrm>
          <a:prstGeom prst="upArrow">
            <a:avLst>
              <a:gd name="adj1" fmla="val 42000"/>
              <a:gd name="adj2" fmla="val 4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87183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Faster Cycle Time</a:t>
            </a:r>
          </a:p>
        </p:txBody>
      </p:sp>
      <p:sp>
        <p:nvSpPr>
          <p:cNvPr id="98" name="Freeform 97"/>
          <p:cNvSpPr/>
          <p:nvPr/>
        </p:nvSpPr>
        <p:spPr>
          <a:xfrm>
            <a:off x="8183880" y="5358384"/>
            <a:ext cx="0" cy="694944"/>
          </a:xfrm>
          <a:custGeom>
            <a:avLst/>
            <a:gdLst/>
            <a:ahLst/>
            <a:cxnLst/>
            <a:rect l="l" t="t" r="r" b="b"/>
            <a:pathLst>
              <a:path w="0" h="694944">
                <a:moveTo>
                  <a:pt x="0" y="0"/>
                </a:moveTo>
                <a:lnTo>
                  <a:pt x="0" y="69494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8591702" y="5495361"/>
            <a:ext cx="55961" cy="10570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8675644" y="5420746"/>
            <a:ext cx="55961" cy="180319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8759586" y="5339913"/>
            <a:ext cx="55961" cy="26115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220456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Lower Ops Effort</a:t>
            </a:r>
          </a:p>
        </p:txBody>
      </p:sp>
      <p:sp>
        <p:nvSpPr>
          <p:cNvPr id="103" name="Freeform 102"/>
          <p:cNvSpPr/>
          <p:nvPr/>
        </p:nvSpPr>
        <p:spPr>
          <a:xfrm>
            <a:off x="9217152" y="5358384"/>
            <a:ext cx="0" cy="694944"/>
          </a:xfrm>
          <a:custGeom>
            <a:avLst/>
            <a:gdLst/>
            <a:ahLst/>
            <a:cxnLst/>
            <a:rect l="l" t="t" r="r" b="b"/>
            <a:pathLst>
              <a:path w="0" h="694944">
                <a:moveTo>
                  <a:pt x="0" y="0"/>
                </a:moveTo>
                <a:lnTo>
                  <a:pt x="0" y="69494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9578340" y="5349240"/>
            <a:ext cx="310896" cy="310896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648291" y="5419191"/>
            <a:ext cx="170992" cy="170992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9705807" y="5476707"/>
            <a:ext cx="55961" cy="559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253728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Higher Accuracy</a:t>
            </a:r>
          </a:p>
        </p:txBody>
      </p:sp>
      <p:sp>
        <p:nvSpPr>
          <p:cNvPr id="108" name="Freeform 107"/>
          <p:cNvSpPr/>
          <p:nvPr/>
        </p:nvSpPr>
        <p:spPr>
          <a:xfrm>
            <a:off x="10250424" y="5358384"/>
            <a:ext cx="0" cy="694944"/>
          </a:xfrm>
          <a:custGeom>
            <a:avLst/>
            <a:gdLst/>
            <a:ahLst/>
            <a:cxnLst/>
            <a:rect l="l" t="t" r="r" b="b"/>
            <a:pathLst>
              <a:path w="0" h="694944">
                <a:moveTo>
                  <a:pt x="0" y="0"/>
                </a:moveTo>
                <a:lnTo>
                  <a:pt x="0" y="694944"/>
                </a:lnTo>
              </a:path>
            </a:pathLst>
          </a:custGeom>
          <a:noFill/>
          <a:ln w="9525">
            <a:solidFill>
              <a:srgbClr val="8C6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698662" y="5389656"/>
            <a:ext cx="93268" cy="93268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ound Same Side Corner Rectangle 109"/>
          <p:cNvSpPr/>
          <p:nvPr/>
        </p:nvSpPr>
        <p:spPr>
          <a:xfrm>
            <a:off x="10683118" y="5486034"/>
            <a:ext cx="124358" cy="136794"/>
          </a:xfrm>
          <a:prstGeom prst="round2SameRect">
            <a:avLst>
              <a:gd name="adj1" fmla="val 45000"/>
              <a:gd name="adj2" fmla="val 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2604" y="5389656"/>
            <a:ext cx="93268" cy="93268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Round Same Side Corner Rectangle 111"/>
          <p:cNvSpPr/>
          <p:nvPr/>
        </p:nvSpPr>
        <p:spPr>
          <a:xfrm>
            <a:off x="10767060" y="5486034"/>
            <a:ext cx="124358" cy="136794"/>
          </a:xfrm>
          <a:prstGeom prst="round2SameRect">
            <a:avLst>
              <a:gd name="adj1" fmla="val 45000"/>
              <a:gd name="adj2" fmla="val 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287000" y="5724144"/>
            <a:ext cx="960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Better Seller Experience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HCLTech Theme 4.1">
  <a:themeElements>
    <a:clrScheme name="HCLTech">
      <a:dk1>
        <a:srgbClr val="000000"/>
      </a:dk1>
      <a:lt1>
        <a:srgbClr val="FFFFFF"/>
      </a:lt1>
      <a:dk2>
        <a:srgbClr val="5F1EBE"/>
      </a:dk2>
      <a:lt2>
        <a:srgbClr val="411482"/>
      </a:lt2>
      <a:accent1>
        <a:srgbClr val="8C69F0"/>
      </a:accent1>
      <a:accent2>
        <a:srgbClr val="B9C8FF"/>
      </a:accent2>
      <a:accent3>
        <a:srgbClr val="0F5FDC"/>
      </a:accent3>
      <a:accent4>
        <a:srgbClr val="3C91FF"/>
      </a:accent4>
      <a:accent5>
        <a:srgbClr val="8CC8FA"/>
      </a:accent5>
      <a:accent6>
        <a:srgbClr val="DCE6F0"/>
      </a:accent6>
      <a:hlink>
        <a:srgbClr val="0F5FDC"/>
      </a:hlink>
      <a:folHlink>
        <a:srgbClr val="292929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6EBF5"/>
        </a:solidFill>
        <a:ln>
          <a:noFill/>
        </a:ln>
      </a:spPr>
      <a:bodyPr lIns="288000" tIns="252000" rIns="288000" bIns="288000" rtlCol="0" anchor="t" anchorCtr="0"/>
      <a:lstStyle>
        <a:defPPr algn="l">
          <a:defRPr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C8D2DD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defRPr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Dark Teal">
      <a:srgbClr val="007873"/>
    </a:custClr>
    <a:custClr name="Teal">
      <a:srgbClr val="4BC3AF"/>
    </a:custClr>
    <a:custClr name="Teal 80% Tint">
      <a:srgbClr val="6FCFBF"/>
    </a:custClr>
    <a:custClr name="Light Teal">
      <a:srgbClr val="A5E6DC"/>
    </a:custClr>
    <a:custClr name="Dark green">
      <a:srgbClr val="0FA069"/>
    </a:custClr>
    <a:custClr name="Green">
      <a:srgbClr val="82DC73"/>
    </a:custClr>
    <a:custClr name="Green 80% Tint">
      <a:srgbClr val="9BE38F"/>
    </a:custClr>
    <a:custClr name="Light Green">
      <a:srgbClr val="BEEBB4"/>
    </a:custClr>
    <a:custClr name="Dark Yellow">
      <a:srgbClr val="C8870A"/>
    </a:custClr>
    <a:custClr name="Yellow">
      <a:srgbClr val="FFCD41"/>
    </a:custClr>
    <a:custClr name="Yellow 80% Tint">
      <a:srgbClr val="FFD767"/>
    </a:custClr>
    <a:custClr name="Light Yellow">
      <a:srgbClr val="FFECC7"/>
    </a:custClr>
    <a:custClr name="Dark Coral">
      <a:srgbClr val="C3325F"/>
    </a:custClr>
    <a:custClr name="Coral">
      <a:srgbClr val="FF789B"/>
    </a:custClr>
    <a:custClr name="Coral 80% Tint">
      <a:srgbClr val="FF93AF"/>
    </a:custClr>
    <a:custClr name="Light Coral">
      <a:srgbClr val="FFBED7"/>
    </a:custClr>
    <a:custClr name="Bronze">
      <a:srgbClr val="D7BEB4"/>
    </a:custClr>
    <a:custClr name="Cream">
      <a:srgbClr val="FAF0E6"/>
    </a:custClr>
    <a:custClr name="Grey 1">
      <a:srgbClr val="8291A0"/>
    </a:custClr>
    <a:custClr name="Grey 2">
      <a:srgbClr val="A5AFBE"/>
    </a:custClr>
    <a:custClr name="Grey 3">
      <a:srgbClr val="C8D2DD"/>
    </a:custClr>
    <a:custClr name="Grey 4">
      <a:srgbClr val="E6EBF5"/>
    </a:custClr>
  </a:custClrLst>
  <a:extLst>
    <a:ext uri="{05A4C25C-085E-4340-85A3-A5531E510DB2}">
      <thm15:themeFamily xmlns:thm15="http://schemas.microsoft.com/office/thememl/2012/main" name="Essential Version 4.1.potx" id="{348EEFF9-F705-4BDC-9AF7-D3FA7C421DF6}" vid="{8CF5B234-82B5-43E0-82FB-4C124FBCA6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490</Words>
  <Application>Microsoft Office PowerPoint</Application>
  <PresentationFormat>Widescreen</PresentationFormat>
  <Paragraphs>56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Light</vt:lpstr>
      <vt:lpstr>Arial</vt:lpstr>
      <vt:lpstr>Calibri</vt:lpstr>
      <vt:lpstr>Aptos</vt:lpstr>
      <vt:lpstr>Aptos Display</vt:lpstr>
      <vt:lpstr>Aptos Light</vt:lpstr>
      <vt:lpstr>1_HCLTech Theme 4.1</vt:lpstr>
      <vt:lpstr>CFO Operations Landscape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Rathish s</dc:creator>
  <cp:lastModifiedBy>Rathish s</cp:lastModifiedBy>
  <cp:revision>1</cp:revision>
  <dcterms:created xsi:type="dcterms:W3CDTF">2026-04-24T04:45:14Z</dcterms:created>
  <dcterms:modified xsi:type="dcterms:W3CDTF">2026-04-24T04:52:42Z</dcterms:modified>
</cp:coreProperties>
</file>