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Engineering the </a:t>
            </a:r>
            <a:r>
              <a:rPr sz="2800" b="1">
                <a:solidFill>
                  <a:srgbClr val="5F1EBE"/>
                </a:solidFill>
                <a:latin typeface="Aptos"/>
              </a:rPr>
              <a:t>Autonomy of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Transforming labor-intensive operations into AI-native autonomous platforms.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TRANSFORMATION SCALE</a:t>
            </a:r>
          </a:p>
        </p:txBody>
      </p:sp>
      <p:sp>
        <p:nvSpPr>
          <p:cNvPr id="5" name="Freeform 4"/>
          <p:cNvSpPr/>
          <p:nvPr/>
        </p:nvSpPr>
        <p:spPr>
          <a:xfrm>
            <a:off x="1097280" y="1600200"/>
            <a:ext cx="3735323" cy="0"/>
          </a:xfrm>
          <a:custGeom>
            <a:avLst/>
            <a:gdLst/>
            <a:ahLst/>
            <a:cxnLst/>
            <a:rect l="l" t="t" r="r" b="b"/>
            <a:pathLst>
              <a:path w="3735323" h="0">
                <a:moveTo>
                  <a:pt x="0" y="0"/>
                </a:moveTo>
                <a:lnTo>
                  <a:pt x="3735323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7356348" y="1600200"/>
            <a:ext cx="3735324" cy="0"/>
          </a:xfrm>
          <a:custGeom>
            <a:avLst/>
            <a:gdLst/>
            <a:ahLst/>
            <a:cxnLst/>
            <a:rect l="l" t="t" r="r" b="b"/>
            <a:pathLst>
              <a:path w="3735324" h="0">
                <a:moveTo>
                  <a:pt x="0" y="0"/>
                </a:moveTo>
                <a:lnTo>
                  <a:pt x="3735324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25296" y="2048256"/>
            <a:ext cx="329184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6019" y="2299533"/>
            <a:ext cx="130393" cy="130393"/>
          </a:xfrm>
          <a:prstGeom prst="ellipse">
            <a:avLst/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2752161" y="2469611"/>
            <a:ext cx="238109" cy="204094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1767" y="2344887"/>
            <a:ext cx="107716" cy="107716"/>
          </a:xfrm>
          <a:prstGeom prst="ellipse">
            <a:avLst/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2599090" y="2503627"/>
            <a:ext cx="153070" cy="170078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2948" y="2344887"/>
            <a:ext cx="107716" cy="107716"/>
          </a:xfrm>
          <a:prstGeom prst="ellipse">
            <a:avLst/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990270" y="2503627"/>
            <a:ext cx="153070" cy="170078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798064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5F1EBE"/>
                </a:solidFill>
                <a:latin typeface="Aptos"/>
              </a:rPr>
              <a:t>~1,000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36499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FTEs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85416" y="18928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97296" y="2048256"/>
            <a:ext cx="3291840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78019" y="2299533"/>
            <a:ext cx="130393" cy="130393"/>
          </a:xfrm>
          <a:prstGeom prst="ellipse">
            <a:avLst/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7324161" y="2469611"/>
            <a:ext cx="238109" cy="204094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93767" y="2344887"/>
            <a:ext cx="107716" cy="107716"/>
          </a:xfrm>
          <a:prstGeom prst="ellipse">
            <a:avLst/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7171090" y="2503627"/>
            <a:ext cx="153070" cy="170078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4948" y="2344887"/>
            <a:ext cx="107716" cy="107716"/>
          </a:xfrm>
          <a:prstGeom prst="ellipse">
            <a:avLst/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7562270" y="2503627"/>
            <a:ext cx="153070" cy="170078"/>
          </a:xfrm>
          <a:prstGeom prst="round2SameRect">
            <a:avLst>
              <a:gd name="adj1" fmla="val 48000"/>
              <a:gd name="adj2" fmla="val 0"/>
            </a:avLst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6" y="2798064"/>
            <a:ext cx="3291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F5FDC"/>
                </a:solidFill>
                <a:latin typeface="Aptos"/>
              </a:rPr>
              <a:t>~400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7296" y="336499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F5FDC"/>
                </a:solidFill>
                <a:latin typeface="Aptos"/>
              </a:rPr>
              <a:t>FTEs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57416" y="18928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FUTURE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773168" y="2670048"/>
            <a:ext cx="786384" cy="457200"/>
          </a:xfrm>
          <a:prstGeom prst="rightArrow">
            <a:avLst>
              <a:gd name="adj1" fmla="val 52000"/>
              <a:gd name="adj2" fmla="val 42000"/>
            </a:avLst>
          </a:prstGeom>
          <a:gradFill rotWithShape="1">
            <a:gsLst>
              <a:gs pos="0">
                <a:srgbClr val="411482"/>
              </a:gs>
              <a:gs pos="100000">
                <a:srgbClr val="5F1EB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62856" y="2761488"/>
            <a:ext cx="36576" cy="274320"/>
          </a:xfrm>
          <a:prstGeom prst="roundRect">
            <a:avLst>
              <a:gd name="adj" fmla="val 50000"/>
            </a:avLst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31436" y="2761488"/>
            <a:ext cx="36576" cy="274320"/>
          </a:xfrm>
          <a:prstGeom prst="roundRect">
            <a:avLst>
              <a:gd name="adj" fmla="val 50000"/>
            </a:avLst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00016" y="2761488"/>
            <a:ext cx="36576" cy="274320"/>
          </a:xfrm>
          <a:prstGeom prst="roundRect">
            <a:avLst>
              <a:gd name="adj" fmla="val 50000"/>
            </a:avLst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0616" y="2167128"/>
            <a:ext cx="1463040" cy="1463040"/>
          </a:xfrm>
          <a:prstGeom prst="ellipse">
            <a:avLst/>
          </a:prstGeom>
          <a:solidFill>
            <a:srgbClr val="DCE6F0"/>
          </a:solidFill>
          <a:ln w="9525">
            <a:solidFill>
              <a:srgbClr val="3C9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0616" y="2487168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F5FDC"/>
                </a:solidFill>
                <a:latin typeface="Aptos"/>
              </a:rPr>
              <a:t>~60%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2056" y="2889504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Workforce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Aptos"/>
              </a:rPr>
              <a:t>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968496"/>
            <a:ext cx="11000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BUSINESS OUTCOMES</a:t>
            </a:r>
          </a:p>
        </p:txBody>
      </p:sp>
      <p:sp>
        <p:nvSpPr>
          <p:cNvPr id="35" name="Freeform 34"/>
          <p:cNvSpPr/>
          <p:nvPr/>
        </p:nvSpPr>
        <p:spPr>
          <a:xfrm>
            <a:off x="1097280" y="4087368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 h="0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205472" y="4087368"/>
            <a:ext cx="3886200" cy="0"/>
          </a:xfrm>
          <a:custGeom>
            <a:avLst/>
            <a:gdLst/>
            <a:ahLst/>
            <a:cxnLst/>
            <a:rect l="l" t="t" r="r" b="b"/>
            <a:pathLst>
              <a:path w="3886200" h="0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4334256"/>
            <a:ext cx="2578608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27048" y="4535424"/>
            <a:ext cx="713232" cy="713232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45554" y="4631253"/>
            <a:ext cx="476219" cy="476219"/>
          </a:xfrm>
          <a:prstGeom prst="ellipse">
            <a:avLst/>
          </a:prstGeom>
          <a:noFill/>
          <a:ln w="23622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554" y="4631253"/>
            <a:ext cx="476219" cy="4762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8" b="1">
                <a:solidFill>
                  <a:srgbClr val="411482"/>
                </a:solidFill>
                <a:latin typeface="Aptos"/>
              </a:rPr>
              <a:t>$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2031065" y="4982748"/>
            <a:ext cx="124724" cy="192755"/>
          </a:xfrm>
          <a:prstGeom prst="downArrow">
            <a:avLst>
              <a:gd name="adj1" fmla="val 45000"/>
              <a:gd name="adj2" fmla="val 45000"/>
            </a:avLst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376672"/>
            <a:ext cx="25786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411482"/>
                </a:solidFill>
                <a:latin typeface="Aptos"/>
              </a:rPr>
              <a:t>30 – 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5815584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Operating Cost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Reduction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334256"/>
            <a:ext cx="2578608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34256" y="4535424"/>
            <a:ext cx="713232" cy="713232"/>
          </a:xfrm>
          <a:prstGeom prst="ellipse">
            <a:avLst/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30085" y="4971409"/>
            <a:ext cx="102047" cy="170078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00163" y="4880701"/>
            <a:ext cx="102047" cy="260786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70241" y="4778654"/>
            <a:ext cx="102047" cy="362833"/>
          </a:xfrm>
          <a:prstGeom prst="roundRect">
            <a:avLst>
              <a:gd name="adj" fmla="val 28000"/>
            </a:avLst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520793" y="4619914"/>
            <a:ext cx="385511" cy="215433"/>
          </a:xfrm>
          <a:custGeom>
            <a:avLst/>
            <a:gdLst/>
            <a:ahLst/>
            <a:cxnLst/>
            <a:rect l="l" t="t" r="r" b="b"/>
            <a:pathLst>
              <a:path w="385511" h="215433">
                <a:moveTo>
                  <a:pt x="0" y="215433"/>
                </a:moveTo>
                <a:lnTo>
                  <a:pt x="385511" y="0"/>
                </a:lnTo>
              </a:path>
            </a:pathLst>
          </a:custGeom>
          <a:noFill/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770241" y="4608576"/>
            <a:ext cx="147402" cy="147401"/>
          </a:xfrm>
          <a:custGeom>
            <a:avLst/>
            <a:gdLst/>
            <a:ahLst/>
            <a:cxnLst/>
            <a:rect l="l" t="t" r="r" b="b"/>
            <a:pathLst>
              <a:path w="147402" h="147401">
                <a:moveTo>
                  <a:pt x="0" y="22677"/>
                </a:moveTo>
                <a:lnTo>
                  <a:pt x="147402" y="0"/>
                </a:lnTo>
                <a:lnTo>
                  <a:pt x="113386" y="147401"/>
                </a:lnTo>
                <a:close/>
              </a:path>
            </a:pathLst>
          </a:custGeom>
          <a:solidFill>
            <a:srgbClr val="5F1EBE"/>
          </a:solidFill>
          <a:ln w="23622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1568" y="5376672"/>
            <a:ext cx="25786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5F1EBE"/>
                </a:solidFill>
                <a:latin typeface="Aptos"/>
              </a:rPr>
              <a:t>20 – 30%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1296" y="5815584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Working Capital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Improvement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08776" y="4334256"/>
            <a:ext cx="2578608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41464" y="4535424"/>
            <a:ext cx="713232" cy="713232"/>
          </a:xfrm>
          <a:prstGeom prst="ellipse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82647" y="4676607"/>
            <a:ext cx="430865" cy="430865"/>
          </a:xfrm>
          <a:prstGeom prst="ellipse">
            <a:avLst/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1702" y="4795662"/>
            <a:ext cx="192755" cy="192755"/>
          </a:xfrm>
          <a:prstGeom prst="ellipse">
            <a:avLst/>
          </a:pr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58395" y="4852355"/>
            <a:ext cx="79369" cy="79369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498079" y="4597237"/>
            <a:ext cx="0" cy="102047"/>
          </a:xfrm>
          <a:custGeom>
            <a:avLst/>
            <a:gdLst/>
            <a:ahLst/>
            <a:cxnLst/>
            <a:rect l="l" t="t" r="r" b="b"/>
            <a:pathLst>
              <a:path w="0" h="102047">
                <a:moveTo>
                  <a:pt x="0" y="0"/>
                </a:moveTo>
                <a:lnTo>
                  <a:pt x="0" y="102047"/>
                </a:lnTo>
              </a:path>
            </a:pathLst>
          </a:cu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498079" y="5084795"/>
            <a:ext cx="0" cy="102047"/>
          </a:xfrm>
          <a:custGeom>
            <a:avLst/>
            <a:gdLst/>
            <a:ahLst/>
            <a:cxnLst/>
            <a:rect l="l" t="t" r="r" b="b"/>
            <a:pathLst>
              <a:path w="0" h="102047">
                <a:moveTo>
                  <a:pt x="0" y="0"/>
                </a:moveTo>
                <a:lnTo>
                  <a:pt x="0" y="102047"/>
                </a:lnTo>
              </a:path>
            </a:pathLst>
          </a:cu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203277" y="4892040"/>
            <a:ext cx="102047" cy="0"/>
          </a:xfrm>
          <a:custGeom>
            <a:avLst/>
            <a:gdLst/>
            <a:ahLst/>
            <a:cxnLst/>
            <a:rect l="l" t="t" r="r" b="b"/>
            <a:pathLst>
              <a:path w="102047" h="0">
                <a:moveTo>
                  <a:pt x="0" y="0"/>
                </a:moveTo>
                <a:lnTo>
                  <a:pt x="102047" y="0"/>
                </a:lnTo>
              </a:path>
            </a:pathLst>
          </a:cu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7690835" y="4892040"/>
            <a:ext cx="102047" cy="0"/>
          </a:xfrm>
          <a:custGeom>
            <a:avLst/>
            <a:gdLst/>
            <a:ahLst/>
            <a:cxnLst/>
            <a:rect l="l" t="t" r="r" b="b"/>
            <a:pathLst>
              <a:path w="102047" h="0">
                <a:moveTo>
                  <a:pt x="0" y="0"/>
                </a:moveTo>
                <a:lnTo>
                  <a:pt x="102047" y="0"/>
                </a:lnTo>
              </a:path>
            </a:pathLst>
          </a:custGeom>
          <a:noFill/>
          <a:ln w="2362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08776" y="5376672"/>
            <a:ext cx="25786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5FDC"/>
                </a:solidFill>
                <a:latin typeface="Aptos"/>
              </a:rPr>
              <a:t>100 – 150 bps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18504" y="5815584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Overall Margin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Improvement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15984" y="4334256"/>
            <a:ext cx="2578608" cy="19019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48672" y="4535424"/>
            <a:ext cx="713232" cy="713232"/>
          </a:xfrm>
          <a:prstGeom prst="ellipse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Gear 6 65"/>
          <p:cNvSpPr/>
          <p:nvPr/>
        </p:nvSpPr>
        <p:spPr>
          <a:xfrm>
            <a:off x="10135209" y="4721961"/>
            <a:ext cx="340156" cy="340156"/>
          </a:xfrm>
          <a:prstGeom prst="gear6">
            <a:avLst/>
          </a:prstGeom>
          <a:noFill/>
          <a:ln w="2047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21824" y="4608576"/>
            <a:ext cx="566928" cy="566928"/>
          </a:xfrm>
          <a:prstGeom prst="ellipse">
            <a:avLst/>
          </a:prstGeom>
          <a:noFill/>
          <a:ln w="20472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 rot="8100000">
            <a:off x="10431996" y="4623599"/>
            <a:ext cx="147401" cy="136062"/>
          </a:xfrm>
          <a:prstGeom prst="triangl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18900000">
            <a:off x="10031178" y="5024417"/>
            <a:ext cx="147401" cy="136062"/>
          </a:xfrm>
          <a:prstGeom prst="triangl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15984" y="5376672"/>
            <a:ext cx="25786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F5FDC"/>
                </a:solidFill>
                <a:latin typeface="Aptos"/>
              </a:rPr>
              <a:t>Long-term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25711" y="5815584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Scalable &amp; Autonomous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Aptos"/>
              </a:rPr>
              <a:t>Operations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gradFill rotWithShape="1">
            <a:gsLst>
              <a:gs pos="0">
                <a:srgbClr val="411482"/>
              </a:gs>
              <a:gs pos="100000">
                <a:srgbClr val="3C91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