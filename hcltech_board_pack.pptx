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FY30</c:v>
                </c:pt>
              </c:strCache>
            </c:strRef>
          </c:tx>
          <c:dPt>
            <c:idx val="0"/>
            <c:spPr>
              <a:solidFill>
                <a:srgbClr val="5F1EB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8C69F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9C8FF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Americas</c:v>
                </c:pt>
                <c:pt idx="1">
                  <c:v>EMEA</c:v>
                </c:pt>
                <c:pt idx="2">
                  <c:v>RoW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400</c:v>
                </c:pt>
                <c:pt idx="2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7" Type="http://schemas.openxmlformats.org/officeDocument/2006/relationships/slideLayout" Target="../slideLayouts/slideLayout17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7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Restructuring for </a:t>
            </a:r>
            <a:r>
              <a:rPr sz="2800" b="1">
                <a:solidFill>
                  <a:srgbClr val="5F1EBE"/>
                </a:solidFill>
                <a:latin typeface="Aptos"/>
              </a:rPr>
              <a:t>Autonomous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Four specialized teams aligned to create, deploy and run one AI-native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10512"/>
            <a:ext cx="4846320" cy="2487168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480559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17099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984991" y="1802831"/>
            <a:ext cx="59253" cy="125089"/>
          </a:xfrm>
          <a:custGeom>
            <a:avLst/>
            <a:gdLst/>
            <a:ahLst/>
            <a:cxnLst/>
            <a:rect l="l" t="t" r="r" b="b"/>
            <a:pathLst>
              <a:path w="59253" h="125089">
                <a:moveTo>
                  <a:pt x="59253" y="0"/>
                </a:moveTo>
                <a:lnTo>
                  <a:pt x="0" y="62545"/>
                </a:lnTo>
                <a:lnTo>
                  <a:pt x="59253" y="125089"/>
                </a:lnTo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077163" y="1802831"/>
            <a:ext cx="59253" cy="125089"/>
          </a:xfrm>
          <a:custGeom>
            <a:avLst/>
            <a:gdLst/>
            <a:ahLst/>
            <a:cxnLst/>
            <a:rect l="l" t="t" r="r" b="b"/>
            <a:pathLst>
              <a:path w="59253" h="125089">
                <a:moveTo>
                  <a:pt x="0" y="0"/>
                </a:moveTo>
                <a:lnTo>
                  <a:pt x="59253" y="62545"/>
                </a:lnTo>
                <a:lnTo>
                  <a:pt x="0" y="125089"/>
                </a:lnTo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1600200"/>
            <a:ext cx="38587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CREATE THE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828800"/>
            <a:ext cx="3858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ptos"/>
              </a:rPr>
              <a:t>Product + AI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" y="2212848"/>
            <a:ext cx="2112264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86484" y="2359152"/>
            <a:ext cx="566928" cy="566928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Cube 12"/>
          <p:cNvSpPr/>
          <p:nvPr/>
        </p:nvSpPr>
        <p:spPr>
          <a:xfrm>
            <a:off x="1747052" y="2519720"/>
            <a:ext cx="245790" cy="245790"/>
          </a:xfrm>
          <a:prstGeom prst="cub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035808"/>
            <a:ext cx="2112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11482"/>
                </a:solidFill>
                <a:latin typeface="Aptos"/>
              </a:rPr>
              <a:t>Product Team</a:t>
            </a:r>
          </a:p>
        </p:txBody>
      </p:sp>
      <p:sp>
        <p:nvSpPr>
          <p:cNvPr id="15" name="Freeform 14"/>
          <p:cNvSpPr/>
          <p:nvPr/>
        </p:nvSpPr>
        <p:spPr>
          <a:xfrm>
            <a:off x="1124712" y="3346704"/>
            <a:ext cx="1490472" cy="0"/>
          </a:xfrm>
          <a:custGeom>
            <a:avLst/>
            <a:gdLst/>
            <a:ahLst/>
            <a:cxnLst/>
            <a:rect l="l" t="t" r="r" b="b"/>
            <a:pathLst>
              <a:path w="1490472" h="0">
                <a:moveTo>
                  <a:pt x="0" y="0"/>
                </a:moveTo>
                <a:lnTo>
                  <a:pt x="1490472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4198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411482"/>
                </a:solidFill>
                <a:latin typeface="Aptos"/>
              </a:rPr>
              <a:t>80+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822191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Define platform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and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212848"/>
            <a:ext cx="2112264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1628" y="2359152"/>
            <a:ext cx="566928" cy="566928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32905" y="2508016"/>
            <a:ext cx="64373" cy="64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48048" y="2701137"/>
            <a:ext cx="64373" cy="64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17761" y="2701137"/>
            <a:ext cx="64373" cy="64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080235" y="2584094"/>
            <a:ext cx="84857" cy="122895"/>
          </a:xfrm>
          <a:custGeom>
            <a:avLst/>
            <a:gdLst/>
            <a:ahLst/>
            <a:cxnLst/>
            <a:rect l="l" t="t" r="r" b="b"/>
            <a:pathLst>
              <a:path w="84857" h="122895">
                <a:moveTo>
                  <a:pt x="84857" y="0"/>
                </a:moveTo>
                <a:lnTo>
                  <a:pt x="0" y="122895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165092" y="2584094"/>
            <a:ext cx="84856" cy="122895"/>
          </a:xfrm>
          <a:custGeom>
            <a:avLst/>
            <a:gdLst/>
            <a:ahLst/>
            <a:cxnLst/>
            <a:rect l="l" t="t" r="r" b="b"/>
            <a:pathLst>
              <a:path w="84856" h="122895">
                <a:moveTo>
                  <a:pt x="0" y="0"/>
                </a:moveTo>
                <a:lnTo>
                  <a:pt x="84856" y="122895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80235" y="2730398"/>
            <a:ext cx="169713" cy="0"/>
          </a:xfrm>
          <a:custGeom>
            <a:avLst/>
            <a:gdLst/>
            <a:ahLst/>
            <a:cxnLst/>
            <a:rect l="l" t="t" r="r" b="b"/>
            <a:pathLst>
              <a:path w="169713" h="0">
                <a:moveTo>
                  <a:pt x="0" y="0"/>
                </a:moveTo>
                <a:lnTo>
                  <a:pt x="169713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3035808"/>
            <a:ext cx="2112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11482"/>
                </a:solidFill>
                <a:latin typeface="Aptos"/>
              </a:rPr>
              <a:t>AI Engineering</a:t>
            </a:r>
          </a:p>
        </p:txBody>
      </p:sp>
      <p:sp>
        <p:nvSpPr>
          <p:cNvPr id="27" name="Freeform 26"/>
          <p:cNvSpPr/>
          <p:nvPr/>
        </p:nvSpPr>
        <p:spPr>
          <a:xfrm>
            <a:off x="3419856" y="3346704"/>
            <a:ext cx="1490472" cy="0"/>
          </a:xfrm>
          <a:custGeom>
            <a:avLst/>
            <a:gdLst/>
            <a:ahLst/>
            <a:cxnLst/>
            <a:rect l="l" t="t" r="r" b="b"/>
            <a:pathLst>
              <a:path w="1490472" h="0">
                <a:moveTo>
                  <a:pt x="0" y="0"/>
                </a:moveTo>
                <a:lnTo>
                  <a:pt x="1490472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4198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411482"/>
                </a:solidFill>
                <a:latin typeface="Aptos"/>
              </a:rPr>
              <a:t>250+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822191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Build and improve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the platform</a:t>
            </a:r>
          </a:p>
        </p:txBody>
      </p:sp>
      <p:sp>
        <p:nvSpPr>
          <p:cNvPr id="30" name="Oval 29"/>
          <p:cNvSpPr/>
          <p:nvPr/>
        </p:nvSpPr>
        <p:spPr>
          <a:xfrm>
            <a:off x="2967227" y="4247388"/>
            <a:ext cx="100584" cy="100584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017520" y="4352544"/>
            <a:ext cx="0" cy="658368"/>
          </a:xfrm>
          <a:custGeom>
            <a:avLst/>
            <a:gdLst/>
            <a:ahLst/>
            <a:cxnLst/>
            <a:rect l="l" t="t" r="r" b="b"/>
            <a:pathLst>
              <a:path w="0" h="658368">
                <a:moveTo>
                  <a:pt x="0" y="0"/>
                </a:moveTo>
                <a:lnTo>
                  <a:pt x="0" y="658368"/>
                </a:lnTo>
              </a:path>
            </a:pathLst>
          </a:custGeom>
          <a:noFill/>
          <a:ln w="9525">
            <a:solidFill>
              <a:srgbClr val="4114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953512" y="4989880"/>
            <a:ext cx="128015" cy="57608"/>
          </a:xfrm>
          <a:custGeom>
            <a:avLst/>
            <a:gdLst/>
            <a:ahLst/>
            <a:cxnLst/>
            <a:rect l="l" t="t" r="r" b="b"/>
            <a:pathLst>
              <a:path w="128015" h="57608">
                <a:moveTo>
                  <a:pt x="0" y="0"/>
                </a:moveTo>
                <a:lnTo>
                  <a:pt x="64008" y="57608"/>
                </a:lnTo>
                <a:lnTo>
                  <a:pt x="128015" y="0"/>
                </a:lnTo>
                <a:close/>
              </a:path>
            </a:pathLst>
          </a:custGeom>
          <a:solidFill>
            <a:srgbClr val="411482"/>
          </a:solidFill>
          <a:ln w="1524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15000" y="1810512"/>
            <a:ext cx="2788920" cy="2487168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97880" y="1554480"/>
            <a:ext cx="242316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25896" y="17099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108923" y="1799539"/>
            <a:ext cx="148133" cy="138257"/>
          </a:xfrm>
          <a:custGeom>
            <a:avLst/>
            <a:gdLst/>
            <a:ahLst/>
            <a:cxnLst/>
            <a:rect l="l" t="t" r="r" b="b"/>
            <a:pathLst>
              <a:path w="148133" h="138257">
                <a:moveTo>
                  <a:pt x="0" y="55961"/>
                </a:moveTo>
                <a:lnTo>
                  <a:pt x="148133" y="0"/>
                </a:lnTo>
                <a:lnTo>
                  <a:pt x="82296" y="138257"/>
                </a:lnTo>
                <a:lnTo>
                  <a:pt x="65837" y="79004"/>
                </a:lnTo>
                <a:close/>
              </a:path>
            </a:pathLst>
          </a:custGeom>
          <a:solidFill>
            <a:srgbClr val="5F1EBE"/>
          </a:solidFill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1600200"/>
            <a:ext cx="1801367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DEPLOY THE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1828800"/>
            <a:ext cx="1801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ptos"/>
              </a:rPr>
              <a:t>Forward Deployed Engineers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34456" y="2212848"/>
            <a:ext cx="2350008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25996" y="2359152"/>
            <a:ext cx="566928" cy="566928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75810" y="2508016"/>
            <a:ext cx="67299" cy="67299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7048012" y="2595798"/>
            <a:ext cx="122895" cy="99486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80712" y="2531424"/>
            <a:ext cx="55595" cy="55595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6969008" y="2613355"/>
            <a:ext cx="79004" cy="81930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2612" y="2531424"/>
            <a:ext cx="55595" cy="55595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7170907" y="2613355"/>
            <a:ext cx="79004" cy="81930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34456" y="3035808"/>
            <a:ext cx="23500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F1EBE"/>
                </a:solidFill>
                <a:latin typeface="Aptos"/>
              </a:rPr>
              <a:t>FDEs</a:t>
            </a:r>
          </a:p>
        </p:txBody>
      </p:sp>
      <p:sp>
        <p:nvSpPr>
          <p:cNvPr id="48" name="Freeform 47"/>
          <p:cNvSpPr/>
          <p:nvPr/>
        </p:nvSpPr>
        <p:spPr>
          <a:xfrm>
            <a:off x="6245352" y="3346704"/>
            <a:ext cx="1728215" cy="0"/>
          </a:xfrm>
          <a:custGeom>
            <a:avLst/>
            <a:gdLst/>
            <a:ahLst/>
            <a:cxnLst/>
            <a:rect l="l" t="t" r="r" b="b"/>
            <a:pathLst>
              <a:path w="1728215" h="0">
                <a:moveTo>
                  <a:pt x="0" y="0"/>
                </a:moveTo>
                <a:lnTo>
                  <a:pt x="1728215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34456" y="3419856"/>
            <a:ext cx="23500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F1EBE"/>
                </a:solidFill>
                <a:latin typeface="Aptos"/>
              </a:rPr>
              <a:t>750+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25896" y="3822191"/>
            <a:ext cx="2167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Deploy and optimize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for clients</a:t>
            </a:r>
          </a:p>
        </p:txBody>
      </p:sp>
      <p:sp>
        <p:nvSpPr>
          <p:cNvPr id="51" name="Oval 50"/>
          <p:cNvSpPr/>
          <p:nvPr/>
        </p:nvSpPr>
        <p:spPr>
          <a:xfrm>
            <a:off x="7059168" y="4247388"/>
            <a:ext cx="100584" cy="100584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109460" y="4352544"/>
            <a:ext cx="0" cy="658368"/>
          </a:xfrm>
          <a:custGeom>
            <a:avLst/>
            <a:gdLst/>
            <a:ahLst/>
            <a:cxnLst/>
            <a:rect l="l" t="t" r="r" b="b"/>
            <a:pathLst>
              <a:path w="0" h="658368">
                <a:moveTo>
                  <a:pt x="0" y="0"/>
                </a:moveTo>
                <a:lnTo>
                  <a:pt x="0" y="658368"/>
                </a:lnTo>
              </a:path>
            </a:pathLst>
          </a:custGeom>
          <a:noFill/>
          <a:ln w="9525">
            <a:solidFill>
              <a:srgbClr val="5F1E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045452" y="4989880"/>
            <a:ext cx="128016" cy="57608"/>
          </a:xfrm>
          <a:custGeom>
            <a:avLst/>
            <a:gdLst/>
            <a:ahLst/>
            <a:cxnLst/>
            <a:rect l="l" t="t" r="r" b="b"/>
            <a:pathLst>
              <a:path w="128016" h="57608">
                <a:moveTo>
                  <a:pt x="0" y="0"/>
                </a:moveTo>
                <a:lnTo>
                  <a:pt x="64008" y="57608"/>
                </a:lnTo>
                <a:lnTo>
                  <a:pt x="128016" y="0"/>
                </a:lnTo>
                <a:close/>
              </a:path>
            </a:pathLst>
          </a:custGeom>
          <a:solidFill>
            <a:srgbClr val="5F1EBE"/>
          </a:solidFill>
          <a:ln w="1524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778240" y="1810512"/>
            <a:ext cx="2816352" cy="2487168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961119" y="1554480"/>
            <a:ext cx="24505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089136" y="17099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9178747" y="1786371"/>
            <a:ext cx="131673" cy="164592"/>
          </a:xfrm>
          <a:custGeom>
            <a:avLst/>
            <a:gdLst/>
            <a:ahLst/>
            <a:cxnLst/>
            <a:rect l="l" t="t" r="r" b="b"/>
            <a:pathLst>
              <a:path w="131673" h="164592">
                <a:moveTo>
                  <a:pt x="0" y="0"/>
                </a:moveTo>
                <a:lnTo>
                  <a:pt x="131673" y="0"/>
                </a:lnTo>
                <a:lnTo>
                  <a:pt x="131673" y="88880"/>
                </a:lnTo>
                <a:lnTo>
                  <a:pt x="65837" y="164592"/>
                </a:lnTo>
                <a:lnTo>
                  <a:pt x="0" y="88880"/>
                </a:lnTo>
                <a:close/>
              </a:path>
            </a:pathLst>
          </a:custGeom>
          <a:noFill/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1600200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5FDC"/>
                </a:solidFill>
                <a:latin typeface="Aptos"/>
              </a:rPr>
              <a:t>RUN THE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18288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ptos"/>
              </a:rPr>
              <a:t>Operations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97696" y="2212848"/>
            <a:ext cx="2377440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902952" y="2359152"/>
            <a:ext cx="566928" cy="566928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Gear 6 61"/>
          <p:cNvSpPr/>
          <p:nvPr/>
        </p:nvSpPr>
        <p:spPr>
          <a:xfrm>
            <a:off x="10051816" y="2508016"/>
            <a:ext cx="269199" cy="269199"/>
          </a:xfrm>
          <a:prstGeom prst="gear6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139598" y="2595798"/>
            <a:ext cx="93634" cy="93634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97696" y="303580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5FDC"/>
                </a:solidFill>
                <a:latin typeface="Aptos"/>
              </a:rPr>
              <a:t>Operations</a:t>
            </a:r>
          </a:p>
        </p:txBody>
      </p:sp>
      <p:sp>
        <p:nvSpPr>
          <p:cNvPr id="65" name="Freeform 64"/>
          <p:cNvSpPr/>
          <p:nvPr/>
        </p:nvSpPr>
        <p:spPr>
          <a:xfrm>
            <a:off x="9308592" y="3346704"/>
            <a:ext cx="1755648" cy="0"/>
          </a:xfrm>
          <a:custGeom>
            <a:avLst/>
            <a:gdLst/>
            <a:ahLst/>
            <a:cxnLst/>
            <a:rect l="l" t="t" r="r" b="b"/>
            <a:pathLst>
              <a:path w="1755648" h="0">
                <a:moveTo>
                  <a:pt x="0" y="0"/>
                </a:moveTo>
                <a:lnTo>
                  <a:pt x="1755648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97696" y="341985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5FDC"/>
                </a:solidFill>
                <a:latin typeface="Aptos"/>
              </a:rPr>
              <a:t>35,000+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89136" y="3822191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Operate and govern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at scale</a:t>
            </a:r>
          </a:p>
        </p:txBody>
      </p:sp>
      <p:sp>
        <p:nvSpPr>
          <p:cNvPr id="68" name="Oval 67"/>
          <p:cNvSpPr/>
          <p:nvPr/>
        </p:nvSpPr>
        <p:spPr>
          <a:xfrm>
            <a:off x="10136124" y="4247388"/>
            <a:ext cx="100584" cy="100584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186416" y="4352544"/>
            <a:ext cx="0" cy="658368"/>
          </a:xfrm>
          <a:custGeom>
            <a:avLst/>
            <a:gdLst/>
            <a:ahLst/>
            <a:cxnLst/>
            <a:rect l="l" t="t" r="r" b="b"/>
            <a:pathLst>
              <a:path w="0" h="658368">
                <a:moveTo>
                  <a:pt x="0" y="0"/>
                </a:moveTo>
                <a:lnTo>
                  <a:pt x="0" y="658368"/>
                </a:lnTo>
              </a:path>
            </a:pathLst>
          </a:custGeom>
          <a:noFill/>
          <a:ln w="9525">
            <a:solidFill>
              <a:srgbClr val="0F5F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0122408" y="4989880"/>
            <a:ext cx="128016" cy="57608"/>
          </a:xfrm>
          <a:custGeom>
            <a:avLst/>
            <a:gdLst/>
            <a:ahLst/>
            <a:cxnLst/>
            <a:rect l="l" t="t" r="r" b="b"/>
            <a:pathLst>
              <a:path w="128016" h="57608">
                <a:moveTo>
                  <a:pt x="0" y="0"/>
                </a:moveTo>
                <a:lnTo>
                  <a:pt x="64008" y="57608"/>
                </a:lnTo>
                <a:lnTo>
                  <a:pt x="128016" y="0"/>
                </a:lnTo>
                <a:close/>
              </a:path>
            </a:pathLst>
          </a:custGeom>
          <a:solidFill>
            <a:srgbClr val="0F5FDC"/>
          </a:solidFill>
          <a:ln w="1524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94360" y="5102352"/>
            <a:ext cx="11000232" cy="84124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411482"/>
              </a:gs>
              <a:gs pos="100000">
                <a:srgbClr val="0F5FD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82696" y="526694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3418027" y="5405018"/>
            <a:ext cx="241401" cy="71323"/>
          </a:xfrm>
          <a:prstGeom prst="diamond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Diamond 73"/>
          <p:cNvSpPr/>
          <p:nvPr/>
        </p:nvSpPr>
        <p:spPr>
          <a:xfrm>
            <a:off x="3418027" y="5481828"/>
            <a:ext cx="241401" cy="71323"/>
          </a:xfrm>
          <a:prstGeom prst="diamond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Diamond 74"/>
          <p:cNvSpPr/>
          <p:nvPr/>
        </p:nvSpPr>
        <p:spPr>
          <a:xfrm>
            <a:off x="3418027" y="5558637"/>
            <a:ext cx="241401" cy="71323"/>
          </a:xfrm>
          <a:prstGeom prst="diamond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77639" y="5102352"/>
            <a:ext cx="4937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AUTONOMOUS OPERATIONS PLATFORM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B9C8FF"/>
                </a:solidFill>
                <a:latin typeface="Aptos"/>
              </a:rPr>
              <a:t>AI-native   |   Scalable   |   Secure   |   Reusable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26480"/>
            <a:ext cx="11000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411482"/>
                </a:solidFill>
                <a:latin typeface="Aptos"/>
              </a:rPr>
              <a:t>One Platform.  Four Specialized Teams.  End-to-End Value.</a:t>
            </a:r>
          </a:p>
        </p:txBody>
      </p:sp>
      <p:sp>
        <p:nvSpPr>
          <p:cNvPr id="78" name="Freeform 77"/>
          <p:cNvSpPr/>
          <p:nvPr/>
        </p:nvSpPr>
        <p:spPr>
          <a:xfrm>
            <a:off x="960120" y="6254496"/>
            <a:ext cx="2148840" cy="0"/>
          </a:xfrm>
          <a:custGeom>
            <a:avLst/>
            <a:gdLst/>
            <a:ahLst/>
            <a:cxnLst/>
            <a:rect l="l" t="t" r="r" b="b"/>
            <a:pathLst>
              <a:path w="2148840" h="0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9079992" y="6254496"/>
            <a:ext cx="2148840" cy="0"/>
          </a:xfrm>
          <a:custGeom>
            <a:avLst/>
            <a:gdLst/>
            <a:ahLst/>
            <a:cxnLst/>
            <a:rect l="l" t="t" r="r" b="b"/>
            <a:pathLst>
              <a:path w="2148840" h="0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FY30 aspiration: </a:t>
            </a:r>
            <a:r>
              <a:rPr sz="2800" b="1">
                <a:solidFill>
                  <a:srgbClr val="5F1EBE"/>
                </a:solidFill>
                <a:latin typeface="Aptos"/>
              </a:rPr>
              <a:t>$1.5B through engineered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2x revenue, 4x business growth, and 430 bps of EBIT expansion.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17904"/>
            <a:ext cx="6903720" cy="420624"/>
          </a:xfrm>
          <a:prstGeom prst="roundRect">
            <a:avLst>
              <a:gd name="adj" fmla="val 2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400" b="1">
                <a:solidFill>
                  <a:srgbClr val="0F5FDC"/>
                </a:solidFill>
                <a:latin typeface="Aptos"/>
              </a:rPr>
              <a:t>2x Revenue  =  4x Business Growth</a:t>
            </a:r>
          </a:p>
        </p:txBody>
      </p:sp>
      <p:sp>
        <p:nvSpPr>
          <p:cNvPr id="5" name="Freeform 4"/>
          <p:cNvSpPr/>
          <p:nvPr/>
        </p:nvSpPr>
        <p:spPr>
          <a:xfrm>
            <a:off x="777240" y="5541264"/>
            <a:ext cx="6903720" cy="0"/>
          </a:xfrm>
          <a:custGeom>
            <a:avLst/>
            <a:gdLst/>
            <a:ahLst/>
            <a:cxnLst/>
            <a:rect l="l" t="t" r="r" b="b"/>
            <a:pathLst>
              <a:path w="6903720" h="0">
                <a:moveTo>
                  <a:pt x="0" y="0"/>
                </a:moveTo>
                <a:lnTo>
                  <a:pt x="6903720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6152" y="5650992"/>
            <a:ext cx="1133856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5650992"/>
            <a:ext cx="1133856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FY27-30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22392" y="5650992"/>
            <a:ext cx="1133856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FY30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4061399"/>
            <a:ext cx="1097280" cy="1479864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87079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Aptos"/>
              </a:rPr>
              <a:t>714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4712208"/>
            <a:ext cx="1097280" cy="829056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480364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Aptos"/>
              </a:rPr>
              <a:t>~375 -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Aptos"/>
              </a:rPr>
              <a:t>400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4061399"/>
            <a:ext cx="1097280" cy="650808"/>
          </a:xfrm>
          <a:prstGeom prst="rect">
            <a:avLst/>
          </a:prstGeom>
          <a:pattFill prst="ltUpDiag">
            <a:fgClr>
              <a:srgbClr val="A5AFBE"/>
            </a:fgClr>
            <a:bgClr>
              <a:srgbClr val="FFFFFF"/>
            </a:bgClr>
          </a:pattFill>
          <a:ln w="9525">
            <a:solidFill>
              <a:srgbClr val="A5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207703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~Rev at Risk</a:t>
            </a:r>
          </a:p>
        </p:txBody>
      </p:sp>
      <p:sp>
        <p:nvSpPr>
          <p:cNvPr id="15" name="Freeform 14"/>
          <p:cNvSpPr/>
          <p:nvPr/>
        </p:nvSpPr>
        <p:spPr>
          <a:xfrm>
            <a:off x="3227832" y="4061399"/>
            <a:ext cx="0" cy="650808"/>
          </a:xfrm>
          <a:custGeom>
            <a:avLst/>
            <a:gdLst/>
            <a:ahLst/>
            <a:cxnLst/>
            <a:rect l="l" t="t" r="r" b="b"/>
            <a:pathLst>
              <a:path w="0" h="650808">
                <a:moveTo>
                  <a:pt x="0" y="0"/>
                </a:moveTo>
                <a:lnTo>
                  <a:pt x="0" y="650808"/>
                </a:lnTo>
              </a:path>
            </a:pathLst>
          </a:custGeom>
          <a:noFill/>
          <a:ln w="12700">
            <a:solidFill>
              <a:srgbClr val="A5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227832" y="4061399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2700">
            <a:solidFill>
              <a:srgbClr val="A5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227832" y="4712207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2700">
            <a:solidFill>
              <a:srgbClr val="A5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4079687"/>
            <a:ext cx="12618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AI led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Compression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4492751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Depletion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4712208"/>
            <a:ext cx="1097280" cy="829056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80364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Aptos"/>
              </a:rPr>
              <a:t>~375 -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Aptos"/>
              </a:rPr>
              <a:t>400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2432303"/>
            <a:ext cx="1097280" cy="2279904"/>
          </a:xfrm>
          <a:prstGeom prst="rect">
            <a:avLst/>
          </a:prstGeom>
          <a:solidFill>
            <a:srgbClr val="8C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342595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~1.1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13969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Aptos"/>
              </a:rPr>
              <a:t>1.5 B</a:t>
            </a:r>
          </a:p>
        </p:txBody>
      </p:sp>
      <p:sp>
        <p:nvSpPr>
          <p:cNvPr id="25" name="Freeform 24"/>
          <p:cNvSpPr/>
          <p:nvPr/>
        </p:nvSpPr>
        <p:spPr>
          <a:xfrm>
            <a:off x="4480560" y="2487168"/>
            <a:ext cx="1005840" cy="2225040"/>
          </a:xfrm>
          <a:custGeom>
            <a:avLst/>
            <a:gdLst/>
            <a:ahLst/>
            <a:cxnLst/>
            <a:rect l="l" t="t" r="r" b="b"/>
            <a:pathLst>
              <a:path w="1005840" h="2225040">
                <a:moveTo>
                  <a:pt x="0" y="2225040"/>
                </a:moveTo>
                <a:lnTo>
                  <a:pt x="1005840" y="0"/>
                </a:lnTo>
              </a:path>
            </a:pathLst>
          </a:custGeom>
          <a:noFill/>
          <a:ln w="15875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5436107" y="2450591"/>
            <a:ext cx="137161" cy="61722"/>
          </a:xfrm>
          <a:custGeom>
            <a:avLst/>
            <a:gdLst/>
            <a:ahLst/>
            <a:cxnLst/>
            <a:rect l="l" t="t" r="r" b="b"/>
            <a:pathLst>
              <a:path w="137161" h="61722">
                <a:moveTo>
                  <a:pt x="0" y="61722"/>
                </a:moveTo>
                <a:lnTo>
                  <a:pt x="68581" y="0"/>
                </a:lnTo>
                <a:lnTo>
                  <a:pt x="137161" y="61722"/>
                </a:lnTo>
                <a:close/>
              </a:path>
            </a:pathLst>
          </a:custGeom>
          <a:solidFill>
            <a:srgbClr val="8291A0"/>
          </a:solidFill>
          <a:ln w="1524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3090672"/>
            <a:ext cx="768096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4X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1517904"/>
            <a:ext cx="3712463" cy="4443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1700784"/>
            <a:ext cx="3273551" cy="566928"/>
          </a:xfrm>
          <a:prstGeom prst="roundRect">
            <a:avLst>
              <a:gd name="adj" fmla="val 18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5F1EBE"/>
                </a:solidFill>
                <a:latin typeface="Aptos"/>
              </a:rPr>
              <a:t>EBIT EXPANSION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FY26 → FY30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2395728"/>
            <a:ext cx="3712463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0F5FDC"/>
                </a:solidFill>
                <a:latin typeface="Aptos"/>
              </a:rPr>
              <a:t>+430</a:t>
            </a:r>
            <a:r>
              <a:rPr sz="1500" b="1">
                <a:solidFill>
                  <a:srgbClr val="0F5FDC"/>
                </a:solidFill>
                <a:latin typeface="Aptos"/>
              </a:rPr>
              <a:t> bps</a:t>
            </a:r>
          </a:p>
        </p:txBody>
      </p:sp>
      <p:sp>
        <p:nvSpPr>
          <p:cNvPr id="31" name="Freeform 30"/>
          <p:cNvSpPr/>
          <p:nvPr/>
        </p:nvSpPr>
        <p:spPr>
          <a:xfrm>
            <a:off x="8339327" y="4129237"/>
            <a:ext cx="2798065" cy="1210859"/>
          </a:xfrm>
          <a:custGeom>
            <a:avLst/>
            <a:gdLst/>
            <a:ahLst/>
            <a:cxnLst/>
            <a:rect l="l" t="t" r="r" b="b"/>
            <a:pathLst>
              <a:path w="2798065" h="1210859">
                <a:moveTo>
                  <a:pt x="0" y="1210859"/>
                </a:moveTo>
                <a:lnTo>
                  <a:pt x="0" y="1020920"/>
                </a:lnTo>
                <a:lnTo>
                  <a:pt x="1399032" y="522331"/>
                </a:lnTo>
                <a:lnTo>
                  <a:pt x="2798065" y="0"/>
                </a:lnTo>
                <a:lnTo>
                  <a:pt x="2798065" y="1210859"/>
                </a:lnTo>
                <a:close/>
              </a:path>
            </a:pathLst>
          </a:cu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339327" y="4129237"/>
            <a:ext cx="2798065" cy="1020920"/>
          </a:xfrm>
          <a:custGeom>
            <a:avLst/>
            <a:gdLst/>
            <a:ahLst/>
            <a:cxnLst/>
            <a:rect l="l" t="t" r="r" b="b"/>
            <a:pathLst>
              <a:path w="2798065" h="1020920">
                <a:moveTo>
                  <a:pt x="0" y="1020920"/>
                </a:moveTo>
                <a:lnTo>
                  <a:pt x="1399032" y="522331"/>
                </a:lnTo>
                <a:lnTo>
                  <a:pt x="2798065" y="0"/>
                </a:lnTo>
              </a:path>
            </a:pathLst>
          </a:custGeom>
          <a:noFill/>
          <a:ln w="28575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229600" y="5340096"/>
            <a:ext cx="3017520" cy="0"/>
          </a:xfrm>
          <a:custGeom>
            <a:avLst/>
            <a:gdLst/>
            <a:ahLst/>
            <a:cxnLst/>
            <a:rect l="l" t="t" r="r" b="b"/>
            <a:pathLst>
              <a:path w="3017520" h="0">
                <a:moveTo>
                  <a:pt x="0" y="0"/>
                </a:moveTo>
                <a:lnTo>
                  <a:pt x="3017520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9892" y="5090721"/>
            <a:ext cx="118872" cy="118872"/>
          </a:xfrm>
          <a:prstGeom prst="ellipse">
            <a:avLst/>
          </a:prstGeom>
          <a:solidFill>
            <a:srgbClr val="0F5FD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78924" y="4592132"/>
            <a:ext cx="118872" cy="118872"/>
          </a:xfrm>
          <a:prstGeom prst="ellipse">
            <a:avLst/>
          </a:prstGeom>
          <a:solidFill>
            <a:srgbClr val="0F5FD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077956" y="4069801"/>
            <a:ext cx="118872" cy="118872"/>
          </a:xfrm>
          <a:prstGeom prst="ellipse">
            <a:avLst/>
          </a:prstGeom>
          <a:solidFill>
            <a:srgbClr val="0F5FD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4875837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8291A0"/>
                </a:solidFill>
                <a:latin typeface="Aptos"/>
              </a:rPr>
              <a:t>13.3%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3888" y="3836629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5FDC"/>
                </a:solidFill>
                <a:latin typeface="Aptos"/>
              </a:rPr>
              <a:t>17.6%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43153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FY26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33888" y="543153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ptos"/>
              </a:rPr>
              <a:t>FY30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534656" y="3511296"/>
            <a:ext cx="292608" cy="384048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Deliberate growth through </a:t>
            </a:r>
            <a:r>
              <a:rPr sz="2800" b="1">
                <a:solidFill>
                  <a:srgbClr val="5F1EBE"/>
                </a:solidFill>
                <a:latin typeface="Aptos"/>
              </a:rPr>
              <a:t>portfolio diversification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25 to 80 accounts by FY30 — broader base, deeper verticals, wider geographic spread.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72768"/>
            <a:ext cx="3456432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10512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ptos"/>
              </a:rPr>
              <a:t>80% of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323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FY27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24323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FY30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000000"/>
                </a:solidFill>
                <a:latin typeface="Apto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2670048"/>
            <a:ext cx="49377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A5AFBE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670048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5F1EBE"/>
                </a:solidFill>
                <a:latin typeface="Aptos"/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6499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336499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Accounts</a:t>
            </a:r>
          </a:p>
        </p:txBody>
      </p:sp>
      <p:sp>
        <p:nvSpPr>
          <p:cNvPr id="13" name="Freeform 12"/>
          <p:cNvSpPr/>
          <p:nvPr/>
        </p:nvSpPr>
        <p:spPr>
          <a:xfrm>
            <a:off x="978408" y="3950208"/>
            <a:ext cx="2688336" cy="0"/>
          </a:xfrm>
          <a:custGeom>
            <a:avLst/>
            <a:gdLst/>
            <a:ahLst/>
            <a:cxnLst/>
            <a:rect l="l" t="t" r="r" b="b"/>
            <a:pathLst>
              <a:path w="2688336" h="0">
                <a:moveTo>
                  <a:pt x="0" y="0"/>
                </a:moveTo>
                <a:lnTo>
                  <a:pt x="2688336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87952"/>
            <a:ext cx="34564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Aptos"/>
              </a:rPr>
              <a:t>$24M</a:t>
            </a:r>
            <a:r>
              <a:rPr sz="1400" b="1">
                <a:solidFill>
                  <a:srgbClr val="A5AFBE"/>
                </a:solidFill>
                <a:latin typeface="Aptos"/>
              </a:rPr>
              <a:t>   →   </a:t>
            </a:r>
            <a:r>
              <a:rPr sz="2100" b="1">
                <a:solidFill>
                  <a:srgbClr val="5F1EBE"/>
                </a:solidFill>
                <a:latin typeface="Aptos"/>
              </a:rPr>
              <a:t>$15M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Average revenue per 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6260" y="1572768"/>
            <a:ext cx="3456432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6260" y="1810512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ptos"/>
              </a:rPr>
              <a:t>Vertical Mix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9140" y="2322576"/>
            <a:ext cx="3090672" cy="365760"/>
          </a:xfrm>
          <a:prstGeom prst="roundRect">
            <a:avLst>
              <a:gd name="adj" fmla="val 16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0660" y="232257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FY26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($M)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1012" y="232257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FY30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($M)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2322576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Propositions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49140" y="2688336"/>
            <a:ext cx="3090672" cy="493776"/>
          </a:xfrm>
          <a:prstGeom prst="rect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4860" y="2688336"/>
            <a:ext cx="6400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ptos"/>
              </a:rPr>
              <a:t>TMT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6380" y="2688336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259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6732" y="2688336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7084" y="2688336"/>
            <a:ext cx="120700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Sales Ops, Customer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4860" y="3182112"/>
            <a:ext cx="6400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ptos"/>
              </a:rPr>
              <a:t>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6380" y="3182112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113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6732" y="3182112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7084" y="3182112"/>
            <a:ext cx="120700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Insurance, Retail Banking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9140" y="3675887"/>
            <a:ext cx="3090672" cy="493776"/>
          </a:xfrm>
          <a:prstGeom prst="rect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4860" y="3675887"/>
            <a:ext cx="6400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ptos"/>
              </a:rPr>
              <a:t>Neo.AI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6380" y="3675887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106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6732" y="3675887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225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7084" y="3675887"/>
            <a:ext cx="120700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F&amp;A, Procurement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4860" y="4169664"/>
            <a:ext cx="6400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ptos"/>
              </a:rPr>
              <a:t>GEM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6380" y="4169664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6732" y="4169664"/>
            <a:ext cx="43891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175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7084" y="4169664"/>
            <a:ext cx="120700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F&amp;A, Procurement, HRO</a:t>
            </a:r>
          </a:p>
        </p:txBody>
      </p:sp>
      <p:sp>
        <p:nvSpPr>
          <p:cNvPr id="40" name="Freeform 39"/>
          <p:cNvSpPr/>
          <p:nvPr/>
        </p:nvSpPr>
        <p:spPr>
          <a:xfrm>
            <a:off x="4549140" y="4663440"/>
            <a:ext cx="3090672" cy="0"/>
          </a:xfrm>
          <a:custGeom>
            <a:avLst/>
            <a:gdLst/>
            <a:ahLst/>
            <a:cxnLst/>
            <a:rect l="l" t="t" r="r" b="b"/>
            <a:pathLst>
              <a:path w="3090672" h="0">
                <a:moveTo>
                  <a:pt x="0" y="0"/>
                </a:moveTo>
                <a:lnTo>
                  <a:pt x="3090672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8160" y="1572768"/>
            <a:ext cx="3456432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1810512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ptos"/>
              </a:rPr>
              <a:t>Region Mix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8613648" y="2176272"/>
          <a:ext cx="2505456" cy="22128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8412480" y="4517136"/>
            <a:ext cx="290779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F1EBE"/>
                </a:solidFill>
                <a:latin typeface="Aptos"/>
              </a:rPr>
              <a:t>Americas</a:t>
            </a:r>
            <a:r>
              <a:rPr sz="1050" b="0">
                <a:solidFill>
                  <a:srgbClr val="000000"/>
                </a:solidFill>
                <a:latin typeface="Aptos"/>
              </a:rPr>
              <a:t>   $1 Bn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8C69F0"/>
                </a:solidFill>
                <a:latin typeface="Aptos"/>
              </a:rPr>
              <a:t>EMEA</a:t>
            </a:r>
            <a:r>
              <a:rPr sz="1050" b="0">
                <a:solidFill>
                  <a:srgbClr val="000000"/>
                </a:solidFill>
                <a:latin typeface="Aptos"/>
              </a:rPr>
              <a:t>   $400 Mn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8291A0"/>
                </a:solidFill>
                <a:latin typeface="Aptos"/>
              </a:rPr>
              <a:t>RoW</a:t>
            </a:r>
            <a:r>
              <a:rPr sz="1050" b="0">
                <a:solidFill>
                  <a:srgbClr val="000000"/>
                </a:solidFill>
                <a:latin typeface="Aptos"/>
              </a:rPr>
              <a:t>   $100 Mn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114800" y="3310128"/>
            <a:ext cx="182880" cy="237744"/>
          </a:xfrm>
          <a:prstGeom prst="triangl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5400000">
            <a:off x="7886700" y="3310128"/>
            <a:ext cx="182880" cy="237744"/>
          </a:xfrm>
          <a:prstGeom prst="triangl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Expanding revenue </a:t>
            </a:r>
            <a:r>
              <a:rPr sz="2800" b="1">
                <a:solidFill>
                  <a:srgbClr val="5F1EBE"/>
                </a:solidFill>
                <a:latin typeface="Aptos"/>
              </a:rPr>
              <a:t>beyond traditional ARR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Transaction-based pricing adds a Platform IP layer on top of Resource ARR.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901440"/>
            <a:ext cx="1024128" cy="944879"/>
          </a:xfrm>
          <a:prstGeom prst="rect">
            <a:avLst/>
          </a:prstGeom>
          <a:solidFill>
            <a:srgbClr val="3C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27120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5FDC"/>
                </a:solidFill>
                <a:latin typeface="Aptos"/>
              </a:rPr>
              <a:t>+3%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937759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368296" y="3271519"/>
            <a:ext cx="1024128" cy="629920"/>
          </a:xfrm>
          <a:prstGeom prst="rect">
            <a:avLst/>
          </a:prstGeom>
          <a:solidFill>
            <a:srgbClr val="3C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68296" y="2997200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5FDC"/>
                </a:solidFill>
                <a:latin typeface="Aptos"/>
              </a:rPr>
              <a:t>+2%</a:t>
            </a:r>
          </a:p>
        </p:txBody>
      </p:sp>
      <p:sp>
        <p:nvSpPr>
          <p:cNvPr id="9" name="Freeform 8"/>
          <p:cNvSpPr/>
          <p:nvPr/>
        </p:nvSpPr>
        <p:spPr>
          <a:xfrm>
            <a:off x="960120" y="3901440"/>
            <a:ext cx="1920240" cy="0"/>
          </a:xfrm>
          <a:custGeom>
            <a:avLst/>
            <a:gdLst/>
            <a:ahLst/>
            <a:cxnLst/>
            <a:rect l="l" t="t" r="r" b="b"/>
            <a:pathLst>
              <a:path w="1920240" h="0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8296" y="4937759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6472" y="2641599"/>
            <a:ext cx="1024128" cy="629920"/>
          </a:xfrm>
          <a:prstGeom prst="rect">
            <a:avLst/>
          </a:prstGeom>
          <a:solidFill>
            <a:srgbClr val="3C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367279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5FDC"/>
                </a:solidFill>
                <a:latin typeface="Aptos"/>
              </a:rPr>
              <a:t>+2%</a:t>
            </a:r>
          </a:p>
        </p:txBody>
      </p:sp>
      <p:sp>
        <p:nvSpPr>
          <p:cNvPr id="13" name="Freeform 12"/>
          <p:cNvSpPr/>
          <p:nvPr/>
        </p:nvSpPr>
        <p:spPr>
          <a:xfrm>
            <a:off x="2368296" y="3271519"/>
            <a:ext cx="1920240" cy="0"/>
          </a:xfrm>
          <a:custGeom>
            <a:avLst/>
            <a:gdLst/>
            <a:ahLst/>
            <a:cxnLst/>
            <a:rect l="l" t="t" r="r" b="b"/>
            <a:pathLst>
              <a:path w="1920240" h="0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4937759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4648" y="2169160"/>
            <a:ext cx="1024128" cy="472439"/>
          </a:xfrm>
          <a:prstGeom prst="rect">
            <a:avLst/>
          </a:prstGeom>
          <a:solidFill>
            <a:srgbClr val="3C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894840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5FDC"/>
                </a:solidFill>
                <a:latin typeface="Aptos"/>
              </a:rPr>
              <a:t>+1.5%</a:t>
            </a:r>
          </a:p>
        </p:txBody>
      </p:sp>
      <p:sp>
        <p:nvSpPr>
          <p:cNvPr id="17" name="Freeform 16"/>
          <p:cNvSpPr/>
          <p:nvPr/>
        </p:nvSpPr>
        <p:spPr>
          <a:xfrm>
            <a:off x="3776472" y="2641599"/>
            <a:ext cx="1920240" cy="0"/>
          </a:xfrm>
          <a:custGeom>
            <a:avLst/>
            <a:gdLst/>
            <a:ahLst/>
            <a:cxnLst/>
            <a:rect l="l" t="t" r="r" b="b"/>
            <a:pathLst>
              <a:path w="1920240" h="0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4937759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2824" y="2169160"/>
            <a:ext cx="1024128" cy="2677160"/>
          </a:xfrm>
          <a:prstGeom prst="rect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1876552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F1EBE"/>
                </a:solidFill>
                <a:latin typeface="Aptos"/>
              </a:rPr>
              <a:t>8 – 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937759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ptos"/>
              </a:rPr>
              <a:t>FY30 total</a:t>
            </a:r>
          </a:p>
        </p:txBody>
      </p:sp>
      <p:sp>
        <p:nvSpPr>
          <p:cNvPr id="22" name="Freeform 21"/>
          <p:cNvSpPr/>
          <p:nvPr/>
        </p:nvSpPr>
        <p:spPr>
          <a:xfrm>
            <a:off x="5184648" y="2169160"/>
            <a:ext cx="1920240" cy="0"/>
          </a:xfrm>
          <a:custGeom>
            <a:avLst/>
            <a:gdLst/>
            <a:ahLst/>
            <a:cxnLst/>
            <a:rect l="l" t="t" r="r" b="b"/>
            <a:pathLst>
              <a:path w="1920240" h="0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777240" y="4846320"/>
            <a:ext cx="7223760" cy="0"/>
          </a:xfrm>
          <a:custGeom>
            <a:avLst/>
            <a:gdLst/>
            <a:ahLst/>
            <a:cxnLst/>
            <a:rect l="l" t="t" r="r" b="b"/>
            <a:pathLst>
              <a:path w="7223760" h="0">
                <a:moveTo>
                  <a:pt x="0" y="0"/>
                </a:moveTo>
                <a:lnTo>
                  <a:pt x="7223760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157276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291A0"/>
                </a:solidFill>
                <a:latin typeface="Aptos"/>
              </a:rPr>
              <a:t>Platform IP revenue, % of total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75504"/>
            <a:ext cx="7223760" cy="402336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2486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0455" y="5309372"/>
            <a:ext cx="33649" cy="33649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1066556" y="5353263"/>
            <a:ext cx="61447" cy="497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2906" y="5321076"/>
            <a:ext cx="27797" cy="27797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1027054" y="5362041"/>
            <a:ext cx="39502" cy="40965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3856" y="5321076"/>
            <a:ext cx="27797" cy="27797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1128003" y="5362041"/>
            <a:ext cx="39502" cy="40965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52944" y="52486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622438" y="5306446"/>
            <a:ext cx="117043" cy="146304"/>
          </a:xfrm>
          <a:custGeom>
            <a:avLst/>
            <a:gdLst/>
            <a:ahLst/>
            <a:cxnLst/>
            <a:rect l="l" t="t" r="r" b="b"/>
            <a:pathLst>
              <a:path w="117043" h="146304">
                <a:moveTo>
                  <a:pt x="0" y="0"/>
                </a:moveTo>
                <a:lnTo>
                  <a:pt x="117043" y="0"/>
                </a:lnTo>
                <a:lnTo>
                  <a:pt x="117043" y="79004"/>
                </a:lnTo>
                <a:lnTo>
                  <a:pt x="58522" y="146304"/>
                </a:lnTo>
                <a:lnTo>
                  <a:pt x="0" y="79004"/>
                </a:lnTo>
                <a:close/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175504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RESOURCE ARR FOUNDATION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1572768"/>
            <a:ext cx="3319272" cy="4005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24060" y="1847088"/>
            <a:ext cx="621792" cy="621792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85725" y="2182855"/>
            <a:ext cx="62179" cy="9948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85212" y="2120676"/>
            <a:ext cx="62179" cy="161665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84699" y="2052279"/>
            <a:ext cx="62179" cy="230063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670048"/>
            <a:ext cx="3319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F1EBE"/>
                </a:solidFill>
                <a:latin typeface="Aptos"/>
              </a:rPr>
              <a:t>Platform IP revenue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F1EBE"/>
                </a:solidFill>
                <a:latin typeface="Aptos"/>
              </a:rPr>
              <a:t>layer grows</a:t>
            </a:r>
          </a:p>
        </p:txBody>
      </p:sp>
      <p:sp>
        <p:nvSpPr>
          <p:cNvPr id="42" name="Freeform 41"/>
          <p:cNvSpPr/>
          <p:nvPr/>
        </p:nvSpPr>
        <p:spPr>
          <a:xfrm>
            <a:off x="8823960" y="3401568"/>
            <a:ext cx="2221992" cy="0"/>
          </a:xfrm>
          <a:custGeom>
            <a:avLst/>
            <a:gdLst/>
            <a:ahLst/>
            <a:cxnLst/>
            <a:rect l="l" t="t" r="r" b="b"/>
            <a:pathLst>
              <a:path w="2221992" h="0">
                <a:moveTo>
                  <a:pt x="0" y="0"/>
                </a:moveTo>
                <a:lnTo>
                  <a:pt x="2221992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3584448"/>
            <a:ext cx="33192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F5FDC"/>
                </a:solidFill>
                <a:latin typeface="Aptos"/>
              </a:rPr>
              <a:t>3%</a:t>
            </a:r>
            <a:r>
              <a:rPr sz="1600" b="1">
                <a:solidFill>
                  <a:srgbClr val="A5AFBE"/>
                </a:solidFill>
                <a:latin typeface="Aptos"/>
              </a:rPr>
              <a:t>   →   </a:t>
            </a:r>
            <a:r>
              <a:rPr sz="2600" b="1">
                <a:solidFill>
                  <a:srgbClr val="5F1EBE"/>
                </a:solidFill>
                <a:latin typeface="Aptos"/>
              </a:rPr>
              <a:t>8 – 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224528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8291A0"/>
                </a:solidFill>
                <a:latin typeface="Aptos"/>
              </a:rPr>
              <a:t>FY27 → FY30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44584" y="4864608"/>
            <a:ext cx="329184" cy="274320"/>
          </a:xfrm>
          <a:prstGeom prst="roundRect">
            <a:avLst>
              <a:gd name="adj" fmla="val 22000"/>
            </a:avLst>
          </a:prstGeom>
          <a:solidFill>
            <a:srgbClr val="8C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20072" y="4718304"/>
            <a:ext cx="329184" cy="420624"/>
          </a:xfrm>
          <a:prstGeom prst="roundRect">
            <a:avLst>
              <a:gd name="adj" fmla="val 22000"/>
            </a:avLst>
          </a:prstGeom>
          <a:solidFill>
            <a:srgbClr val="8C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195560" y="4535424"/>
            <a:ext cx="329184" cy="603504"/>
          </a:xfrm>
          <a:prstGeom prst="roundRect">
            <a:avLst>
              <a:gd name="adj" fmla="val 22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5779008"/>
            <a:ext cx="11000232" cy="603504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411482"/>
              </a:gs>
              <a:gs pos="100000">
                <a:srgbClr val="0F5FD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2688" y="59161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2415" y="5996635"/>
            <a:ext cx="109728" cy="109728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73505" y="6110020"/>
            <a:ext cx="47548" cy="54864"/>
          </a:xfrm>
          <a:prstGeom prst="roundRect">
            <a:avLst>
              <a:gd name="adj" fmla="val 4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4752" y="5779008"/>
            <a:ext cx="98755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ptos"/>
              </a:rPr>
              <a:t>Resource ARR remains the foundation. </a:t>
            </a:r>
            <a:r>
              <a:rPr sz="1250" b="0">
                <a:solidFill>
                  <a:srgbClr val="B9C8FF"/>
                </a:solidFill>
                <a:latin typeface="Aptos"/>
              </a:rPr>
              <a:t>Platform IP adds a growing transaction-based revenue 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Transforming our </a:t>
            </a:r>
            <a:r>
              <a:rPr sz="2800" b="1">
                <a:solidFill>
                  <a:srgbClr val="5F1EBE"/>
                </a:solidFill>
                <a:latin typeface="Aptos"/>
              </a:rPr>
              <a:t>people &amp;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Building DPO's talent engine for agentic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257860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594360" y="1554480"/>
            <a:ext cx="2578608" cy="493776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Management Talent Inclusion</a:t>
            </a:r>
          </a:p>
        </p:txBody>
      </p:sp>
      <p:sp>
        <p:nvSpPr>
          <p:cNvPr id="6" name="Oval 5"/>
          <p:cNvSpPr/>
          <p:nvPr/>
        </p:nvSpPr>
        <p:spPr>
          <a:xfrm>
            <a:off x="1627632" y="2176272"/>
            <a:ext cx="512064" cy="51206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52117" y="2306116"/>
            <a:ext cx="63093" cy="63093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1826056" y="2388412"/>
            <a:ext cx="115214" cy="93268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2963" y="2328062"/>
            <a:ext cx="52120" cy="52120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1751990" y="2404872"/>
            <a:ext cx="74066" cy="76809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52244" y="2328062"/>
            <a:ext cx="52120" cy="52120"/>
          </a:xfrm>
          <a:prstGeom prst="ellipse">
            <a:avLst/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1941271" y="2404872"/>
            <a:ext cx="74066" cy="76809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61488"/>
            <a:ext cx="2578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411482"/>
                </a:solidFill>
                <a:latin typeface="Aptos"/>
              </a:rPr>
              <a:t>5+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61288" y="3218688"/>
            <a:ext cx="1444751" cy="0"/>
          </a:xfrm>
          <a:custGeom>
            <a:avLst/>
            <a:gdLst/>
            <a:ahLst/>
            <a:cxnLst/>
            <a:rect l="l" t="t" r="r" b="b"/>
            <a:pathLst>
              <a:path w="1444751" h="0">
                <a:moveTo>
                  <a:pt x="0" y="0"/>
                </a:moveTo>
                <a:lnTo>
                  <a:pt x="1444751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291839"/>
            <a:ext cx="2322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E7+ leaders hired for AI capability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554480"/>
            <a:ext cx="257860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3401568" y="1554480"/>
            <a:ext cx="2578608" cy="493776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Elite Talent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2176272"/>
            <a:ext cx="512064" cy="51206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4559198" y="2300630"/>
            <a:ext cx="263347" cy="263347"/>
          </a:xfrm>
          <a:prstGeom prst="star5">
            <a:avLst/>
          </a:prstGeom>
          <a:noFill/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2761488"/>
            <a:ext cx="2578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F5FDC"/>
                </a:solidFill>
                <a:latin typeface="Aptos"/>
              </a:rPr>
              <a:t>50+</a:t>
            </a:r>
          </a:p>
        </p:txBody>
      </p:sp>
      <p:sp>
        <p:nvSpPr>
          <p:cNvPr id="21" name="Freeform 20"/>
          <p:cNvSpPr/>
          <p:nvPr/>
        </p:nvSpPr>
        <p:spPr>
          <a:xfrm>
            <a:off x="3968496" y="3218688"/>
            <a:ext cx="1444752" cy="0"/>
          </a:xfrm>
          <a:custGeom>
            <a:avLst/>
            <a:gdLst/>
            <a:ahLst/>
            <a:cxnLst/>
            <a:rect l="l" t="t" r="r" b="b"/>
            <a:pathLst>
              <a:path w="1444752" h="0">
                <a:moveTo>
                  <a:pt x="0" y="0"/>
                </a:moveTo>
                <a:lnTo>
                  <a:pt x="1444752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3291839"/>
            <a:ext cx="2322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Offers to elite-vendor candidates, FY27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554480"/>
            <a:ext cx="257860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6208776" y="1554480"/>
            <a:ext cx="2578608" cy="493776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Resetting the Bar</a:t>
            </a:r>
          </a:p>
        </p:txBody>
      </p:sp>
      <p:sp>
        <p:nvSpPr>
          <p:cNvPr id="25" name="Oval 24"/>
          <p:cNvSpPr/>
          <p:nvPr/>
        </p:nvSpPr>
        <p:spPr>
          <a:xfrm>
            <a:off x="7242047" y="2176272"/>
            <a:ext cx="512064" cy="51206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6406" y="2454249"/>
            <a:ext cx="54864" cy="87782"/>
          </a:xfrm>
          <a:prstGeom prst="roundRect">
            <a:avLst>
              <a:gd name="adj" fmla="val 28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54188" y="2399385"/>
            <a:ext cx="54864" cy="142646"/>
          </a:xfrm>
          <a:prstGeom prst="roundRect">
            <a:avLst>
              <a:gd name="adj" fmla="val 28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1971" y="2339035"/>
            <a:ext cx="54864" cy="202996"/>
          </a:xfrm>
          <a:prstGeom prst="roundRect">
            <a:avLst>
              <a:gd name="adj" fmla="val 28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2761488"/>
            <a:ext cx="2578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5F1EBE"/>
                </a:solidFill>
                <a:latin typeface="Aptos"/>
              </a:rPr>
              <a:t>1,200+</a:t>
            </a:r>
          </a:p>
        </p:txBody>
      </p:sp>
      <p:sp>
        <p:nvSpPr>
          <p:cNvPr id="30" name="Freeform 29"/>
          <p:cNvSpPr/>
          <p:nvPr/>
        </p:nvSpPr>
        <p:spPr>
          <a:xfrm>
            <a:off x="6775704" y="3218688"/>
            <a:ext cx="1444752" cy="0"/>
          </a:xfrm>
          <a:custGeom>
            <a:avLst/>
            <a:gdLst/>
            <a:ahLst/>
            <a:cxnLst/>
            <a:rect l="l" t="t" r="r" b="b"/>
            <a:pathLst>
              <a:path w="1444752" h="0">
                <a:moveTo>
                  <a:pt x="0" y="0"/>
                </a:moveTo>
                <a:lnTo>
                  <a:pt x="1444752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291839"/>
            <a:ext cx="2322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Assessed for technology aptitude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984" y="1554480"/>
            <a:ext cx="257860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9015984" y="1554480"/>
            <a:ext cx="2578608" cy="493776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AI Capability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10049256" y="2176272"/>
            <a:ext cx="512064" cy="51206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5112" y="2306116"/>
            <a:ext cx="60350" cy="60350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95560" y="2487168"/>
            <a:ext cx="60350" cy="60350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54665" y="2487168"/>
            <a:ext cx="60350" cy="60350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0225735" y="2377440"/>
            <a:ext cx="79553" cy="115214"/>
          </a:xfrm>
          <a:custGeom>
            <a:avLst/>
            <a:gdLst/>
            <a:ahLst/>
            <a:cxnLst/>
            <a:rect l="l" t="t" r="r" b="b"/>
            <a:pathLst>
              <a:path w="79553" h="115214">
                <a:moveTo>
                  <a:pt x="79553" y="0"/>
                </a:moveTo>
                <a:lnTo>
                  <a:pt x="0" y="115214"/>
                </a:lnTo>
              </a:path>
            </a:pathLst>
          </a:custGeom>
          <a:noFill/>
          <a:ln w="1016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0305288" y="2377440"/>
            <a:ext cx="79552" cy="115214"/>
          </a:xfrm>
          <a:custGeom>
            <a:avLst/>
            <a:gdLst/>
            <a:ahLst/>
            <a:cxnLst/>
            <a:rect l="l" t="t" r="r" b="b"/>
            <a:pathLst>
              <a:path w="79552" h="115214">
                <a:moveTo>
                  <a:pt x="0" y="0"/>
                </a:moveTo>
                <a:lnTo>
                  <a:pt x="79552" y="115214"/>
                </a:lnTo>
              </a:path>
            </a:pathLst>
          </a:custGeom>
          <a:noFill/>
          <a:ln w="1016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0225735" y="2514600"/>
            <a:ext cx="159105" cy="0"/>
          </a:xfrm>
          <a:custGeom>
            <a:avLst/>
            <a:gdLst/>
            <a:ahLst/>
            <a:cxnLst/>
            <a:rect l="l" t="t" r="r" b="b"/>
            <a:pathLst>
              <a:path w="159105" h="0">
                <a:moveTo>
                  <a:pt x="0" y="0"/>
                </a:moveTo>
                <a:lnTo>
                  <a:pt x="159105" y="0"/>
                </a:lnTo>
              </a:path>
            </a:pathLst>
          </a:custGeom>
          <a:noFill/>
          <a:ln w="1016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15984" y="2761488"/>
            <a:ext cx="2578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F5FDC"/>
                </a:solidFill>
                <a:latin typeface="Aptos"/>
              </a:rPr>
              <a:t>53%+</a:t>
            </a:r>
          </a:p>
        </p:txBody>
      </p:sp>
      <p:sp>
        <p:nvSpPr>
          <p:cNvPr id="42" name="Freeform 41"/>
          <p:cNvSpPr/>
          <p:nvPr/>
        </p:nvSpPr>
        <p:spPr>
          <a:xfrm>
            <a:off x="9582911" y="3218688"/>
            <a:ext cx="1444752" cy="0"/>
          </a:xfrm>
          <a:custGeom>
            <a:avLst/>
            <a:gdLst/>
            <a:ahLst/>
            <a:cxnLst/>
            <a:rect l="l" t="t" r="r" b="b"/>
            <a:pathLst>
              <a:path w="1444752" h="0">
                <a:moveTo>
                  <a:pt x="0" y="0"/>
                </a:moveTo>
                <a:lnTo>
                  <a:pt x="1444752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291839"/>
            <a:ext cx="2322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GenAI L1 completed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3877056"/>
            <a:ext cx="11000232" cy="1517904"/>
          </a:xfrm>
          <a:prstGeom prst="roundRect">
            <a:avLst>
              <a:gd name="adj" fmla="val 8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005072"/>
            <a:ext cx="11000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F1EBE"/>
                </a:solidFill>
                <a:latin typeface="Aptos"/>
              </a:rPr>
              <a:t>CULTURAL SHIFT REQUIRED FOR A STARTUP</a:t>
            </a:r>
          </a:p>
        </p:txBody>
      </p:sp>
      <p:sp>
        <p:nvSpPr>
          <p:cNvPr id="46" name="Oval 45"/>
          <p:cNvSpPr/>
          <p:nvPr/>
        </p:nvSpPr>
        <p:spPr>
          <a:xfrm>
            <a:off x="1530858" y="4352544"/>
            <a:ext cx="493776" cy="49377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49730" y="4471416"/>
            <a:ext cx="256032" cy="25603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13738" y="4535424"/>
            <a:ext cx="128016" cy="12801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757263" y="4578949"/>
            <a:ext cx="40965" cy="409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4937760"/>
            <a:ext cx="16169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Own the Outcome</a:t>
            </a:r>
          </a:p>
        </p:txBody>
      </p:sp>
      <p:sp>
        <p:nvSpPr>
          <p:cNvPr id="51" name="Freeform 50"/>
          <p:cNvSpPr/>
          <p:nvPr/>
        </p:nvSpPr>
        <p:spPr>
          <a:xfrm>
            <a:off x="2595372" y="455371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45720"/>
                </a:lnTo>
                <a:lnTo>
                  <a:pt x="0" y="91440"/>
                </a:lnTo>
              </a:path>
            </a:pathLst>
          </a:custGeom>
          <a:noFill/>
          <a:ln w="1524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7550" y="4352544"/>
            <a:ext cx="493776" cy="49377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474994" y="4481657"/>
            <a:ext cx="58887" cy="58887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>
            <a:off x="3450671" y="4558466"/>
            <a:ext cx="107533" cy="87050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391783" y="4502139"/>
            <a:ext cx="48646" cy="4864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3381542" y="4573828"/>
            <a:ext cx="69128" cy="71688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68446" y="4502139"/>
            <a:ext cx="48646" cy="4864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>
            <a:off x="3558204" y="4573828"/>
            <a:ext cx="69128" cy="71688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5956" y="4937760"/>
            <a:ext cx="16169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Customer Obsessed</a:t>
            </a:r>
          </a:p>
        </p:txBody>
      </p:sp>
      <p:sp>
        <p:nvSpPr>
          <p:cNvPr id="60" name="Freeform 59"/>
          <p:cNvSpPr/>
          <p:nvPr/>
        </p:nvSpPr>
        <p:spPr>
          <a:xfrm>
            <a:off x="4322064" y="455371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45720"/>
                </a:lnTo>
                <a:lnTo>
                  <a:pt x="0" y="91440"/>
                </a:lnTo>
              </a:path>
            </a:pathLst>
          </a:custGeom>
          <a:noFill/>
          <a:ln w="1524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984242" y="4352544"/>
            <a:ext cx="493776" cy="49377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154320" y="4481657"/>
            <a:ext cx="153619" cy="153619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197845" y="4640397"/>
            <a:ext cx="66568" cy="7680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22647" y="4937760"/>
            <a:ext cx="16169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Innovate Relentlessly</a:t>
            </a:r>
          </a:p>
        </p:txBody>
      </p:sp>
      <p:sp>
        <p:nvSpPr>
          <p:cNvPr id="65" name="Freeform 64"/>
          <p:cNvSpPr/>
          <p:nvPr/>
        </p:nvSpPr>
        <p:spPr>
          <a:xfrm>
            <a:off x="6048756" y="455371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45720"/>
                </a:lnTo>
                <a:lnTo>
                  <a:pt x="0" y="91440"/>
                </a:lnTo>
              </a:path>
            </a:pathLst>
          </a:custGeom>
          <a:noFill/>
          <a:ln w="1524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710934" y="4352544"/>
            <a:ext cx="493776" cy="49377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834926" y="4522622"/>
            <a:ext cx="153619" cy="153619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927098" y="4522622"/>
            <a:ext cx="153619" cy="153619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49340" y="4937760"/>
            <a:ext cx="16169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One Team</a:t>
            </a:r>
          </a:p>
        </p:txBody>
      </p:sp>
      <p:sp>
        <p:nvSpPr>
          <p:cNvPr id="70" name="Freeform 69"/>
          <p:cNvSpPr/>
          <p:nvPr/>
        </p:nvSpPr>
        <p:spPr>
          <a:xfrm>
            <a:off x="7775447" y="4553712"/>
            <a:ext cx="91441" cy="91440"/>
          </a:xfrm>
          <a:custGeom>
            <a:avLst/>
            <a:gdLst/>
            <a:ahLst/>
            <a:cxnLst/>
            <a:rect l="l" t="t" r="r" b="b"/>
            <a:pathLst>
              <a:path w="91441" h="91440">
                <a:moveTo>
                  <a:pt x="0" y="0"/>
                </a:moveTo>
                <a:lnTo>
                  <a:pt x="91441" y="45720"/>
                </a:lnTo>
                <a:lnTo>
                  <a:pt x="0" y="91440"/>
                </a:lnTo>
              </a:path>
            </a:pathLst>
          </a:custGeom>
          <a:noFill/>
          <a:ln w="1524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437626" y="4352544"/>
            <a:ext cx="493776" cy="49377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561618" y="4619914"/>
            <a:ext cx="51206" cy="8193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643548" y="4568708"/>
            <a:ext cx="51206" cy="13313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725479" y="4512381"/>
            <a:ext cx="51206" cy="189463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76032" y="4937760"/>
            <a:ext cx="16169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Data Driven</a:t>
            </a:r>
          </a:p>
        </p:txBody>
      </p:sp>
      <p:sp>
        <p:nvSpPr>
          <p:cNvPr id="76" name="Freeform 75"/>
          <p:cNvSpPr/>
          <p:nvPr/>
        </p:nvSpPr>
        <p:spPr>
          <a:xfrm>
            <a:off x="9502140" y="455371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45720"/>
                </a:lnTo>
                <a:lnTo>
                  <a:pt x="0" y="91440"/>
                </a:lnTo>
              </a:path>
            </a:pathLst>
          </a:custGeom>
          <a:noFill/>
          <a:ln w="1524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164318" y="4352544"/>
            <a:ext cx="493776" cy="49377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372801" y="4476536"/>
            <a:ext cx="76809" cy="7680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313913" y="4609673"/>
            <a:ext cx="76809" cy="7680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0431688" y="4609673"/>
            <a:ext cx="76809" cy="7680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02724" y="4937760"/>
            <a:ext cx="16169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Built to Scale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" y="5614416"/>
            <a:ext cx="11000232" cy="74980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11482"/>
              </a:gs>
              <a:gs pos="100000">
                <a:srgbClr val="0F5FD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05840" y="5815584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5-Point Star 83"/>
          <p:cNvSpPr/>
          <p:nvPr/>
        </p:nvSpPr>
        <p:spPr>
          <a:xfrm>
            <a:off x="1092890" y="5902634"/>
            <a:ext cx="228234" cy="228234"/>
          </a:xfrm>
          <a:prstGeom prst="star5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627632" y="5779008"/>
            <a:ext cx="0" cy="420624"/>
          </a:xfrm>
          <a:custGeom>
            <a:avLst/>
            <a:gdLst/>
            <a:ahLst/>
            <a:cxnLst/>
            <a:rect l="l" t="t" r="r" b="b"/>
            <a:pathLst>
              <a:path w="0" h="420624">
                <a:moveTo>
                  <a:pt x="0" y="0"/>
                </a:moveTo>
                <a:lnTo>
                  <a:pt x="0" y="420624"/>
                </a:lnTo>
              </a:path>
            </a:pathLst>
          </a:custGeom>
          <a:noFill/>
          <a:ln w="9525">
            <a:solidFill>
              <a:srgbClr val="B9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810512" y="5614416"/>
            <a:ext cx="8961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High Focus.  High Performance.  High Growth.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B9C8FF"/>
                </a:solidFill>
                <a:latin typeface="Aptos"/>
              </a:rPr>
              <a:t>Leadership immersion begins Sep'26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